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1001.xml" ContentType="application/vnd.openxmlformats-officedocument.drawingml.chart+xml"/>
  <Override PartName="/ppt/charts/chart1301.xml" ContentType="application/vnd.openxmlformats-officedocument.drawingml.chart+xml"/>
  <Override PartName="/ppt/charts/chart701.xml" ContentType="application/vnd.openxmlformats-officedocument.drawingml.chart+xml"/>
  <Override PartName="/ppt/charts/chart8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charts/_rels/chart701.xml.rels><?xml version="1.0" encoding="UTF-8" standalone="yes"?>
<Relationships xmlns="http://schemas.openxmlformats.org/package/2006/relationships">
<Relationship Id="rId1" Type="http://schemas.openxmlformats.org/officeDocument/2006/relationships/package" Target="../embeddings/Microsoft_Excel_Sheet701.xlsx"/>
</Relationships>
</file>

<file path=ppt/charts/_rels/chart801.xml.rels><?xml version="1.0" encoding="UTF-8" standalone="yes"?>
<Relationships xmlns="http://schemas.openxmlformats.org/package/2006/relationships">
<Relationship Id="rId1" Type="http://schemas.openxmlformats.org/officeDocument/2006/relationships/package" Target="../embeddings/Microsoft_Excel_Sheet801.xlsx"/>
</Relationships>
</file>

<file path=ppt/charts/_rels/chart1001.xml.rels><?xml version="1.0" encoding="UTF-8" standalone="yes"?>
<Relationships xmlns="http://schemas.openxmlformats.org/package/2006/relationships">
<Relationship Id="rId1" Type="http://schemas.openxmlformats.org/officeDocument/2006/relationships/package" Target="../embeddings/Microsoft_Excel_Sheet1001.xlsx"/>
</Relationships>
</file>

<file path=ppt/charts/_rels/chart1301.xml.rels><?xml version="1.0" encoding="UTF-8" standalone="yes"?>
<Relationships xmlns="http://schemas.openxmlformats.org/package/2006/relationships">
<Relationship Id="rId1" Type="http://schemas.openxmlformats.org/officeDocument/2006/relationships/package" Target="../embeddings/Microsoft_Excel_Sheet1301.xlsx"/>
</Relationships>
</file>

<file path=ppt/charts/chart70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barChart>
        <c:barDir val="col"/>
        <c:grouping val="clustered"/>
        <c:varyColors val="0"/>
        <c:ser>
          <c:idx val="0"/>
          <c:order val="0"/>
          <c:tx>
            <c:strRef>
              <c:f>Sheet1!$B$1</c:f>
              <c:strCache>
                <c:ptCount val="1"/>
                <c:pt idx="0">
                  <c:v>Paper RF</c:v>
                </c:pt>
              </c:strCache>
            </c:strRef>
          </c:tx>
          <c:spPr>
            <a:solidFill>
              <a:srgbClr val="4472C4"/>
            </a:solidFill>
            <a:ln>
              <a:solidFill>
                <a:srgbClr val="4472C4"/>
              </a:solidFill>
            </a:ln>
          </c:spPr>
          <c:invertIfNegative val="0"/>
          <c:cat>
            <c:strRef>
              <c:f>Sheet1!$A$2:$A$3</c:f>
              <c:strCache>
                <c:ptCount val="2"/>
                <c:pt idx="0">
                  <c:v>Layer 1</c:v>
                </c:pt>
                <c:pt idx="1">
                  <c:v>Layer 2</c:v>
                </c:pt>
              </c:strCache>
            </c:strRef>
          </c:cat>
          <c:val>
            <c:numRef>
              <c:f>Sheet1!$B$2:$B$3</c:f>
              <c:numCache>
                <c:formatCode>General</c:formatCode>
                <c:ptCount val="2"/>
                <c:pt idx="0">
                  <c:v>0.993</c:v>
                </c:pt>
                <c:pt idx="1">
                  <c:v>0.999</c:v>
                </c:pt>
              </c:numCache>
            </c:numRef>
          </c:val>
        </c:ser>
        <c:ser>
          <c:idx val="1"/>
          <c:order val="1"/>
          <c:tx>
            <c:strRef>
              <c:f>Sheet1!$C$1</c:f>
              <c:strCache>
                <c:ptCount val="1"/>
                <c:pt idx="0">
                  <c:v>Project RF</c:v>
                </c:pt>
              </c:strCache>
            </c:strRef>
          </c:tx>
          <c:spPr>
            <a:solidFill>
              <a:srgbClr val="ED7D31"/>
            </a:solidFill>
            <a:ln>
              <a:solidFill>
                <a:srgbClr val="ED7D31"/>
              </a:solidFill>
            </a:ln>
          </c:spPr>
          <c:invertIfNegative val="0"/>
          <c:cat>
            <c:strRef>
              <c:f>Sheet1!$A$2:$A$3</c:f>
              <c:strCache>
                <c:ptCount val="2"/>
                <c:pt idx="0">
                  <c:v>Layer 1</c:v>
                </c:pt>
                <c:pt idx="1">
                  <c:v>Layer 2</c:v>
                </c:pt>
              </c:strCache>
            </c:strRef>
          </c:cat>
          <c:val>
            <c:numRef>
              <c:f>Sheet1!$C$2:$C$3</c:f>
              <c:numCache>
                <c:formatCode>General</c:formatCode>
                <c:ptCount val="2"/>
                <c:pt idx="0">
                  <c:v>0.9965</c:v>
                </c:pt>
                <c:pt idx="1">
                  <c:v>0.9997</c:v>
                </c:pt>
              </c:numCache>
            </c:numRef>
          </c:val>
        </c:ser>
        <c:dLbls>
          <c:numFmt formatCode="0.0000" sourceLinked="0"/>
          <c:txPr>
            <a:bodyPr/>
            <a:lstStyle/>
            <a:p>
              <a:pPr>
                <a:defRPr lang="en-US" sz="1050">
                  <a:solidFill>
                    <a:srgbClr val="172033"/>
                  </a:solidFill>
                  <a:latin typeface="Aptos"/>
                  <a:ea typeface="Microsoft YaHei"/>
                  <a:cs typeface="Aptos"/>
                </a:defRPr>
              </a:pPr>
              <a:endParaRPr lang="en-US"/>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inMax"/>
        </c:scaling>
        <c:delete val="0"/>
        <c:axPos val="b"/>
        <c:majorTickMark val="none"/>
        <c:minorTickMark val="none"/>
        <c:tickLblPos val="nextTo"/>
        <c:spPr>
          <a:ln w="9525" cap="flat" cmpd="sng" algn="ctr">
            <a:solidFill>
              <a:schemeClr val="accent1"/>
            </a:solidFill>
            <a:round/>
          </a:ln>
        </c:spPr>
        <c:txPr>
          <a:bodyPr/>
          <a:lstStyle/>
          <a:p>
            <a:pPr>
              <a:defRPr lang="en-US" sz="1050">
                <a:solidFill>
                  <a:srgbClr val="172033"/>
                </a:solidFill>
                <a:latin typeface="Aptos"/>
                <a:ea typeface="Microsoft YaHei"/>
                <a:cs typeface="Aptos"/>
              </a:defRPr>
            </a:pPr>
            <a:endParaRPr lang="en-US"/>
          </a:p>
        </c:txPr>
        <c:crossAx val="2113994440"/>
        <c:crosses val="autoZero"/>
        <c:auto val="1"/>
        <c:lblAlgn val="ctr"/>
        <c:lblOffset val="100"/>
        <c:noMultiLvlLbl val="0"/>
      </c:catAx>
      <c:valAx>
        <c:axId val="2113994440"/>
        <c:scaling>
          <c:orientation val="minMax"/>
          <c:max val="1"/>
          <c:min val="0.98"/>
        </c:scaling>
        <c:delete val="0"/>
        <c:axPos val="l"/>
        <c:majorGridlines>
          <c:spPr>
            <a:ln w="6350" cap="flat" cmpd="sng" algn="ctr">
              <a:solidFill>
                <a:srgbClr val="C9D3DC"/>
              </a:solidFill>
              <a:round/>
            </a:ln>
          </c:spPr>
        </c:majorGridlines>
        <c:majorTickMark val="none"/>
        <c:minorTickMark val="none"/>
        <c:tickLblPos val="nextTo"/>
        <c:spPr>
          <a:ln w="9525" cap="flat" cmpd="sng" algn="ctr">
            <a:solidFill>
              <a:schemeClr val="accent1"/>
            </a:solidFill>
            <a:round/>
          </a:ln>
        </c:spPr>
        <c:txPr>
          <a:bodyPr/>
          <a:lstStyle/>
          <a:p>
            <a:pPr>
              <a:defRPr lang="en-US" sz="1050">
                <a:solidFill>
                  <a:srgbClr val="172033"/>
                </a:solidFill>
                <a:latin typeface="Aptos"/>
                <a:ea typeface="Microsoft YaHei"/>
                <a:cs typeface="Aptos"/>
              </a:defRPr>
            </a:pPr>
            <a:endParaRPr lang="en-US"/>
          </a:p>
        </c:txPr>
        <c:crossAx val="2068027336"/>
        <c:crosses val="autoZero"/>
        <c:crossBetween val="between"/>
        <c:majorUnit val="0.005"/>
      </c:valAx>
      <c:spPr>
        <a:noFill/>
        <a:ln>
          <a:noFill/>
        </a:ln>
      </c:spPr>
    </c:plotArea>
    <c:legend>
      <c:legendPos val="b"/>
      <c:layout/>
      <c:overlay val="0"/>
      <c:txPr>
        <a:bodyPr/>
        <a:lstStyle/>
        <a:p>
          <a:pPr>
            <a:defRPr lang="en-US" sz="1050">
              <a:solidFill>
                <a:srgbClr val="172033"/>
              </a:solidFill>
              <a:latin typeface="Aptos"/>
              <a:ea typeface="Microsoft YaHei"/>
              <a:cs typeface="Aptos"/>
            </a:defRPr>
          </a:pPr>
          <a:endParaRPr lang="en-US"/>
        </a:p>
      </c:txPr>
    </c:legend>
    <c:plotVisOnly val="1"/>
    <c:dispBlanksAs val="gap"/>
  </c:chart>
  <c:spPr>
    <a:solidFill>
      <a:srgbClr val="FFFFFF"/>
    </a:solidFill>
    <a:ln>
      <a:noFill/>
    </a:ln>
  </c:spPr>
  <c:txPr>
    <a:bodyPr/>
    <a:lstStyle/>
    <a:p>
      <a:pPr>
        <a:defRPr lang="en-US" sz="1050">
          <a:solidFill>
            <a:srgbClr val="172033"/>
          </a:solidFill>
          <a:latin typeface="Aptos"/>
          <a:ea typeface="Microsoft YaHei"/>
          <a:cs typeface="Aptos"/>
        </a:defRPr>
      </a:pPr>
      <a:endParaRPr lang="en-US"/>
    </a:p>
  </c:txPr>
  <c:externalData r:id="rId1">
    <c:autoUpdate val="0"/>
  </c:externalData>
</c:chartSpace>
</file>

<file path=ppt/charts/chart80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lineChart>
        <c:grouping val="standard"/>
        <c:varyColors val="0"/>
        <c:ser>
          <c:idx val="0"/>
          <c:order val="0"/>
          <c:tx>
            <c:strRef>
              <c:f>Sheet1!$B$1</c:f>
              <c:strCache>
                <c:ptCount val="1"/>
                <c:pt idx="0">
                  <c:v>Layer 1</c:v>
                </c:pt>
              </c:strCache>
            </c:strRef>
          </c:tx>
          <c:spPr>
            <a:solidFill>
              <a:schemeClr val="accent1"/>
            </a:solidFill>
            <a:ln>
              <a:solidFill>
                <a:schemeClr val="accent1"/>
              </a:solidFill>
            </a:ln>
          </c:spPr>
          <c:marker>
            <c:symbol val="circle"/>
            <c:spPr>
              <a:solidFill>
                <a:schemeClr val="accent1"/>
              </a:solidFill>
              <a:ln>
                <a:solidFill>
                  <a:schemeClr val="accent1"/>
                </a:solidFill>
              </a:ln>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0.876</c:v>
                </c:pt>
                <c:pt idx="1">
                  <c:v>0.949</c:v>
                </c:pt>
                <c:pt idx="2">
                  <c:v>0.951</c:v>
                </c:pt>
                <c:pt idx="3">
                  <c:v>0.983</c:v>
                </c:pt>
                <c:pt idx="4">
                  <c:v>0.987</c:v>
                </c:pt>
                <c:pt idx="5">
                  <c:v>0.993</c:v>
                </c:pt>
                <c:pt idx="6">
                  <c:v>0.996</c:v>
                </c:pt>
                <c:pt idx="7">
                  <c:v>0.996</c:v>
                </c:pt>
                <c:pt idx="8">
                  <c:v>0.998</c:v>
                </c:pt>
                <c:pt idx="9">
                  <c:v>0.998</c:v>
                </c:pt>
              </c:numCache>
            </c:numRef>
          </c:val>
          <c:smooth val="0"/>
        </c:ser>
        <c:ser>
          <c:idx val="1"/>
          <c:order val="1"/>
          <c:tx>
            <c:strRef>
              <c:f>Sheet1!$C$1</c:f>
              <c:strCache>
                <c:ptCount val="1"/>
                <c:pt idx="0">
                  <c:v>Layer 2</c:v>
                </c:pt>
              </c:strCache>
            </c:strRef>
          </c:tx>
          <c:spPr>
            <a:solidFill>
              <a:schemeClr val="accent3"/>
            </a:solidFill>
            <a:ln>
              <a:solidFill>
                <a:schemeClr val="accent3"/>
              </a:solidFill>
            </a:ln>
          </c:spPr>
          <c:marker>
            <c:symbol val="circle"/>
            <c:spPr>
              <a:solidFill>
                <a:schemeClr val="accent3"/>
              </a:solidFill>
              <a:ln>
                <a:solidFill>
                  <a:schemeClr val="accent3"/>
                </a:solidFill>
              </a:ln>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0.782</c:v>
                </c:pt>
                <c:pt idx="1">
                  <c:v>0.985</c:v>
                </c:pt>
                <c:pt idx="2">
                  <c:v>0.991</c:v>
                </c:pt>
                <c:pt idx="3">
                  <c:v>0.995</c:v>
                </c:pt>
                <c:pt idx="4">
                  <c:v>0.997</c:v>
                </c:pt>
                <c:pt idx="5">
                  <c:v>0.998</c:v>
                </c:pt>
                <c:pt idx="6">
                  <c:v>0.997</c:v>
                </c:pt>
                <c:pt idx="7">
                  <c:v>0.999</c:v>
                </c:pt>
                <c:pt idx="8">
                  <c:v>0.999</c:v>
                </c:pt>
                <c:pt idx="9">
                  <c:v>0.999</c:v>
                </c:pt>
              </c:numCache>
            </c:numRef>
          </c:val>
          <c:smooth val="0"/>
        </c:ser>
        <c:marker val="1"/>
        <c:smooth val="0"/>
        <c:axId val="2068027336"/>
        <c:axId val="2113994440"/>
      </c:lineChart>
      <c:catAx>
        <c:axId val="2068027336"/>
        <c:scaling>
          <c:orientation val="minMax"/>
        </c:scaling>
        <c:delete val="0"/>
        <c:axPos val="b"/>
        <c:majorTickMark val="none"/>
        <c:minorTickMark val="none"/>
        <c:tickLblPos val="nextTo"/>
        <c:spPr>
          <a:ln w="9525" cap="flat" cmpd="sng" algn="ctr">
            <a:solidFill>
              <a:schemeClr val="accent1"/>
            </a:solidFill>
            <a:round/>
          </a:ln>
        </c:spPr>
        <c:txPr>
          <a:bodyPr/>
          <a:lstStyle/>
          <a:p>
            <a:pPr>
              <a:defRPr lang="en-US" sz="1050">
                <a:solidFill>
                  <a:srgbClr val="5B6875"/>
                </a:solidFill>
                <a:latin typeface="Aptos"/>
                <a:ea typeface="Microsoft YaHei"/>
                <a:cs typeface="Aptos"/>
              </a:defRPr>
            </a:pPr>
            <a:endParaRPr lang="en-US"/>
          </a:p>
        </c:txPr>
        <c:crossAx val="2113994440"/>
        <c:crosses val="autoZero"/>
        <c:auto val="1"/>
        <c:lblAlgn val="ctr"/>
        <c:lblOffset val="100"/>
        <c:noMultiLvlLbl val="0"/>
      </c:catAx>
      <c:valAx>
        <c:axId val="2113994440"/>
        <c:scaling>
          <c:orientation val="minMax"/>
          <c:max val="1"/>
          <c:min val="0.75"/>
        </c:scaling>
        <c:delete val="0"/>
        <c:axPos val="l"/>
        <c:majorGridlines>
          <c:spPr>
            <a:ln w="6350" cap="flat" cmpd="sng" algn="ctr">
              <a:solidFill>
                <a:srgbClr val="C9D3DC"/>
              </a:solidFill>
              <a:round/>
            </a:ln>
          </c:spPr>
        </c:majorGridlines>
        <c:majorTickMark val="none"/>
        <c:minorTickMark val="none"/>
        <c:tickLblPos val="nextTo"/>
        <c:spPr>
          <a:ln w="9525" cap="flat" cmpd="sng" algn="ctr">
            <a:solidFill>
              <a:schemeClr val="accent1"/>
            </a:solidFill>
            <a:round/>
          </a:ln>
        </c:spPr>
        <c:txPr>
          <a:bodyPr/>
          <a:lstStyle/>
          <a:p>
            <a:pPr>
              <a:defRPr lang="en-US" sz="1050">
                <a:solidFill>
                  <a:srgbClr val="5B6875"/>
                </a:solidFill>
                <a:latin typeface="Aptos"/>
                <a:ea typeface="Microsoft YaHei"/>
                <a:cs typeface="Aptos"/>
              </a:defRPr>
            </a:pPr>
            <a:endParaRPr lang="en-US"/>
          </a:p>
        </c:txPr>
        <c:crossAx val="2068027336"/>
        <c:crosses val="autoZero"/>
        <c:crossBetween val="between"/>
        <c:majorUnit val="0.05"/>
      </c:valAx>
      <c:spPr>
        <a:noFill/>
        <a:ln>
          <a:noFill/>
        </a:ln>
      </c:spPr>
    </c:plotArea>
    <c:legend>
      <c:legendPos val="b"/>
      <c:layout/>
      <c:overlay val="0"/>
      <c:txPr>
        <a:bodyPr/>
        <a:lstStyle/>
        <a:p>
          <a:pPr>
            <a:defRPr lang="en-US" sz="1050">
              <a:solidFill>
                <a:srgbClr val="5B6875"/>
              </a:solidFill>
              <a:latin typeface="Aptos"/>
              <a:ea typeface="Microsoft YaHei"/>
              <a:cs typeface="Aptos"/>
            </a:defRPr>
          </a:pPr>
          <a:endParaRPr lang="en-US"/>
        </a:p>
      </c:txPr>
    </c:legend>
    <c:plotVisOnly val="1"/>
    <c:dispBlanksAs val="gap"/>
  </c:chart>
  <c:spPr>
    <a:solidFill>
      <a:srgbClr val="FFFFFF"/>
    </a:solidFill>
    <a:ln>
      <a:noFill/>
    </a:ln>
  </c:spPr>
  <c:txPr>
    <a:bodyPr/>
    <a:lstStyle/>
    <a:p>
      <a:pPr>
        <a:defRPr lang="en-US" sz="1050">
          <a:solidFill>
            <a:srgbClr val="5B6875"/>
          </a:solidFill>
          <a:latin typeface="Aptos"/>
          <a:ea typeface="Microsoft YaHei"/>
          <a:cs typeface="Aptos"/>
        </a:defRPr>
      </a:pPr>
      <a:endParaRPr lang="en-US"/>
    </a:p>
  </c:txPr>
  <c:externalData r:id="rId1">
    <c:autoUpdate val="0"/>
  </c:externalData>
</c:chartSpace>
</file>

<file path=ppt/charts/chart100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barChart>
        <c:barDir val="col"/>
        <c:grouping val="clustered"/>
        <c:varyColors val="0"/>
        <c:ser>
          <c:idx val="0"/>
          <c:order val="0"/>
          <c:tx>
            <c:strRef>
              <c:f>Sheet1!$B$1</c:f>
              <c:strCache>
                <c:ptCount val="1"/>
                <c:pt idx="0">
                  <c:v>Flow-random</c:v>
                </c:pt>
              </c:strCache>
            </c:strRef>
          </c:tx>
          <c:spPr>
            <a:solidFill>
              <a:srgbClr val="4472C4"/>
            </a:solidFill>
            <a:ln>
              <a:solidFill>
                <a:srgbClr val="4472C4"/>
              </a:solidFill>
            </a:ln>
          </c:spPr>
          <c:invertIfNegative val="0"/>
          <c:cat>
            <c:strRef>
              <c:f>Sheet1!$A$2:$A$3</c:f>
              <c:strCache>
                <c:ptCount val="2"/>
                <c:pt idx="0">
                  <c:v>Layer 1 · l=6</c:v>
                </c:pt>
                <c:pt idx="1">
                  <c:v>Layer 2 · l=3</c:v>
                </c:pt>
              </c:strCache>
            </c:strRef>
          </c:cat>
          <c:val>
            <c:numRef>
              <c:f>Sheet1!$B$2:$B$3</c:f>
              <c:numCache>
                <c:formatCode>General</c:formatCode>
                <c:ptCount val="2"/>
                <c:pt idx="0">
                  <c:v>0.9784</c:v>
                </c:pt>
                <c:pt idx="1">
                  <c:v>0.9405</c:v>
                </c:pt>
              </c:numCache>
            </c:numRef>
          </c:val>
        </c:ser>
        <c:ser>
          <c:idx val="1"/>
          <c:order val="1"/>
          <c:tx>
            <c:strRef>
              <c:f>Sheet1!$C$1</c:f>
              <c:strCache>
                <c:ptCount val="1"/>
                <c:pt idx="0">
                  <c:v>Session-disjoint</c:v>
                </c:pt>
              </c:strCache>
            </c:strRef>
          </c:tx>
          <c:spPr>
            <a:solidFill>
              <a:srgbClr val="ED7D31"/>
            </a:solidFill>
            <a:ln>
              <a:solidFill>
                <a:srgbClr val="ED7D31"/>
              </a:solidFill>
            </a:ln>
          </c:spPr>
          <c:invertIfNegative val="0"/>
          <c:cat>
            <c:strRef>
              <c:f>Sheet1!$A$2:$A$3</c:f>
              <c:strCache>
                <c:ptCount val="2"/>
                <c:pt idx="0">
                  <c:v>Layer 1 · l=6</c:v>
                </c:pt>
                <c:pt idx="1">
                  <c:v>Layer 2 · l=3</c:v>
                </c:pt>
              </c:strCache>
            </c:strRef>
          </c:cat>
          <c:val>
            <c:numRef>
              <c:f>Sheet1!$C$2:$C$3</c:f>
              <c:numCache>
                <c:formatCode>General</c:formatCode>
                <c:ptCount val="2"/>
                <c:pt idx="0">
                  <c:v>0</c:v>
                </c:pt>
                <c:pt idx="1">
                  <c:v>0.1324</c:v>
                </c:pt>
              </c:numCache>
            </c:numRef>
          </c:val>
        </c:ser>
        <c:dLbls>
          <c:numFmt formatCode="0.0000" sourceLinked="0"/>
          <c:txPr>
            <a:bodyPr/>
            <a:lstStyle/>
            <a:p>
              <a:pPr>
                <a:defRPr lang="en-US" sz="1050">
                  <a:solidFill>
                    <a:srgbClr val="172033"/>
                  </a:solidFill>
                  <a:latin typeface="Aptos"/>
                  <a:ea typeface="Microsoft YaHei"/>
                  <a:cs typeface="Aptos"/>
                </a:defRPr>
              </a:pPr>
              <a:endParaRPr lang="en-US"/>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inMax"/>
        </c:scaling>
        <c:delete val="0"/>
        <c:axPos val="b"/>
        <c:majorTickMark val="none"/>
        <c:minorTickMark val="none"/>
        <c:tickLblPos val="nextTo"/>
        <c:spPr>
          <a:ln w="9525" cap="flat" cmpd="sng" algn="ctr">
            <a:solidFill>
              <a:schemeClr val="accent1"/>
            </a:solidFill>
            <a:round/>
          </a:ln>
        </c:spPr>
        <c:txPr>
          <a:bodyPr/>
          <a:lstStyle/>
          <a:p>
            <a:pPr>
              <a:defRPr lang="en-US" sz="1050">
                <a:solidFill>
                  <a:srgbClr val="172033"/>
                </a:solidFill>
                <a:latin typeface="Aptos"/>
                <a:ea typeface="Microsoft YaHei"/>
                <a:cs typeface="Aptos"/>
              </a:defRPr>
            </a:pPr>
            <a:endParaRPr lang="en-US"/>
          </a:p>
        </c:txPr>
        <c:crossAx val="2113994440"/>
        <c:crosses val="autoZero"/>
        <c:auto val="1"/>
        <c:lblAlgn val="ctr"/>
        <c:lblOffset val="100"/>
        <c:noMultiLvlLbl val="0"/>
      </c:catAx>
      <c:valAx>
        <c:axId val="2113994440"/>
        <c:scaling>
          <c:orientation val="minMax"/>
          <c:max val="1"/>
          <c:min val="0"/>
        </c:scaling>
        <c:delete val="0"/>
        <c:axPos val="l"/>
        <c:majorGridlines>
          <c:spPr>
            <a:ln w="6350" cap="flat" cmpd="sng" algn="ctr">
              <a:solidFill>
                <a:srgbClr val="C9D3DC"/>
              </a:solidFill>
              <a:round/>
            </a:ln>
          </c:spPr>
        </c:majorGridlines>
        <c:majorTickMark val="none"/>
        <c:minorTickMark val="none"/>
        <c:tickLblPos val="nextTo"/>
        <c:spPr>
          <a:ln w="9525" cap="flat" cmpd="sng" algn="ctr">
            <a:solidFill>
              <a:schemeClr val="accent1"/>
            </a:solidFill>
            <a:round/>
          </a:ln>
        </c:spPr>
        <c:txPr>
          <a:bodyPr/>
          <a:lstStyle/>
          <a:p>
            <a:pPr>
              <a:defRPr lang="en-US" sz="1050">
                <a:solidFill>
                  <a:srgbClr val="172033"/>
                </a:solidFill>
                <a:latin typeface="Aptos"/>
                <a:ea typeface="Microsoft YaHei"/>
                <a:cs typeface="Aptos"/>
              </a:defRPr>
            </a:pPr>
            <a:endParaRPr lang="en-US"/>
          </a:p>
        </c:txPr>
        <c:crossAx val="2068027336"/>
        <c:crosses val="autoZero"/>
        <c:crossBetween val="between"/>
        <c:majorUnit val="0.2"/>
      </c:valAx>
      <c:spPr>
        <a:noFill/>
        <a:ln>
          <a:noFill/>
        </a:ln>
      </c:spPr>
    </c:plotArea>
    <c:legend>
      <c:legendPos val="b"/>
      <c:layout/>
      <c:overlay val="0"/>
      <c:txPr>
        <a:bodyPr/>
        <a:lstStyle/>
        <a:p>
          <a:pPr>
            <a:defRPr lang="en-US" sz="1050">
              <a:solidFill>
                <a:srgbClr val="172033"/>
              </a:solidFill>
              <a:latin typeface="Aptos"/>
              <a:ea typeface="Microsoft YaHei"/>
              <a:cs typeface="Aptos"/>
            </a:defRPr>
          </a:pPr>
          <a:endParaRPr lang="en-US"/>
        </a:p>
      </c:txPr>
    </c:legend>
    <c:plotVisOnly val="1"/>
    <c:dispBlanksAs val="gap"/>
  </c:chart>
  <c:spPr>
    <a:solidFill>
      <a:srgbClr val="FFFFFF"/>
    </a:solidFill>
    <a:ln>
      <a:noFill/>
    </a:ln>
  </c:spPr>
  <c:txPr>
    <a:bodyPr/>
    <a:lstStyle/>
    <a:p>
      <a:pPr>
        <a:defRPr lang="en-US" sz="1050">
          <a:solidFill>
            <a:srgbClr val="172033"/>
          </a:solidFill>
          <a:latin typeface="Aptos"/>
          <a:ea typeface="Microsoft YaHei"/>
          <a:cs typeface="Aptos"/>
        </a:defRPr>
      </a:pPr>
      <a:endParaRPr lang="en-US"/>
    </a:p>
  </c:txPr>
  <c:externalData r:id="rId1">
    <c:autoUpdate val="0"/>
  </c:externalData>
</c:chartSpace>
</file>

<file path=ppt/charts/chart130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barChart>
        <c:barDir val="col"/>
        <c:grouping val="clustered"/>
        <c:varyColors val="0"/>
        <c:ser>
          <c:idx val="0"/>
          <c:order val="0"/>
          <c:tx>
            <c:strRef>
              <c:f>Sheet1!$B$1</c:f>
              <c:strCache>
                <c:ptCount val="1"/>
                <c:pt idx="0">
                  <c:v>Paper v4</c:v>
                </c:pt>
              </c:strCache>
            </c:strRef>
          </c:tx>
          <c:spPr>
            <a:solidFill>
              <a:srgbClr val="4472C4"/>
            </a:solidFill>
            <a:ln>
              <a:solidFill>
                <a:srgbClr val="4472C4"/>
              </a:solidFill>
            </a:ln>
          </c:spPr>
          <c:invertIfNegative val="0"/>
          <c:cat>
            <c:strRef>
              <c:f>Sheet1!$A$2:$A$3</c:f>
              <c:strCache>
                <c:ptCount val="2"/>
                <c:pt idx="0">
                  <c:v>Layer 1 · best l=5 / 7</c:v>
                </c:pt>
                <c:pt idx="1">
                  <c:v>Layer 2 · best l=9 / 10</c:v>
                </c:pt>
              </c:strCache>
            </c:strRef>
          </c:cat>
          <c:val>
            <c:numRef>
              <c:f>Sheet1!$B$2:$B$3</c:f>
              <c:numCache>
                <c:formatCode>General</c:formatCode>
                <c:ptCount val="2"/>
                <c:pt idx="0">
                  <c:v>0.9178633</c:v>
                </c:pt>
                <c:pt idx="1">
                  <c:v>0.9424572</c:v>
                </c:pt>
              </c:numCache>
            </c:numRef>
          </c:val>
        </c:ser>
        <c:ser>
          <c:idx val="1"/>
          <c:order val="1"/>
          <c:tx>
            <c:strRef>
              <c:f>Sheet1!$C$1</c:f>
              <c:strCache>
                <c:ptCount val="1"/>
                <c:pt idx="0">
                  <c:v>Improved BiGRU</c:v>
                </c:pt>
              </c:strCache>
            </c:strRef>
          </c:tx>
          <c:spPr>
            <a:solidFill>
              <a:srgbClr val="ED7D31"/>
            </a:solidFill>
            <a:ln>
              <a:solidFill>
                <a:srgbClr val="ED7D31"/>
              </a:solidFill>
            </a:ln>
          </c:spPr>
          <c:invertIfNegative val="0"/>
          <c:cat>
            <c:strRef>
              <c:f>Sheet1!$A$2:$A$3</c:f>
              <c:strCache>
                <c:ptCount val="2"/>
                <c:pt idx="0">
                  <c:v>Layer 1 · best l=5 / 7</c:v>
                </c:pt>
                <c:pt idx="1">
                  <c:v>Layer 2 · best l=9 / 10</c:v>
                </c:pt>
              </c:strCache>
            </c:strRef>
          </c:cat>
          <c:val>
            <c:numRef>
              <c:f>Sheet1!$C$2:$C$3</c:f>
              <c:numCache>
                <c:formatCode>General</c:formatCode>
                <c:ptCount val="2"/>
                <c:pt idx="0">
                  <c:v>0.9651163</c:v>
                </c:pt>
                <c:pt idx="1">
                  <c:v>0.986439</c:v>
                </c:pt>
              </c:numCache>
            </c:numRef>
          </c:val>
        </c:ser>
        <c:dLbls>
          <c:numFmt formatCode="0.0000" sourceLinked="0"/>
          <c:txPr>
            <a:bodyPr/>
            <a:lstStyle/>
            <a:p>
              <a:pPr>
                <a:defRPr lang="en-US" sz="1050">
                  <a:solidFill>
                    <a:srgbClr val="172033"/>
                  </a:solidFill>
                  <a:latin typeface="Aptos"/>
                  <a:ea typeface="Microsoft YaHei"/>
                  <a:cs typeface="Aptos"/>
                </a:defRPr>
              </a:pPr>
              <a:endParaRPr lang="en-US"/>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inMax"/>
        </c:scaling>
        <c:delete val="0"/>
        <c:axPos val="b"/>
        <c:majorTickMark val="none"/>
        <c:minorTickMark val="none"/>
        <c:tickLblPos val="nextTo"/>
        <c:spPr>
          <a:ln w="9525" cap="flat" cmpd="sng" algn="ctr">
            <a:solidFill>
              <a:schemeClr val="accent1"/>
            </a:solidFill>
            <a:round/>
          </a:ln>
        </c:spPr>
        <c:txPr>
          <a:bodyPr/>
          <a:lstStyle/>
          <a:p>
            <a:pPr>
              <a:defRPr lang="en-US" sz="1050">
                <a:solidFill>
                  <a:srgbClr val="172033"/>
                </a:solidFill>
                <a:latin typeface="Aptos"/>
                <a:ea typeface="Microsoft YaHei"/>
                <a:cs typeface="Aptos"/>
              </a:defRPr>
            </a:pPr>
            <a:endParaRPr lang="en-US"/>
          </a:p>
        </c:txPr>
        <c:crossAx val="2113994440"/>
        <c:crosses val="autoZero"/>
        <c:auto val="1"/>
        <c:lblAlgn val="ctr"/>
        <c:lblOffset val="100"/>
        <c:noMultiLvlLbl val="0"/>
      </c:catAx>
      <c:valAx>
        <c:axId val="2113994440"/>
        <c:scaling>
          <c:orientation val="minMax"/>
          <c:max val="1"/>
          <c:min val="0.88"/>
        </c:scaling>
        <c:delete val="0"/>
        <c:axPos val="l"/>
        <c:majorGridlines>
          <c:spPr>
            <a:ln w="6350" cap="flat" cmpd="sng" algn="ctr">
              <a:solidFill>
                <a:srgbClr val="C9D3DC"/>
              </a:solidFill>
              <a:round/>
            </a:ln>
          </c:spPr>
        </c:majorGridlines>
        <c:majorTickMark val="none"/>
        <c:minorTickMark val="none"/>
        <c:tickLblPos val="nextTo"/>
        <c:spPr>
          <a:ln w="9525" cap="flat" cmpd="sng" algn="ctr">
            <a:solidFill>
              <a:schemeClr val="accent1"/>
            </a:solidFill>
            <a:round/>
          </a:ln>
        </c:spPr>
        <c:txPr>
          <a:bodyPr/>
          <a:lstStyle/>
          <a:p>
            <a:pPr>
              <a:defRPr lang="en-US" sz="1050">
                <a:solidFill>
                  <a:srgbClr val="172033"/>
                </a:solidFill>
                <a:latin typeface="Aptos"/>
                <a:ea typeface="Microsoft YaHei"/>
                <a:cs typeface="Aptos"/>
              </a:defRPr>
            </a:pPr>
            <a:endParaRPr lang="en-US"/>
          </a:p>
        </c:txPr>
        <c:crossAx val="2068027336"/>
        <c:crosses val="autoZero"/>
        <c:crossBetween val="between"/>
        <c:majorUnit val="0.02"/>
      </c:valAx>
      <c:spPr>
        <a:noFill/>
        <a:ln>
          <a:noFill/>
        </a:ln>
      </c:spPr>
    </c:plotArea>
    <c:legend>
      <c:legendPos val="b"/>
      <c:layout/>
      <c:overlay val="0"/>
      <c:txPr>
        <a:bodyPr/>
        <a:lstStyle/>
        <a:p>
          <a:pPr>
            <a:defRPr lang="en-US" sz="1050">
              <a:solidFill>
                <a:srgbClr val="172033"/>
              </a:solidFill>
              <a:latin typeface="Aptos"/>
              <a:ea typeface="Microsoft YaHei"/>
              <a:cs typeface="Aptos"/>
            </a:defRPr>
          </a:pPr>
          <a:endParaRPr lang="en-US"/>
        </a:p>
      </c:txPr>
    </c:legend>
    <c:plotVisOnly val="1"/>
    <c:dispBlanksAs val="gap"/>
  </c:chart>
  <c:spPr>
    <a:solidFill>
      <a:srgbClr val="FFFFFF"/>
    </a:solidFill>
    <a:ln>
      <a:noFill/>
    </a:ln>
  </c:spPr>
  <c:txPr>
    <a:bodyPr/>
    <a:lstStyle/>
    <a:p>
      <a:pPr>
        <a:defRPr lang="en-US" sz="1050">
          <a:solidFill>
            <a:srgbClr val="172033"/>
          </a:solidFill>
          <a:latin typeface="Aptos"/>
          <a:ea typeface="Microsoft YaHei"/>
          <a:cs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project reproduces the two-layer DoH tunnel detector and then evaluates a mask-aware bidirectional GRU under a stricter protocol. In the capped, session-disjoint experiment, best-window F1 improves by 4.73 percentage points on layer one and 4.40 points on layer two. These are bounded comparative results, not a claim of full-dataset convergence.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DNS-over-HTTPS hides domain names, answers, and tunnel content inside TLS. It does not hide packet direction, packet length, timing, or burst structure. The paper’s central hypothesis is that these observable sequences remain discriminative without decrypting payloads.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first layer separates DoH from ordinary HTTPS traffic. Only traffic classified as DoH proceeds to the second layer, which separates benign DoH from malicious tunnels. We reproduce these two decisions independently so that each result has a clear task definition and evidence boundary.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 packet clump groups consecutive packets moving in the same direction until direction changes or the timeout is exceeded. Each clump preserves direction, packet lengths, and timing, and the first N clumps form a model window. Increasing N adds behavioral context but also delays the decision.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benchmark contains non-DoH HTTPS, benign DoH, and malicious DoH tunnel traffic. Published CSV features support the statistical replication, while raw PCAP files are required to reconstruct packet-clump sequences. Our evidence path therefore starts with the tabular baseline and then moves to a raw-PCAP session-disjoint experiment.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statistical path waits for a completed flow, derives summary features, and evaluates classical and neural classifiers. The time-series path converts packet streams into directional clumps and sweeps LSTM windows from one through ten. The original work evaluates both paths with an eighty–twenty random split at flow level.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paper reports random-forest F1 of 0.993 for layer one and 0.999 for layer two. Our project random forest reaches 0.9965 and 0.9997 under the same flow-random paradigm. This reproduces the headline statistical performance, but it also inherits the same cross-session leakage risk.</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paper’s LSTM improves rapidly as the model observes more clumps. Its selected operating points reach 0.993 F1 for layer one at six clumps and 0.991 for layer two at three clumps. The reported mean detection delays are 0.574 and 0.502 seconds, supporting the early-detection argument relative to waiting for full flows.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corrected the printed clump termination condition and added a bounds check before packet indexing. We also pinned optimizer settings, seeds, manifests, and the source snapshot. Most importantly, we added a session-and-scenario group-disjoint split and a mask-aware BiGRU with attention as the improved sequence model.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At the paper-selected windows, the replicated paper architecture scores 0.9784 and 0.9405 F1 under flow-random splits. Under session-disjoint evaluation, those values fall to zero and 0.1324. This collapse demonstrates that random flow accuracy cannot be interpreted as unseen-session generalization.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audit covers 13,754 capture sources, 13,150 session groups, and about 97.1 gigabytes of uncompressed evidence. It processes 201,321 flows and retains 1,325: five hundred non-DoH, 325 benign DoH, and five hundred malicious DoH. The cap of twenty-five flows per capture controls runtime, so these results remain comparative rather than converged full-data estimates.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At the paper’s windows, the improved BiGRU reaches 0.9153 F1 on layer one and 0.5538 on layer two under the corrected split. These values substantially exceed the corrected paper architecture, but layer two is still far below the paper’s flow-random claim at three clumps. The table therefore keeps paper-reported, project-random, corrected-baseline, and improved evidence separate.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When each model is compared at its own best corrected window, layer-one F1 increases from 0.9179 to 0.9651 and layer-two F1 from 0.9425 to 0.9864. The absolute gains are 4.73 and 4.40 percentage points, with zero observed false-positive rate at both improved optima. This is the project’s positive model result within the capped session-disjoint sample.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Four limitations constrain interpretation. The per-capture cap limits convergence evidence, benign DoH availability stops at 325 retained flows, all traffic comes from one benchmark environment, and best windows are selected after the sweep. Larger caps, repeated seeds, confidence intervals, external datasets, and a locked holdout are the next required checks.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reproduction keeps the statistical and four-layer LSTM baselines traceable. The corrected protocol tests transfer to unseen sessions, and the mask-aware BiGRU improves both tasks under that protocol. The primary result is methodological validity; the model gain matters because it survives the stricter evaluation.</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oh_paper_reproductio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oh_paper_reproductio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US">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US">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US">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en-US">
          <a:solidFill>
            <a:schemeClr val="tx1"/>
          </a:solidFill>
          <a:latin typeface="+mn-lt"/>
          <a:ea typeface="+mn-ea"/>
          <a:cs typeface="+mn-cs"/>
        </a:defRPr>
      </a:lvl9pPr>
    </p:bodyStyle>
    <p:other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700" kern="1200" lang="en-US">
          <a:solidFill>
            <a:schemeClr val="tx1"/>
          </a:solidFill>
          <a:latin typeface="+mn-lt"/>
          <a:ea typeface="+mn-ea"/>
          <a:cs typeface="+mn-cs"/>
        </a:defRPr>
      </a:lvl2pPr>
      <a:lvl3pPr marL="914400" algn="l" defTabSz="457200" rtl="0" eaLnBrk="1" latinLnBrk="0" hangingPunct="1">
        <a:defRPr sz="1600" kern="1200" lang="en-US">
          <a:solidFill>
            <a:schemeClr val="tx1"/>
          </a:solidFill>
          <a:latin typeface="+mn-lt"/>
          <a:ea typeface="+mn-ea"/>
          <a:cs typeface="+mn-cs"/>
        </a:defRPr>
      </a:lvl3pPr>
      <a:lvl4pPr marL="1371600" algn="l" defTabSz="457200" rtl="0" eaLnBrk="1" latinLnBrk="0" hangingPunct="1">
        <a:defRPr sz="1450" kern="1200" lang="en-US">
          <a:solidFill>
            <a:schemeClr val="tx1"/>
          </a:solidFill>
          <a:latin typeface="+mn-lt"/>
          <a:ea typeface="+mn-ea"/>
          <a:cs typeface="+mn-cs"/>
        </a:defRPr>
      </a:lvl4pPr>
      <a:lvl5pPr marL="1828800" algn="l" defTabSz="457200" rtl="0" eaLnBrk="1" latinLnBrk="0" hangingPunct="1">
        <a:defRPr sz="1350" kern="1200" lang="en-US">
          <a:solidFill>
            <a:schemeClr val="tx1"/>
          </a:solidFill>
          <a:latin typeface="+mn-lt"/>
          <a:ea typeface="+mn-ea"/>
          <a:cs typeface="+mn-cs"/>
        </a:defRPr>
      </a:lvl5pPr>
      <a:lvl6pPr marL="2286000" algn="l" defTabSz="457200" rtl="0" eaLnBrk="1" latinLnBrk="0" hangingPunct="1">
        <a:defRPr sz="1250" kern="1200" lang="en-US">
          <a:solidFill>
            <a:schemeClr val="tx1"/>
          </a:solidFill>
          <a:latin typeface="+mn-lt"/>
          <a:ea typeface="+mn-ea"/>
          <a:cs typeface="+mn-cs"/>
        </a:defRPr>
      </a:lvl6pPr>
      <a:lvl7pPr marL="2743200" algn="l" defTabSz="457200" rtl="0" eaLnBrk="1" latinLnBrk="0" hangingPunct="1">
        <a:defRPr sz="1100" kern="1200" lang="en-US">
          <a:solidFill>
            <a:schemeClr val="tx1"/>
          </a:solidFill>
          <a:latin typeface="+mn-lt"/>
          <a:ea typeface="+mn-ea"/>
          <a:cs typeface="+mn-cs"/>
        </a:defRPr>
      </a:lvl7pPr>
      <a:lvl8pPr marL="3200400" algn="l" defTabSz="457200" rtl="0" eaLnBrk="1" latinLnBrk="0" hangingPunct="1">
        <a:defRPr sz="1000" kern="1200" lang="en-US">
          <a:solidFill>
            <a:schemeClr val="tx1"/>
          </a:solidFill>
          <a:latin typeface="+mn-lt"/>
          <a:ea typeface="+mn-ea"/>
          <a:cs typeface="+mn-cs"/>
        </a:defRPr>
      </a:lvl8pPr>
      <a:lvl9pPr marL="3657600" algn="l" defTabSz="457200" rtl="0" eaLnBrk="1" latinLnBrk="0" hangingPunct="1">
        <a:defRPr sz="90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2e1307b317c127b.jp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45689e9debfba2f.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701.xml"/>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801.xml"/>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001.xml"/>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301.xml"/>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57200"/>
            <a:ext cx="76200" cy="5943600"/>
          </a:xfrm>
          <a:prstGeom prst="rect">
            <a:avLst/>
          </a:prstGeom>
          <a:solidFill>
            <a:schemeClr val="accent2"/>
          </a:solidFill>
          <a:ln>
            <a:noFill/>
          </a:ln>
        </p:spPr>
      </p:sp>
      <p:grpSp>
        <p:nvGrpSpPr>
          <p:cNvPr id="6" name="cover-heading"/>
          <p:cNvGrpSpPr/>
          <p:nvPr/>
        </p:nvGrpSpPr>
        <p:grpSpPr>
          <a:xfrm>
            <a:off x="971550" y="863600"/>
            <a:ext cx="7344274" cy="1641475"/>
            <a:chOff x="971550" y="863600"/>
            <a:chExt cx="7344274" cy="1641475"/>
          </a:xfrm>
        </p:grpSpPr>
        <p:sp>
          <p:nvSpPr>
            <p:cNvPr id="3" name="TextBox 3"/>
            <p:cNvSpPr txBox="1"/>
            <p:nvPr/>
          </p:nvSpPr>
          <p:spPr>
            <a:xfrm>
              <a:off x="983742" y="863600"/>
              <a:ext cx="5197297" cy="264033"/>
            </a:xfrm>
            <a:prstGeom prst="rect">
              <a:avLst/>
            </a:prstGeom>
            <a:noFill/>
            <a:ln>
              <a:noFill/>
            </a:ln>
          </p:spPr>
          <p:txBody>
            <a:bodyPr wrap="none" lIns="0" tIns="0" rIns="0" bIns="0" anchor="t" anchorCtr="0">
              <a:spAutoFit/>
            </a:bodyPr>
            <a:lstStyle/>
            <a:p>
              <a:pPr algn="l"/>
              <a:r>
                <a:rPr lang="en-US" sz="1350" spc="150" dirty="0">
                  <a:solidFill>
                    <a:schemeClr val="accent2"/>
                  </a:solidFill>
                  <a:latin typeface="Consolas"/>
                  <a:ea typeface="Consolas"/>
                  <a:cs typeface="Consolas"/>
                </a:rPr>
                <a:t>PAPER REPRODUCTION · CORRECTED EVALUATION</a:t>
              </a:r>
            </a:p>
          </p:txBody>
        </p:sp>
        <p:sp>
          <p:nvSpPr>
            <p:cNvPr id="4" name="TextBox 4"/>
            <p:cNvSpPr txBox="1"/>
            <p:nvPr/>
          </p:nvSpPr>
          <p:spPr>
            <a:xfrm>
              <a:off x="971550" y="1123950"/>
              <a:ext cx="7344274"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j-lt"/>
                  <a:ea typeface="+mj-ea"/>
                  <a:cs typeface="+mj-cs"/>
                </a:rPr>
                <a:t>Reproducing and Improving</a:t>
              </a:r>
            </a:p>
          </p:txBody>
        </p:sp>
        <p:sp>
          <p:nvSpPr>
            <p:cNvPr id="5" name="TextBox 5"/>
            <p:cNvSpPr txBox="1"/>
            <p:nvPr/>
          </p:nvSpPr>
          <p:spPr>
            <a:xfrm>
              <a:off x="971550" y="1714500"/>
              <a:ext cx="5834825"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j-lt"/>
                  <a:ea typeface="+mj-ea"/>
                  <a:cs typeface="+mj-cs"/>
                </a:rPr>
                <a:t>DoH Tunnel Detection</a:t>
              </a:r>
            </a:p>
          </p:txBody>
        </p:sp>
      </p:grpSp>
      <p:grpSp>
        <p:nvGrpSpPr>
          <p:cNvPr id="10" name="l1-result"/>
          <p:cNvGrpSpPr/>
          <p:nvPr/>
        </p:nvGrpSpPr>
        <p:grpSpPr>
          <a:xfrm>
            <a:off x="971550" y="3067050"/>
            <a:ext cx="3058973" cy="1426083"/>
            <a:chOff x="971550" y="3067050"/>
            <a:chExt cx="3058973" cy="1426083"/>
          </a:xfrm>
        </p:grpSpPr>
        <p:sp>
          <p:nvSpPr>
            <p:cNvPr id="7" name="TextBox 7"/>
            <p:cNvSpPr txBox="1"/>
            <p:nvPr/>
          </p:nvSpPr>
          <p:spPr>
            <a:xfrm>
              <a:off x="971550" y="3067050"/>
              <a:ext cx="3058973" cy="990600"/>
            </a:xfrm>
            <a:prstGeom prst="rect">
              <a:avLst/>
            </a:prstGeom>
            <a:noFill/>
            <a:ln>
              <a:noFill/>
            </a:ln>
          </p:spPr>
          <p:txBody>
            <a:bodyPr wrap="none" lIns="0" tIns="0" rIns="0" bIns="0" anchor="t" anchorCtr="0">
              <a:spAutoFit/>
            </a:bodyPr>
            <a:lstStyle/>
            <a:p>
              <a:pPr algn="l"/>
              <a:r>
                <a:rPr lang="en-US" sz="5100" b="1" dirty="0">
                  <a:solidFill>
                    <a:schemeClr val="accent2"/>
                  </a:solidFill>
                  <a:latin typeface="Consolas"/>
                  <a:ea typeface="Consolas"/>
                  <a:cs typeface="Consolas"/>
                </a:rPr>
                <a:t>+4.73 pp</a:t>
              </a:r>
            </a:p>
          </p:txBody>
        </p:sp>
        <p:sp>
          <p:nvSpPr>
            <p:cNvPr id="8" name="TextBox 8"/>
            <p:cNvSpPr txBox="1"/>
            <p:nvPr/>
          </p:nvSpPr>
          <p:spPr>
            <a:xfrm>
              <a:off x="1019556" y="3860800"/>
              <a:ext cx="2520772"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L1 best corrected F1</a:t>
              </a:r>
            </a:p>
          </p:txBody>
        </p:sp>
        <p:sp>
          <p:nvSpPr>
            <p:cNvPr id="9" name="TextBox 9"/>
            <p:cNvSpPr txBox="1"/>
            <p:nvPr/>
          </p:nvSpPr>
          <p:spPr>
            <a:xfrm>
              <a:off x="1021842" y="4229100"/>
              <a:ext cx="142217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0.9179 → 0.9651</a:t>
              </a:r>
            </a:p>
          </p:txBody>
        </p:sp>
      </p:grpSp>
      <p:grpSp>
        <p:nvGrpSpPr>
          <p:cNvPr id="14" name="l2-result"/>
          <p:cNvGrpSpPr/>
          <p:nvPr/>
        </p:nvGrpSpPr>
        <p:grpSpPr>
          <a:xfrm>
            <a:off x="6000750" y="3067050"/>
            <a:ext cx="3058973" cy="1426083"/>
            <a:chOff x="6000750" y="3067050"/>
            <a:chExt cx="3058973" cy="1426083"/>
          </a:xfrm>
        </p:grpSpPr>
        <p:sp>
          <p:nvSpPr>
            <p:cNvPr id="11" name="TextBox 11"/>
            <p:cNvSpPr txBox="1"/>
            <p:nvPr/>
          </p:nvSpPr>
          <p:spPr>
            <a:xfrm>
              <a:off x="6000750" y="3067050"/>
              <a:ext cx="3058973" cy="990600"/>
            </a:xfrm>
            <a:prstGeom prst="rect">
              <a:avLst/>
            </a:prstGeom>
            <a:noFill/>
            <a:ln>
              <a:noFill/>
            </a:ln>
          </p:spPr>
          <p:txBody>
            <a:bodyPr wrap="none" lIns="0" tIns="0" rIns="0" bIns="0" anchor="t" anchorCtr="0">
              <a:spAutoFit/>
            </a:bodyPr>
            <a:lstStyle/>
            <a:p>
              <a:pPr algn="l"/>
              <a:r>
                <a:rPr lang="en-US" sz="5100" b="1" dirty="0">
                  <a:solidFill>
                    <a:schemeClr val="accent2"/>
                  </a:solidFill>
                  <a:latin typeface="Consolas"/>
                  <a:ea typeface="Consolas"/>
                  <a:cs typeface="Consolas"/>
                </a:rPr>
                <a:t>+4.40 pp</a:t>
              </a:r>
            </a:p>
          </p:txBody>
        </p:sp>
        <p:sp>
          <p:nvSpPr>
            <p:cNvPr id="12" name="TextBox 12"/>
            <p:cNvSpPr txBox="1"/>
            <p:nvPr/>
          </p:nvSpPr>
          <p:spPr>
            <a:xfrm>
              <a:off x="6048756" y="3860800"/>
              <a:ext cx="2520772"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L2 best corrected F1</a:t>
              </a:r>
            </a:p>
          </p:txBody>
        </p:sp>
        <p:sp>
          <p:nvSpPr>
            <p:cNvPr id="13" name="TextBox 13"/>
            <p:cNvSpPr txBox="1"/>
            <p:nvPr/>
          </p:nvSpPr>
          <p:spPr>
            <a:xfrm>
              <a:off x="6051042" y="4229100"/>
              <a:ext cx="142217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0.9425 → 0.9864</a:t>
              </a:r>
            </a:p>
          </p:txBody>
        </p:sp>
      </p:grpSp>
      <p:grpSp>
        <p:nvGrpSpPr>
          <p:cNvPr id="22" name="scope-note"/>
          <p:cNvGrpSpPr/>
          <p:nvPr/>
        </p:nvGrpSpPr>
        <p:grpSpPr>
          <a:xfrm>
            <a:off x="990600" y="5048250"/>
            <a:ext cx="10096500" cy="781050"/>
            <a:chOff x="990600" y="5048250"/>
            <a:chExt cx="10096500" cy="781050"/>
          </a:xfrm>
        </p:grpSpPr>
        <p:sp>
          <p:nvSpPr>
            <p:cNvPr id="15" name="Rectangle 15"/>
            <p:cNvSpPr/>
            <p:nvPr/>
          </p:nvSpPr>
          <p:spPr>
            <a:xfrm>
              <a:off x="990600" y="5048250"/>
              <a:ext cx="10096500" cy="781050"/>
            </a:xfrm>
            <a:prstGeom prst="rect">
              <a:avLst/>
            </a:prstGeom>
            <a:solidFill>
              <a:srgbClr val="FFF7ED"/>
            </a:solidFill>
            <a:ln w="19050">
              <a:solidFill>
                <a:schemeClr val="accent3"/>
              </a:solidFill>
            </a:ln>
          </p:spPr>
        </p:sp>
        <p:grpSp>
          <p:nvGrpSpPr>
            <p:cNvPr id="19" name="Group 19"/>
            <p:cNvGrpSpPr/>
            <p:nvPr/>
          </p:nvGrpSpPr>
          <p:grpSpPr>
            <a:xfrm>
              <a:off x="1243519" y="5301206"/>
              <a:ext cx="256151" cy="220068"/>
              <a:chOff x="1243519" y="5301206"/>
              <a:chExt cx="256151" cy="220068"/>
            </a:xfrm>
          </p:grpSpPr>
          <p:sp>
            <p:nvSpPr>
              <p:cNvPr id="16" name="Freeform 16"/>
              <p:cNvSpPr/>
              <p:nvPr/>
            </p:nvSpPr>
            <p:spPr>
              <a:xfrm>
                <a:off x="1371600" y="5381625"/>
                <a:ext cx="9525" cy="50800"/>
              </a:xfrm>
              <a:custGeom>
                <a:avLst/>
                <a:gdLst/>
                <a:ahLst/>
                <a:cxnLst/>
                <a:rect l="l" t="t" r="r" b="b"/>
                <a:pathLst>
                  <a:path w="9525" h="50800">
                    <a:moveTo>
                      <a:pt x="0" y="0"/>
                    </a:moveTo>
                    <a:lnTo>
                      <a:pt x="0" y="50800"/>
                    </a:lnTo>
                  </a:path>
                </a:pathLst>
              </a:custGeom>
              <a:noFill/>
              <a:ln w="25400">
                <a:solidFill>
                  <a:schemeClr val="accent3"/>
                </a:solidFill>
              </a:ln>
            </p:spPr>
          </p:sp>
          <p:sp>
            <p:nvSpPr>
              <p:cNvPr id="17" name="Freeform 17"/>
              <p:cNvSpPr/>
              <p:nvPr/>
            </p:nvSpPr>
            <p:spPr>
              <a:xfrm>
                <a:off x="1243519" y="5301206"/>
                <a:ext cx="256151" cy="220068"/>
              </a:xfrm>
              <a:custGeom>
                <a:avLst/>
                <a:gdLst/>
                <a:ahLst/>
                <a:cxnLst/>
                <a:rect l="l" t="t" r="r" b="b"/>
                <a:pathLst>
                  <a:path w="256151" h="220068">
                    <a:moveTo>
                      <a:pt x="107291" y="11725"/>
                    </a:moveTo>
                    <a:lnTo>
                      <a:pt x="4345" y="183606"/>
                    </a:lnTo>
                    <a:cubicBezTo>
                      <a:pt x="26" y="191085"/>
                      <a:pt x="0" y="200293"/>
                      <a:pt x="4276" y="207796"/>
                    </a:cubicBezTo>
                    <a:cubicBezTo>
                      <a:pt x="8551" y="215299"/>
                      <a:pt x="16487" y="219971"/>
                      <a:pt x="25122" y="220068"/>
                    </a:cubicBezTo>
                    <a:lnTo>
                      <a:pt x="231039" y="220068"/>
                    </a:lnTo>
                    <a:cubicBezTo>
                      <a:pt x="239671" y="219968"/>
                      <a:pt x="247602" y="215299"/>
                      <a:pt x="251877" y="207800"/>
                    </a:cubicBezTo>
                    <a:cubicBezTo>
                      <a:pt x="256151" y="200300"/>
                      <a:pt x="256128" y="191097"/>
                      <a:pt x="251816" y="183619"/>
                    </a:cubicBezTo>
                    <a:lnTo>
                      <a:pt x="148870" y="11712"/>
                    </a:lnTo>
                    <a:cubicBezTo>
                      <a:pt x="144465" y="4441"/>
                      <a:pt x="136582" y="0"/>
                      <a:pt x="128081" y="0"/>
                    </a:cubicBezTo>
                    <a:cubicBezTo>
                      <a:pt x="119579" y="0"/>
                      <a:pt x="111696" y="4441"/>
                      <a:pt x="107291" y="11712"/>
                    </a:cubicBezTo>
                  </a:path>
                </a:pathLst>
              </a:custGeom>
              <a:noFill/>
              <a:ln w="25400">
                <a:solidFill>
                  <a:schemeClr val="accent3"/>
                </a:solidFill>
              </a:ln>
            </p:spPr>
          </p:sp>
          <p:sp>
            <p:nvSpPr>
              <p:cNvPr id="18" name="Freeform 18"/>
              <p:cNvSpPr/>
              <p:nvPr/>
            </p:nvSpPr>
            <p:spPr>
              <a:xfrm>
                <a:off x="1371600" y="5470524"/>
                <a:ext cx="9525" cy="9525"/>
              </a:xfrm>
              <a:custGeom>
                <a:avLst/>
                <a:gdLst/>
                <a:ahLst/>
                <a:cxnLst/>
                <a:rect l="l" t="t" r="r" b="b"/>
                <a:pathLst>
                  <a:path w="9525" h="9525">
                    <a:moveTo>
                      <a:pt x="0" y="0"/>
                    </a:moveTo>
                    <a:lnTo>
                      <a:pt x="127" y="0"/>
                    </a:lnTo>
                  </a:path>
                </a:pathLst>
              </a:custGeom>
              <a:noFill/>
              <a:ln w="25400">
                <a:solidFill>
                  <a:schemeClr val="accent3"/>
                </a:solidFill>
              </a:ln>
            </p:spPr>
          </p:sp>
        </p:grpSp>
        <p:sp>
          <p:nvSpPr>
            <p:cNvPr id="20" name="TextBox 20"/>
            <p:cNvSpPr txBox="1"/>
            <p:nvPr/>
          </p:nvSpPr>
          <p:spPr>
            <a:xfrm>
              <a:off x="1687068" y="5219700"/>
              <a:ext cx="208814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Evidence boundary</a:t>
              </a:r>
            </a:p>
          </p:txBody>
        </p:sp>
        <p:sp>
          <p:nvSpPr>
            <p:cNvPr id="21" name="TextBox 21"/>
            <p:cNvSpPr txBox="1"/>
            <p:nvPr/>
          </p:nvSpPr>
          <p:spPr>
            <a:xfrm>
              <a:off x="1688592" y="5524500"/>
              <a:ext cx="773272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Capped, session-disjoint raw-PCAP experiment — not a full-dataset convergence claim.</a:t>
              </a:r>
            </a:p>
          </p:txBody>
        </p:sp>
      </p:grpSp>
      <p:grpSp>
        <p:nvGrpSpPr>
          <p:cNvPr id="25" name="footer"/>
          <p:cNvGrpSpPr/>
          <p:nvPr/>
        </p:nvGrpSpPr>
        <p:grpSpPr>
          <a:xfrm>
            <a:off x="985266" y="6330950"/>
            <a:ext cx="10107168" cy="205359"/>
            <a:chOff x="985266" y="6330950"/>
            <a:chExt cx="10107168" cy="205359"/>
          </a:xfrm>
        </p:grpSpPr>
        <p:sp>
          <p:nvSpPr>
            <p:cNvPr id="23" name="TextBox 23"/>
            <p:cNvSpPr txBox="1"/>
            <p:nvPr/>
          </p:nvSpPr>
          <p:spPr>
            <a:xfrm>
              <a:off x="985266" y="6330950"/>
              <a:ext cx="5922350"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MontazeriShatoori et al. (2020) · CIRA-CIC-DoHBrw-2020 · Project evidence, seed 42</a:t>
              </a:r>
            </a:p>
          </p:txBody>
        </p:sp>
        <p:sp>
          <p:nvSpPr>
            <p:cNvPr id="24" name="TextBox 24"/>
            <p:cNvSpPr txBox="1"/>
            <p:nvPr/>
          </p:nvSpPr>
          <p:spPr>
            <a:xfrm>
              <a:off x="10926280" y="63309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36498" y="546100"/>
            <a:ext cx="10042501" cy="946277"/>
            <a:chOff x="936498" y="546100"/>
            <a:chExt cx="10042501" cy="946277"/>
          </a:xfrm>
        </p:grpSpPr>
        <p:sp>
          <p:nvSpPr>
            <p:cNvPr id="3" name="TextBox 3"/>
            <p:cNvSpPr txBox="1"/>
            <p:nvPr/>
          </p:nvSpPr>
          <p:spPr>
            <a:xfrm>
              <a:off x="946404" y="546100"/>
              <a:ext cx="1373429"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01 · PROBLEM</a:t>
              </a:r>
            </a:p>
          </p:txBody>
        </p:sp>
        <p:sp>
          <p:nvSpPr>
            <p:cNvPr id="4" name="TextBox 4"/>
            <p:cNvSpPr txBox="1"/>
            <p:nvPr/>
          </p:nvSpPr>
          <p:spPr>
            <a:xfrm>
              <a:off x="936498" y="876300"/>
              <a:ext cx="10042501"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Encryption hides content—not packet behavior</a:t>
              </a:r>
            </a:p>
          </p:txBody>
        </p:sp>
      </p:grpSp>
      <p:grpSp>
        <p:nvGrpSpPr>
          <p:cNvPr id="17" name="hidden-channel"/>
          <p:cNvGrpSpPr/>
          <p:nvPr/>
        </p:nvGrpSpPr>
        <p:grpSpPr>
          <a:xfrm>
            <a:off x="952500" y="1790700"/>
            <a:ext cx="4476750" cy="3333750"/>
            <a:chOff x="952500" y="1790700"/>
            <a:chExt cx="4476750" cy="3333750"/>
          </a:xfrm>
        </p:grpSpPr>
        <p:sp>
          <p:nvSpPr>
            <p:cNvPr id="6" name="Rectangle 6"/>
            <p:cNvSpPr/>
            <p:nvPr/>
          </p:nvSpPr>
          <p:spPr>
            <a:xfrm>
              <a:off x="952500" y="1790700"/>
              <a:ext cx="4476750" cy="3333750"/>
            </a:xfrm>
            <a:prstGeom prst="roundRect">
              <a:avLst>
                <a:gd name="adj" fmla="val 2857"/>
              </a:avLst>
            </a:prstGeom>
            <a:solidFill>
              <a:schemeClr val="lt2"/>
            </a:solidFill>
            <a:ln>
              <a:noFill/>
            </a:ln>
          </p:spPr>
        </p:sp>
        <p:grpSp>
          <p:nvGrpSpPr>
            <p:cNvPr id="10" name="Group 10"/>
            <p:cNvGrpSpPr/>
            <p:nvPr/>
          </p:nvGrpSpPr>
          <p:grpSpPr>
            <a:xfrm>
              <a:off x="1354870" y="2202656"/>
              <a:ext cx="433510" cy="414338"/>
              <a:chOff x="1354870" y="2202656"/>
              <a:chExt cx="433510" cy="414338"/>
            </a:xfrm>
          </p:grpSpPr>
          <p:sp>
            <p:nvSpPr>
              <p:cNvPr id="7" name="Freeform 7"/>
              <p:cNvSpPr/>
              <p:nvPr/>
            </p:nvSpPr>
            <p:spPr>
              <a:xfrm>
                <a:off x="1354870" y="2202656"/>
                <a:ext cx="433510" cy="414338"/>
              </a:xfrm>
              <a:custGeom>
                <a:avLst/>
                <a:gdLst/>
                <a:ahLst/>
                <a:cxnLst/>
                <a:rect l="l" t="t" r="r" b="b"/>
                <a:pathLst>
                  <a:path w="433510" h="414338">
                    <a:moveTo>
                      <a:pt x="216755" y="0"/>
                    </a:moveTo>
                    <a:cubicBezTo>
                      <a:pt x="270523" y="47570"/>
                      <a:pt x="340699" y="72338"/>
                      <a:pt x="412415" y="69056"/>
                    </a:cubicBezTo>
                    <a:cubicBezTo>
                      <a:pt x="433510" y="140818"/>
                      <a:pt x="424601" y="218067"/>
                      <a:pt x="387725" y="283143"/>
                    </a:cubicBezTo>
                    <a:cubicBezTo>
                      <a:pt x="350848" y="348219"/>
                      <a:pt x="289157" y="395558"/>
                      <a:pt x="216755" y="414338"/>
                    </a:cubicBezTo>
                    <a:cubicBezTo>
                      <a:pt x="144353" y="395558"/>
                      <a:pt x="82662" y="348219"/>
                      <a:pt x="45785" y="283143"/>
                    </a:cubicBezTo>
                    <a:cubicBezTo>
                      <a:pt x="8909" y="218067"/>
                      <a:pt x="0" y="140818"/>
                      <a:pt x="21095" y="69056"/>
                    </a:cubicBezTo>
                    <a:cubicBezTo>
                      <a:pt x="92811" y="72338"/>
                      <a:pt x="162987" y="47570"/>
                      <a:pt x="216755" y="0"/>
                    </a:cubicBezTo>
                  </a:path>
                </a:pathLst>
              </a:custGeom>
              <a:noFill/>
              <a:ln w="46038">
                <a:solidFill>
                  <a:schemeClr val="accent1"/>
                </a:solidFill>
              </a:ln>
            </p:spPr>
          </p:sp>
          <p:sp>
            <p:nvSpPr>
              <p:cNvPr id="8" name="Freeform 8"/>
              <p:cNvSpPr/>
              <p:nvPr/>
            </p:nvSpPr>
            <p:spPr>
              <a:xfrm>
                <a:off x="1548607" y="2363788"/>
                <a:ext cx="46038" cy="46038"/>
              </a:xfrm>
              <a:custGeom>
                <a:avLst/>
                <a:gdLst/>
                <a:ahLst/>
                <a:cxnLst/>
                <a:rect l="l" t="t" r="r" b="b"/>
                <a:pathLst>
                  <a:path w="46038" h="46038">
                    <a:moveTo>
                      <a:pt x="0" y="23019"/>
                    </a:moveTo>
                    <a:cubicBezTo>
                      <a:pt x="0" y="35732"/>
                      <a:pt x="10306" y="46038"/>
                      <a:pt x="23019" y="46038"/>
                    </a:cubicBezTo>
                    <a:cubicBezTo>
                      <a:pt x="35732" y="46038"/>
                      <a:pt x="46038" y="35732"/>
                      <a:pt x="46038" y="23019"/>
                    </a:cubicBezTo>
                    <a:cubicBezTo>
                      <a:pt x="46038" y="10306"/>
                      <a:pt x="35732" y="0"/>
                      <a:pt x="23019" y="0"/>
                    </a:cubicBezTo>
                    <a:cubicBezTo>
                      <a:pt x="10306" y="0"/>
                      <a:pt x="0" y="10306"/>
                      <a:pt x="0" y="23019"/>
                    </a:cubicBezTo>
                  </a:path>
                </a:pathLst>
              </a:custGeom>
              <a:noFill/>
              <a:ln w="46038">
                <a:solidFill>
                  <a:schemeClr val="accent1"/>
                </a:solidFill>
              </a:ln>
            </p:spPr>
          </p:sp>
          <p:sp>
            <p:nvSpPr>
              <p:cNvPr id="9" name="Freeform 9"/>
              <p:cNvSpPr/>
              <p:nvPr/>
            </p:nvSpPr>
            <p:spPr>
              <a:xfrm>
                <a:off x="1571625" y="2409825"/>
                <a:ext cx="9525" cy="57547"/>
              </a:xfrm>
              <a:custGeom>
                <a:avLst/>
                <a:gdLst/>
                <a:ahLst/>
                <a:cxnLst/>
                <a:rect l="l" t="t" r="r" b="b"/>
                <a:pathLst>
                  <a:path w="9525" h="57547">
                    <a:moveTo>
                      <a:pt x="0" y="0"/>
                    </a:moveTo>
                    <a:lnTo>
                      <a:pt x="0" y="57547"/>
                    </a:lnTo>
                  </a:path>
                </a:pathLst>
              </a:custGeom>
              <a:noFill/>
              <a:ln w="46038">
                <a:solidFill>
                  <a:schemeClr val="accent1"/>
                </a:solidFill>
              </a:ln>
            </p:spPr>
          </p:sp>
        </p:grpSp>
        <p:sp>
          <p:nvSpPr>
            <p:cNvPr id="11" name="TextBox 11"/>
            <p:cNvSpPr txBox="1"/>
            <p:nvPr/>
          </p:nvSpPr>
          <p:spPr>
            <a:xfrm>
              <a:off x="2065782" y="2139950"/>
              <a:ext cx="2657638"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Encrypted payload</a:t>
              </a:r>
            </a:p>
          </p:txBody>
        </p:sp>
        <p:sp>
          <p:nvSpPr>
            <p:cNvPr id="12" name="Line 12"/>
            <p:cNvSpPr/>
            <p:nvPr/>
          </p:nvSpPr>
          <p:spPr>
            <a:xfrm>
              <a:off x="1333500" y="2933700"/>
              <a:ext cx="3695700" cy="9525"/>
            </a:xfrm>
            <a:custGeom>
              <a:avLst/>
              <a:gdLst/>
              <a:ahLst/>
              <a:cxnLst/>
              <a:rect l="l" t="t" r="r" b="b"/>
              <a:pathLst>
                <a:path w="3695700" h="9525">
                  <a:moveTo>
                    <a:pt x="0" y="0"/>
                  </a:moveTo>
                  <a:lnTo>
                    <a:pt x="3695700" y="0"/>
                  </a:lnTo>
                </a:path>
              </a:pathLst>
            </a:custGeom>
            <a:noFill/>
            <a:ln w="19050">
              <a:solidFill>
                <a:schemeClr val="accent6"/>
              </a:solidFill>
            </a:ln>
          </p:spPr>
        </p:sp>
        <p:sp>
          <p:nvSpPr>
            <p:cNvPr id="13" name="TextBox 13"/>
            <p:cNvSpPr txBox="1"/>
            <p:nvPr/>
          </p:nvSpPr>
          <p:spPr>
            <a:xfrm>
              <a:off x="1324356" y="3155950"/>
              <a:ext cx="2757830"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DNS names and answers</a:t>
              </a:r>
            </a:p>
          </p:txBody>
        </p:sp>
        <p:sp>
          <p:nvSpPr>
            <p:cNvPr id="14" name="TextBox 14"/>
            <p:cNvSpPr txBox="1"/>
            <p:nvPr/>
          </p:nvSpPr>
          <p:spPr>
            <a:xfrm>
              <a:off x="1324356" y="3565525"/>
              <a:ext cx="256980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Application semantics</a:t>
              </a:r>
            </a:p>
          </p:txBody>
        </p:sp>
        <p:sp>
          <p:nvSpPr>
            <p:cNvPr id="15" name="TextBox 15"/>
            <p:cNvSpPr txBox="1"/>
            <p:nvPr/>
          </p:nvSpPr>
          <p:spPr>
            <a:xfrm>
              <a:off x="1324356" y="3975100"/>
              <a:ext cx="3079699"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Tunnel commands and data</a:t>
              </a:r>
            </a:p>
          </p:txBody>
        </p:sp>
        <p:sp>
          <p:nvSpPr>
            <p:cNvPr id="16" name="TextBox 16"/>
            <p:cNvSpPr txBox="1"/>
            <p:nvPr/>
          </p:nvSpPr>
          <p:spPr>
            <a:xfrm>
              <a:off x="1326642" y="4619625"/>
              <a:ext cx="22221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Opaque inside HTTPS/TLS</a:t>
              </a:r>
            </a:p>
          </p:txBody>
        </p:sp>
      </p:grpSp>
      <p:grpSp>
        <p:nvGrpSpPr>
          <p:cNvPr id="28" name="visible-channel"/>
          <p:cNvGrpSpPr/>
          <p:nvPr/>
        </p:nvGrpSpPr>
        <p:grpSpPr>
          <a:xfrm>
            <a:off x="6191250" y="1790700"/>
            <a:ext cx="4476750" cy="3333750"/>
            <a:chOff x="6191250" y="1790700"/>
            <a:chExt cx="4476750" cy="3333750"/>
          </a:xfrm>
        </p:grpSpPr>
        <p:sp>
          <p:nvSpPr>
            <p:cNvPr id="18" name="Rectangle 18"/>
            <p:cNvSpPr/>
            <p:nvPr/>
          </p:nvSpPr>
          <p:spPr>
            <a:xfrm>
              <a:off x="6191250" y="1790700"/>
              <a:ext cx="4476750" cy="3333750"/>
            </a:xfrm>
            <a:prstGeom prst="roundRect">
              <a:avLst>
                <a:gd name="adj" fmla="val 2857"/>
              </a:avLst>
            </a:prstGeom>
            <a:solidFill>
              <a:srgbClr val="FFFFFF"/>
            </a:solidFill>
            <a:ln w="28575">
              <a:solidFill>
                <a:schemeClr val="accent2"/>
              </a:solidFill>
            </a:ln>
          </p:spPr>
        </p:sp>
        <p:grpSp>
          <p:nvGrpSpPr>
            <p:cNvPr id="21" name="Group 21"/>
            <p:cNvGrpSpPr/>
            <p:nvPr/>
          </p:nvGrpSpPr>
          <p:grpSpPr>
            <a:xfrm>
              <a:off x="6626225" y="2271713"/>
              <a:ext cx="368301" cy="308769"/>
              <a:chOff x="6626225" y="2271713"/>
              <a:chExt cx="368301" cy="308769"/>
            </a:xfrm>
          </p:grpSpPr>
          <p:sp>
            <p:nvSpPr>
              <p:cNvPr id="19" name="Freeform 19"/>
              <p:cNvSpPr/>
              <p:nvPr/>
            </p:nvSpPr>
            <p:spPr>
              <a:xfrm>
                <a:off x="6626225" y="2570957"/>
                <a:ext cx="368301" cy="9525"/>
              </a:xfrm>
              <a:custGeom>
                <a:avLst/>
                <a:gdLst/>
                <a:ahLst/>
                <a:cxnLst/>
                <a:rect l="l" t="t" r="r" b="b"/>
                <a:pathLst>
                  <a:path w="368301" h="9525">
                    <a:moveTo>
                      <a:pt x="0" y="0"/>
                    </a:moveTo>
                    <a:lnTo>
                      <a:pt x="368301" y="0"/>
                    </a:lnTo>
                  </a:path>
                </a:pathLst>
              </a:custGeom>
              <a:noFill/>
              <a:ln w="46038">
                <a:solidFill>
                  <a:schemeClr val="accent2"/>
                </a:solidFill>
              </a:ln>
            </p:spPr>
          </p:sp>
          <p:sp>
            <p:nvSpPr>
              <p:cNvPr id="20" name="Freeform 20"/>
              <p:cNvSpPr/>
              <p:nvPr/>
            </p:nvSpPr>
            <p:spPr>
              <a:xfrm>
                <a:off x="6626225" y="2271713"/>
                <a:ext cx="368301" cy="207169"/>
              </a:xfrm>
              <a:custGeom>
                <a:avLst/>
                <a:gdLst/>
                <a:ahLst/>
                <a:cxnLst/>
                <a:rect l="l" t="t" r="r" b="b"/>
                <a:pathLst>
                  <a:path w="368301" h="207169">
                    <a:moveTo>
                      <a:pt x="0" y="207169"/>
                    </a:moveTo>
                    <a:lnTo>
                      <a:pt x="92075" y="69056"/>
                    </a:lnTo>
                    <a:lnTo>
                      <a:pt x="184150" y="115094"/>
                    </a:lnTo>
                    <a:lnTo>
                      <a:pt x="276225" y="0"/>
                    </a:lnTo>
                    <a:lnTo>
                      <a:pt x="368301" y="92075"/>
                    </a:lnTo>
                  </a:path>
                </a:pathLst>
              </a:custGeom>
              <a:noFill/>
              <a:ln w="46038">
                <a:solidFill>
                  <a:schemeClr val="accent2"/>
                </a:solidFill>
              </a:ln>
            </p:spPr>
          </p:sp>
        </p:grpSp>
        <p:sp>
          <p:nvSpPr>
            <p:cNvPr id="22" name="TextBox 22"/>
            <p:cNvSpPr txBox="1"/>
            <p:nvPr/>
          </p:nvSpPr>
          <p:spPr>
            <a:xfrm>
              <a:off x="7304532" y="2139950"/>
              <a:ext cx="3043707"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Observable sequence</a:t>
              </a:r>
            </a:p>
          </p:txBody>
        </p:sp>
        <p:sp>
          <p:nvSpPr>
            <p:cNvPr id="23" name="Line 23"/>
            <p:cNvSpPr/>
            <p:nvPr/>
          </p:nvSpPr>
          <p:spPr>
            <a:xfrm>
              <a:off x="6572250" y="2933700"/>
              <a:ext cx="3695700" cy="9525"/>
            </a:xfrm>
            <a:custGeom>
              <a:avLst/>
              <a:gdLst/>
              <a:ahLst/>
              <a:cxnLst/>
              <a:rect l="l" t="t" r="r" b="b"/>
              <a:pathLst>
                <a:path w="3695700" h="9525">
                  <a:moveTo>
                    <a:pt x="0" y="0"/>
                  </a:moveTo>
                  <a:lnTo>
                    <a:pt x="3695700" y="0"/>
                  </a:lnTo>
                </a:path>
              </a:pathLst>
            </a:custGeom>
            <a:noFill/>
            <a:ln w="19050">
              <a:solidFill>
                <a:schemeClr val="accent6"/>
              </a:solidFill>
            </a:ln>
          </p:spPr>
        </p:sp>
        <p:sp>
          <p:nvSpPr>
            <p:cNvPr id="24" name="TextBox 24"/>
            <p:cNvSpPr txBox="1"/>
            <p:nvPr/>
          </p:nvSpPr>
          <p:spPr>
            <a:xfrm>
              <a:off x="6563106" y="3155950"/>
              <a:ext cx="1976293"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Packet direction</a:t>
              </a:r>
            </a:p>
          </p:txBody>
        </p:sp>
        <p:sp>
          <p:nvSpPr>
            <p:cNvPr id="25" name="TextBox 25"/>
            <p:cNvSpPr txBox="1"/>
            <p:nvPr/>
          </p:nvSpPr>
          <p:spPr>
            <a:xfrm>
              <a:off x="6563106" y="3565525"/>
              <a:ext cx="1637290"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Packet length</a:t>
              </a:r>
            </a:p>
          </p:txBody>
        </p:sp>
        <p:sp>
          <p:nvSpPr>
            <p:cNvPr id="26" name="TextBox 26"/>
            <p:cNvSpPr txBox="1"/>
            <p:nvPr/>
          </p:nvSpPr>
          <p:spPr>
            <a:xfrm>
              <a:off x="6563106" y="3975100"/>
              <a:ext cx="323687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Timing and burst structure</a:t>
              </a:r>
            </a:p>
          </p:txBody>
        </p:sp>
        <p:sp>
          <p:nvSpPr>
            <p:cNvPr id="27" name="TextBox 27"/>
            <p:cNvSpPr txBox="1"/>
            <p:nvPr/>
          </p:nvSpPr>
          <p:spPr>
            <a:xfrm>
              <a:off x="6565392" y="4619625"/>
              <a:ext cx="2627320"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mn-lt"/>
                  <a:ea typeface="+mn-ea"/>
                  <a:cs typeface="+mn-cs"/>
                </a:rPr>
                <a:t>Learnable without decryption</a:t>
              </a:r>
            </a:p>
          </p:txBody>
        </p:sp>
      </p:grpSp>
      <p:grpSp>
        <p:nvGrpSpPr>
          <p:cNvPr id="31" name="takeaway"/>
          <p:cNvGrpSpPr/>
          <p:nvPr/>
        </p:nvGrpSpPr>
        <p:grpSpPr>
          <a:xfrm>
            <a:off x="941832" y="5540375"/>
            <a:ext cx="9648521" cy="410718"/>
            <a:chOff x="941832" y="5540375"/>
            <a:chExt cx="9648521" cy="410718"/>
          </a:xfrm>
        </p:grpSpPr>
        <p:sp>
          <p:nvSpPr>
            <p:cNvPr id="29" name="TextBox 29"/>
            <p:cNvSpPr txBox="1"/>
            <p:nvPr/>
          </p:nvSpPr>
          <p:spPr>
            <a:xfrm>
              <a:off x="941832" y="5540375"/>
              <a:ext cx="2495045"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Core hypothesis:</a:t>
              </a:r>
            </a:p>
          </p:txBody>
        </p:sp>
        <p:sp>
          <p:nvSpPr>
            <p:cNvPr id="30" name="TextBox 30"/>
            <p:cNvSpPr txBox="1"/>
            <p:nvPr/>
          </p:nvSpPr>
          <p:spPr>
            <a:xfrm>
              <a:off x="2846832" y="5540375"/>
              <a:ext cx="7743521"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DoH tunneling changes traffic shape enough to classify.</a:t>
              </a:r>
            </a:p>
          </p:txBody>
        </p:sp>
      </p:grpSp>
      <p:grpSp>
        <p:nvGrpSpPr>
          <p:cNvPr id="34" name="footer"/>
          <p:cNvGrpSpPr/>
          <p:nvPr/>
        </p:nvGrpSpPr>
        <p:grpSpPr>
          <a:xfrm>
            <a:off x="947166" y="6369050"/>
            <a:ext cx="10297668" cy="205359"/>
            <a:chOff x="947166" y="6369050"/>
            <a:chExt cx="10297668" cy="205359"/>
          </a:xfrm>
        </p:grpSpPr>
        <p:sp>
          <p:nvSpPr>
            <p:cNvPr id="32" name="TextBox 32"/>
            <p:cNvSpPr txBox="1"/>
            <p:nvPr/>
          </p:nvSpPr>
          <p:spPr>
            <a:xfrm>
              <a:off x="947166" y="6369050"/>
              <a:ext cx="2568570"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original paper, Sections I–III</a:t>
              </a:r>
            </a:p>
          </p:txBody>
        </p:sp>
        <p:sp>
          <p:nvSpPr>
            <p:cNvPr id="33" name="TextBox 33"/>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36498" y="546100"/>
            <a:ext cx="6169336" cy="946277"/>
            <a:chOff x="936498" y="546100"/>
            <a:chExt cx="6169336" cy="946277"/>
          </a:xfrm>
        </p:grpSpPr>
        <p:sp>
          <p:nvSpPr>
            <p:cNvPr id="3" name="TextBox 3"/>
            <p:cNvSpPr txBox="1"/>
            <p:nvPr/>
          </p:nvSpPr>
          <p:spPr>
            <a:xfrm>
              <a:off x="946404" y="546100"/>
              <a:ext cx="2295144"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02 · ORIGINAL METHOD</a:t>
              </a:r>
            </a:p>
          </p:txBody>
        </p:sp>
        <p:sp>
          <p:nvSpPr>
            <p:cNvPr id="4" name="TextBox 4"/>
            <p:cNvSpPr txBox="1"/>
            <p:nvPr/>
          </p:nvSpPr>
          <p:spPr>
            <a:xfrm>
              <a:off x="936498" y="876300"/>
              <a:ext cx="6169336"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A two-layer decision system</a:t>
              </a:r>
            </a:p>
          </p:txBody>
        </p:sp>
      </p:grpSp>
      <p:grpSp>
        <p:nvGrpSpPr>
          <p:cNvPr id="29" name="pipeline"/>
          <p:cNvGrpSpPr/>
          <p:nvPr/>
        </p:nvGrpSpPr>
        <p:grpSpPr>
          <a:xfrm>
            <a:off x="952500" y="1790700"/>
            <a:ext cx="6096000" cy="3638550"/>
            <a:chOff x="952500" y="1790700"/>
            <a:chExt cx="6096000" cy="3638550"/>
          </a:xfrm>
        </p:grpSpPr>
        <p:sp>
          <p:nvSpPr>
            <p:cNvPr id="6" name="Rectangle 6"/>
            <p:cNvSpPr/>
            <p:nvPr/>
          </p:nvSpPr>
          <p:spPr>
            <a:xfrm>
              <a:off x="952500" y="1790700"/>
              <a:ext cx="6096000" cy="3638550"/>
            </a:xfrm>
            <a:prstGeom prst="roundRect">
              <a:avLst>
                <a:gd name="adj" fmla="val 3141"/>
              </a:avLst>
            </a:prstGeom>
            <a:solidFill>
              <a:srgbClr val="FFFFFF"/>
            </a:solidFill>
            <a:ln w="19050">
              <a:solidFill>
                <a:schemeClr val="accent6"/>
              </a:solidFill>
            </a:ln>
          </p:spPr>
        </p:sp>
        <p:grpSp>
          <p:nvGrpSpPr>
            <p:cNvPr id="15" name="Group 15"/>
            <p:cNvGrpSpPr/>
            <p:nvPr/>
          </p:nvGrpSpPr>
          <p:grpSpPr>
            <a:xfrm>
              <a:off x="1369219" y="2226469"/>
              <a:ext cx="328613" cy="346869"/>
              <a:chOff x="1369219" y="2226469"/>
              <a:chExt cx="328613" cy="346869"/>
            </a:xfrm>
          </p:grpSpPr>
          <p:sp>
            <p:nvSpPr>
              <p:cNvPr id="7" name="Freeform 7"/>
              <p:cNvSpPr/>
              <p:nvPr/>
            </p:nvSpPr>
            <p:spPr>
              <a:xfrm>
                <a:off x="1423988" y="2226469"/>
                <a:ext cx="219075" cy="219075"/>
              </a:xfrm>
              <a:custGeom>
                <a:avLst/>
                <a:gdLst/>
                <a:ahLst/>
                <a:cxnLst/>
                <a:rect l="l" t="t" r="r" b="b"/>
                <a:pathLst>
                  <a:path w="219075" h="219075">
                    <a:moveTo>
                      <a:pt x="0" y="109538"/>
                    </a:moveTo>
                    <a:cubicBezTo>
                      <a:pt x="0" y="170034"/>
                      <a:pt x="49042" y="219075"/>
                      <a:pt x="109538" y="219075"/>
                    </a:cubicBezTo>
                    <a:cubicBezTo>
                      <a:pt x="170034" y="219075"/>
                      <a:pt x="219075" y="170034"/>
                      <a:pt x="219075" y="109538"/>
                    </a:cubicBezTo>
                    <a:cubicBezTo>
                      <a:pt x="219075" y="49042"/>
                      <a:pt x="170034" y="0"/>
                      <a:pt x="109538" y="0"/>
                    </a:cubicBezTo>
                    <a:cubicBezTo>
                      <a:pt x="49042" y="0"/>
                      <a:pt x="0" y="49042"/>
                      <a:pt x="0" y="109538"/>
                    </a:cubicBezTo>
                  </a:path>
                </a:pathLst>
              </a:custGeom>
              <a:noFill/>
              <a:ln w="36513">
                <a:solidFill>
                  <a:schemeClr val="accent2"/>
                </a:solidFill>
              </a:ln>
            </p:spPr>
          </p:sp>
          <p:sp>
            <p:nvSpPr>
              <p:cNvPr id="8" name="Freeform 8"/>
              <p:cNvSpPr/>
              <p:nvPr/>
            </p:nvSpPr>
            <p:spPr>
              <a:xfrm>
                <a:off x="1533525" y="2226469"/>
                <a:ext cx="36513" cy="219075"/>
              </a:xfrm>
              <a:custGeom>
                <a:avLst/>
                <a:gdLst/>
                <a:ahLst/>
                <a:cxnLst/>
                <a:rect l="l" t="t" r="r" b="b"/>
                <a:pathLst>
                  <a:path w="36513" h="219075">
                    <a:moveTo>
                      <a:pt x="0" y="0"/>
                    </a:moveTo>
                    <a:cubicBezTo>
                      <a:pt x="24336" y="6079"/>
                      <a:pt x="36513" y="42592"/>
                      <a:pt x="36513" y="109538"/>
                    </a:cubicBezTo>
                    <a:cubicBezTo>
                      <a:pt x="36513" y="176483"/>
                      <a:pt x="24336" y="212996"/>
                      <a:pt x="0" y="219075"/>
                    </a:cubicBezTo>
                  </a:path>
                </a:pathLst>
              </a:custGeom>
              <a:noFill/>
              <a:ln w="36513">
                <a:solidFill>
                  <a:schemeClr val="accent2"/>
                </a:solidFill>
              </a:ln>
            </p:spPr>
          </p:sp>
          <p:sp>
            <p:nvSpPr>
              <p:cNvPr id="9" name="Freeform 9"/>
              <p:cNvSpPr/>
              <p:nvPr/>
            </p:nvSpPr>
            <p:spPr>
              <a:xfrm>
                <a:off x="1497013" y="2226469"/>
                <a:ext cx="36513" cy="219075"/>
              </a:xfrm>
              <a:custGeom>
                <a:avLst/>
                <a:gdLst/>
                <a:ahLst/>
                <a:cxnLst/>
                <a:rect l="l" t="t" r="r" b="b"/>
                <a:pathLst>
                  <a:path w="36513" h="219075">
                    <a:moveTo>
                      <a:pt x="36513" y="0"/>
                    </a:moveTo>
                    <a:cubicBezTo>
                      <a:pt x="12177" y="6079"/>
                      <a:pt x="0" y="42592"/>
                      <a:pt x="0" y="109538"/>
                    </a:cubicBezTo>
                    <a:cubicBezTo>
                      <a:pt x="0" y="176483"/>
                      <a:pt x="12177" y="212996"/>
                      <a:pt x="36513" y="219075"/>
                    </a:cubicBezTo>
                  </a:path>
                </a:pathLst>
              </a:custGeom>
              <a:noFill/>
              <a:ln w="36513">
                <a:solidFill>
                  <a:schemeClr val="accent2"/>
                </a:solidFill>
              </a:ln>
            </p:spPr>
          </p:sp>
          <p:sp>
            <p:nvSpPr>
              <p:cNvPr id="10" name="Freeform 10"/>
              <p:cNvSpPr/>
              <p:nvPr/>
            </p:nvSpPr>
            <p:spPr>
              <a:xfrm>
                <a:off x="1423988" y="2336007"/>
                <a:ext cx="219075" cy="9525"/>
              </a:xfrm>
              <a:custGeom>
                <a:avLst/>
                <a:gdLst/>
                <a:ahLst/>
                <a:cxnLst/>
                <a:rect l="l" t="t" r="r" b="b"/>
                <a:pathLst>
                  <a:path w="219075" h="9525">
                    <a:moveTo>
                      <a:pt x="0" y="0"/>
                    </a:moveTo>
                    <a:lnTo>
                      <a:pt x="219075" y="0"/>
                    </a:lnTo>
                  </a:path>
                </a:pathLst>
              </a:custGeom>
              <a:noFill/>
              <a:ln w="36513">
                <a:solidFill>
                  <a:schemeClr val="accent2"/>
                </a:solidFill>
              </a:ln>
            </p:spPr>
          </p:sp>
          <p:sp>
            <p:nvSpPr>
              <p:cNvPr id="11" name="Freeform 11"/>
              <p:cNvSpPr/>
              <p:nvPr/>
            </p:nvSpPr>
            <p:spPr>
              <a:xfrm>
                <a:off x="1369219" y="2536826"/>
                <a:ext cx="127794" cy="9525"/>
              </a:xfrm>
              <a:custGeom>
                <a:avLst/>
                <a:gdLst/>
                <a:ahLst/>
                <a:cxnLst/>
                <a:rect l="l" t="t" r="r" b="b"/>
                <a:pathLst>
                  <a:path w="127794" h="9525">
                    <a:moveTo>
                      <a:pt x="0" y="0"/>
                    </a:moveTo>
                    <a:lnTo>
                      <a:pt x="127794" y="0"/>
                    </a:lnTo>
                  </a:path>
                </a:pathLst>
              </a:custGeom>
              <a:noFill/>
              <a:ln w="36513">
                <a:solidFill>
                  <a:schemeClr val="accent2"/>
                </a:solidFill>
              </a:ln>
            </p:spPr>
          </p:sp>
          <p:sp>
            <p:nvSpPr>
              <p:cNvPr id="12" name="Freeform 12"/>
              <p:cNvSpPr/>
              <p:nvPr/>
            </p:nvSpPr>
            <p:spPr>
              <a:xfrm>
                <a:off x="1570038" y="2536826"/>
                <a:ext cx="127794" cy="9525"/>
              </a:xfrm>
              <a:custGeom>
                <a:avLst/>
                <a:gdLst/>
                <a:ahLst/>
                <a:cxnLst/>
                <a:rect l="l" t="t" r="r" b="b"/>
                <a:pathLst>
                  <a:path w="127794" h="9525">
                    <a:moveTo>
                      <a:pt x="0" y="0"/>
                    </a:moveTo>
                    <a:lnTo>
                      <a:pt x="127794" y="0"/>
                    </a:lnTo>
                  </a:path>
                </a:pathLst>
              </a:custGeom>
              <a:noFill/>
              <a:ln w="36513">
                <a:solidFill>
                  <a:schemeClr val="accent2"/>
                </a:solidFill>
              </a:ln>
            </p:spPr>
          </p:sp>
          <p:sp>
            <p:nvSpPr>
              <p:cNvPr id="13" name="Freeform 13"/>
              <p:cNvSpPr/>
              <p:nvPr/>
            </p:nvSpPr>
            <p:spPr>
              <a:xfrm>
                <a:off x="1497013" y="2500313"/>
                <a:ext cx="73025" cy="73025"/>
              </a:xfrm>
              <a:custGeom>
                <a:avLst/>
                <a:gdLst/>
                <a:ahLst/>
                <a:cxnLst/>
                <a:rect l="l" t="t" r="r" b="b"/>
                <a:pathLst>
                  <a:path w="73025" h="73025">
                    <a:moveTo>
                      <a:pt x="0" y="36513"/>
                    </a:moveTo>
                    <a:cubicBezTo>
                      <a:pt x="0" y="56678"/>
                      <a:pt x="16347" y="73025"/>
                      <a:pt x="36513" y="73025"/>
                    </a:cubicBezTo>
                    <a:cubicBezTo>
                      <a:pt x="56678" y="73025"/>
                      <a:pt x="73025" y="56678"/>
                      <a:pt x="73025" y="36513"/>
                    </a:cubicBezTo>
                    <a:cubicBezTo>
                      <a:pt x="73025" y="16347"/>
                      <a:pt x="56678" y="0"/>
                      <a:pt x="36513" y="0"/>
                    </a:cubicBezTo>
                    <a:cubicBezTo>
                      <a:pt x="16347" y="0"/>
                      <a:pt x="0" y="16347"/>
                      <a:pt x="0" y="36513"/>
                    </a:cubicBezTo>
                  </a:path>
                </a:pathLst>
              </a:custGeom>
              <a:noFill/>
              <a:ln w="36513">
                <a:solidFill>
                  <a:schemeClr val="accent2"/>
                </a:solidFill>
              </a:ln>
            </p:spPr>
          </p:sp>
          <p:sp>
            <p:nvSpPr>
              <p:cNvPr id="14" name="Freeform 14"/>
              <p:cNvSpPr/>
              <p:nvPr/>
            </p:nvSpPr>
            <p:spPr>
              <a:xfrm>
                <a:off x="1533525" y="2445544"/>
                <a:ext cx="9525" cy="54769"/>
              </a:xfrm>
              <a:custGeom>
                <a:avLst/>
                <a:gdLst/>
                <a:ahLst/>
                <a:cxnLst/>
                <a:rect l="l" t="t" r="r" b="b"/>
                <a:pathLst>
                  <a:path w="9525" h="54769">
                    <a:moveTo>
                      <a:pt x="0" y="0"/>
                    </a:moveTo>
                    <a:lnTo>
                      <a:pt x="0" y="54769"/>
                    </a:lnTo>
                  </a:path>
                </a:pathLst>
              </a:custGeom>
              <a:noFill/>
              <a:ln w="36513">
                <a:solidFill>
                  <a:schemeClr val="accent2"/>
                </a:solidFill>
              </a:ln>
            </p:spPr>
          </p:sp>
        </p:grpSp>
        <p:sp>
          <p:nvSpPr>
            <p:cNvPr id="16" name="TextBox 16"/>
            <p:cNvSpPr txBox="1"/>
            <p:nvPr/>
          </p:nvSpPr>
          <p:spPr>
            <a:xfrm>
              <a:off x="1933194" y="2228850"/>
              <a:ext cx="3143296"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Encrypted traffic flow</a:t>
              </a:r>
            </a:p>
          </p:txBody>
        </p:sp>
        <p:sp>
          <p:nvSpPr>
            <p:cNvPr id="17" name="Line 17"/>
            <p:cNvSpPr/>
            <p:nvPr/>
          </p:nvSpPr>
          <p:spPr>
            <a:xfrm>
              <a:off x="2724150" y="2762250"/>
              <a:ext cx="1" cy="419100"/>
            </a:xfrm>
            <a:prstGeom prst="line">
              <a:avLst/>
            </a:prstGeom>
            <a:noFill/>
            <a:ln w="28575">
              <a:solidFill>
                <a:schemeClr val="accent2"/>
              </a:solidFill>
              <a:tailEnd type="triangle" w="lg" len="lg"/>
            </a:ln>
          </p:spPr>
        </p:sp>
        <p:sp>
          <p:nvSpPr>
            <p:cNvPr id="18" name="Rectangle 18"/>
            <p:cNvSpPr/>
            <p:nvPr/>
          </p:nvSpPr>
          <p:spPr>
            <a:xfrm>
              <a:off x="1352550" y="3276600"/>
              <a:ext cx="2743200" cy="723900"/>
            </a:xfrm>
            <a:prstGeom prst="roundRect">
              <a:avLst>
                <a:gd name="adj" fmla="val 10526"/>
              </a:avLst>
            </a:prstGeom>
            <a:solidFill>
              <a:schemeClr val="lt2"/>
            </a:solidFill>
            <a:ln>
              <a:noFill/>
            </a:ln>
          </p:spPr>
        </p:sp>
        <p:sp>
          <p:nvSpPr>
            <p:cNvPr id="19" name="TextBox 19"/>
            <p:cNvSpPr txBox="1"/>
            <p:nvPr/>
          </p:nvSpPr>
          <p:spPr>
            <a:xfrm>
              <a:off x="1574292" y="3419475"/>
              <a:ext cx="70500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LAYER 1</a:t>
              </a:r>
            </a:p>
          </p:txBody>
        </p:sp>
        <p:sp>
          <p:nvSpPr>
            <p:cNvPr id="20" name="TextBox 20"/>
            <p:cNvSpPr txBox="1"/>
            <p:nvPr/>
          </p:nvSpPr>
          <p:spPr>
            <a:xfrm>
              <a:off x="1572006" y="3641725"/>
              <a:ext cx="1887903"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DoH vs non-DoH</a:t>
              </a:r>
            </a:p>
          </p:txBody>
        </p:sp>
        <p:sp>
          <p:nvSpPr>
            <p:cNvPr id="21" name="Line 21"/>
            <p:cNvSpPr/>
            <p:nvPr/>
          </p:nvSpPr>
          <p:spPr>
            <a:xfrm>
              <a:off x="4095750" y="3638550"/>
              <a:ext cx="552450" cy="1"/>
            </a:xfrm>
            <a:prstGeom prst="line">
              <a:avLst/>
            </a:prstGeom>
            <a:noFill/>
            <a:ln w="28575">
              <a:solidFill>
                <a:schemeClr val="accent2"/>
              </a:solidFill>
              <a:tailEnd type="triangle" w="lg" len="lg"/>
            </a:ln>
          </p:spPr>
        </p:sp>
        <p:sp>
          <p:nvSpPr>
            <p:cNvPr id="22" name="Rectangle 22"/>
            <p:cNvSpPr/>
            <p:nvPr/>
          </p:nvSpPr>
          <p:spPr>
            <a:xfrm>
              <a:off x="4762500" y="3276600"/>
              <a:ext cx="1866900" cy="723900"/>
            </a:xfrm>
            <a:prstGeom prst="roundRect">
              <a:avLst>
                <a:gd name="adj" fmla="val 10526"/>
              </a:avLst>
            </a:prstGeom>
            <a:solidFill>
              <a:srgbClr val="DDF4F2"/>
            </a:solidFill>
            <a:ln>
              <a:noFill/>
            </a:ln>
          </p:spPr>
        </p:sp>
        <p:sp>
          <p:nvSpPr>
            <p:cNvPr id="23" name="TextBox 23"/>
            <p:cNvSpPr txBox="1"/>
            <p:nvPr/>
          </p:nvSpPr>
          <p:spPr>
            <a:xfrm>
              <a:off x="4965192" y="3419475"/>
              <a:ext cx="829818"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mn-lt"/>
                  <a:ea typeface="+mn-ea"/>
                  <a:cs typeface="+mn-cs"/>
                </a:rPr>
                <a:t>NON-DOH</a:t>
              </a:r>
            </a:p>
          </p:txBody>
        </p:sp>
        <p:sp>
          <p:nvSpPr>
            <p:cNvPr id="24" name="TextBox 24"/>
            <p:cNvSpPr txBox="1"/>
            <p:nvPr/>
          </p:nvSpPr>
          <p:spPr>
            <a:xfrm>
              <a:off x="4964430" y="3679825"/>
              <a:ext cx="46577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Stop</a:t>
              </a:r>
            </a:p>
          </p:txBody>
        </p:sp>
        <p:sp>
          <p:nvSpPr>
            <p:cNvPr id="25" name="Line 25"/>
            <p:cNvSpPr/>
            <p:nvPr/>
          </p:nvSpPr>
          <p:spPr>
            <a:xfrm>
              <a:off x="2724150" y="4000500"/>
              <a:ext cx="1" cy="419100"/>
            </a:xfrm>
            <a:prstGeom prst="line">
              <a:avLst/>
            </a:prstGeom>
            <a:noFill/>
            <a:ln w="28575">
              <a:solidFill>
                <a:schemeClr val="accent2"/>
              </a:solidFill>
              <a:tailEnd type="triangle" w="lg" len="lg"/>
            </a:ln>
          </p:spPr>
        </p:sp>
        <p:sp>
          <p:nvSpPr>
            <p:cNvPr id="26" name="Rectangle 26"/>
            <p:cNvSpPr/>
            <p:nvPr/>
          </p:nvSpPr>
          <p:spPr>
            <a:xfrm>
              <a:off x="1352550" y="4533900"/>
              <a:ext cx="2743200" cy="723900"/>
            </a:xfrm>
            <a:prstGeom prst="roundRect">
              <a:avLst>
                <a:gd name="adj" fmla="val 10526"/>
              </a:avLst>
            </a:prstGeom>
            <a:solidFill>
              <a:schemeClr val="accent1"/>
            </a:solidFill>
            <a:ln>
              <a:noFill/>
            </a:ln>
          </p:spPr>
        </p:sp>
        <p:sp>
          <p:nvSpPr>
            <p:cNvPr id="27" name="TextBox 27"/>
            <p:cNvSpPr txBox="1"/>
            <p:nvPr/>
          </p:nvSpPr>
          <p:spPr>
            <a:xfrm>
              <a:off x="1574292" y="4676775"/>
              <a:ext cx="705002" cy="264033"/>
            </a:xfrm>
            <a:prstGeom prst="rect">
              <a:avLst/>
            </a:prstGeom>
            <a:noFill/>
            <a:ln>
              <a:noFill/>
            </a:ln>
          </p:spPr>
          <p:txBody>
            <a:bodyPr wrap="none" lIns="0" tIns="0" rIns="0" bIns="0" anchor="t" anchorCtr="0">
              <a:spAutoFit/>
            </a:bodyPr>
            <a:lstStyle/>
            <a:p>
              <a:pPr algn="l"/>
              <a:r>
                <a:rPr lang="en-US" sz="1350" dirty="0">
                  <a:solidFill>
                    <a:srgbClr val="C9EAF0"/>
                  </a:solidFill>
                  <a:latin typeface="+mn-lt"/>
                  <a:ea typeface="+mn-ea"/>
                  <a:cs typeface="+mn-cs"/>
                </a:rPr>
                <a:t>LAYER 2</a:t>
              </a:r>
            </a:p>
          </p:txBody>
        </p:sp>
        <p:sp>
          <p:nvSpPr>
            <p:cNvPr id="28" name="TextBox 28"/>
            <p:cNvSpPr txBox="1"/>
            <p:nvPr/>
          </p:nvSpPr>
          <p:spPr>
            <a:xfrm>
              <a:off x="1572006" y="4899025"/>
              <a:ext cx="235409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Benign vs malicious</a:t>
              </a:r>
            </a:p>
          </p:txBody>
        </p:sp>
      </p:grpSp>
      <p:grpSp>
        <p:nvGrpSpPr>
          <p:cNvPr id="34" name="paper-figure"/>
          <p:cNvGrpSpPr/>
          <p:nvPr/>
        </p:nvGrpSpPr>
        <p:grpSpPr>
          <a:xfrm>
            <a:off x="7524750" y="1790700"/>
            <a:ext cx="3714750" cy="3638550"/>
            <a:chOff x="7524750" y="1790700"/>
            <a:chExt cx="3714750" cy="3638550"/>
          </a:xfrm>
        </p:grpSpPr>
        <p:sp>
          <p:nvSpPr>
            <p:cNvPr id="30" name="Rectangle 30"/>
            <p:cNvSpPr/>
            <p:nvPr/>
          </p:nvSpPr>
          <p:spPr>
            <a:xfrm>
              <a:off x="7524750" y="1790700"/>
              <a:ext cx="3714750" cy="3638550"/>
            </a:xfrm>
            <a:prstGeom prst="roundRect">
              <a:avLst>
                <a:gd name="adj" fmla="val 3141"/>
              </a:avLst>
            </a:prstGeom>
            <a:solidFill>
              <a:srgbClr val="FFFFFF"/>
            </a:solidFill>
            <a:ln w="19050">
              <a:solidFill>
                <a:schemeClr val="accent6"/>
              </a:solidFill>
            </a:ln>
          </p:spPr>
        </p:sp>
        <p:pic>
          <p:nvPicPr>
            <p:cNvPr id="31" name="Image 31"/>
            <p:cNvPicPr>
              <a:picLocks noChangeAspect="1"/>
            </p:cNvPicPr>
            <p:nvPr/>
          </p:nvPicPr>
          <p:blipFill>
            <a:blip r:embed="rId2"/>
            <a:stretch>
              <a:fillRect/>
            </a:stretch>
          </p:blipFill>
          <p:spPr>
            <a:xfrm>
              <a:off x="7837053" y="2038350"/>
              <a:ext cx="3090144" cy="2705100"/>
            </a:xfrm>
            <a:prstGeom prst="rect">
              <a:avLst/>
            </a:prstGeom>
          </p:spPr>
        </p:pic>
        <p:sp>
          <p:nvSpPr>
            <p:cNvPr id="32" name="TextBox 32"/>
            <p:cNvSpPr txBox="1"/>
            <p:nvPr/>
          </p:nvSpPr>
          <p:spPr>
            <a:xfrm>
              <a:off x="7746492" y="4905375"/>
              <a:ext cx="2605233"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Original paper architecture</a:t>
              </a:r>
            </a:p>
          </p:txBody>
        </p:sp>
        <p:sp>
          <p:nvSpPr>
            <p:cNvPr id="33" name="TextBox 33"/>
            <p:cNvSpPr txBox="1"/>
            <p:nvPr/>
          </p:nvSpPr>
          <p:spPr>
            <a:xfrm>
              <a:off x="7748016" y="5178425"/>
              <a:ext cx="2199119"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Figure reproduced without crop</a:t>
              </a:r>
            </a:p>
          </p:txBody>
        </p:sp>
      </p:grpSp>
      <p:grpSp>
        <p:nvGrpSpPr>
          <p:cNvPr id="36" name="takeaway"/>
          <p:cNvGrpSpPr/>
          <p:nvPr/>
        </p:nvGrpSpPr>
        <p:grpSpPr>
          <a:xfrm>
            <a:off x="943356" y="5803900"/>
            <a:ext cx="9246201" cy="352044"/>
            <a:chOff x="943356" y="5803900"/>
            <a:chExt cx="9246201" cy="352044"/>
          </a:xfrm>
        </p:grpSpPr>
        <p:sp>
          <p:nvSpPr>
            <p:cNvPr id="35" name="TextBox 35"/>
            <p:cNvSpPr txBox="1"/>
            <p:nvPr/>
          </p:nvSpPr>
          <p:spPr>
            <a:xfrm>
              <a:off x="943356" y="5803900"/>
              <a:ext cx="9246201"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Each layer is evaluated independently across statistical and sequence models.</a:t>
              </a:r>
            </a:p>
          </p:txBody>
        </p:sp>
      </p:grpSp>
      <p:grpSp>
        <p:nvGrpSpPr>
          <p:cNvPr id="39" name="footer"/>
          <p:cNvGrpSpPr/>
          <p:nvPr/>
        </p:nvGrpSpPr>
        <p:grpSpPr>
          <a:xfrm>
            <a:off x="947166" y="6369050"/>
            <a:ext cx="10297668" cy="205359"/>
            <a:chOff x="947166" y="6369050"/>
            <a:chExt cx="10297668" cy="205359"/>
          </a:xfrm>
        </p:grpSpPr>
        <p:sp>
          <p:nvSpPr>
            <p:cNvPr id="37" name="TextBox 37"/>
            <p:cNvSpPr txBox="1"/>
            <p:nvPr/>
          </p:nvSpPr>
          <p:spPr>
            <a:xfrm>
              <a:off x="947166" y="6369050"/>
              <a:ext cx="3040207"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original paper, architecture figure</a:t>
              </a:r>
            </a:p>
          </p:txBody>
        </p:sp>
        <p:sp>
          <p:nvSpPr>
            <p:cNvPr id="38" name="TextBox 38"/>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36498" y="546100"/>
            <a:ext cx="10153977" cy="946277"/>
            <a:chOff x="936498" y="546100"/>
            <a:chExt cx="10153977" cy="946277"/>
          </a:xfrm>
        </p:grpSpPr>
        <p:sp>
          <p:nvSpPr>
            <p:cNvPr id="3" name="TextBox 3"/>
            <p:cNvSpPr txBox="1"/>
            <p:nvPr/>
          </p:nvSpPr>
          <p:spPr>
            <a:xfrm>
              <a:off x="946404" y="546100"/>
              <a:ext cx="1949501"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03 · CORE CONCEPT</a:t>
              </a:r>
            </a:p>
          </p:txBody>
        </p:sp>
        <p:sp>
          <p:nvSpPr>
            <p:cNvPr id="4" name="TextBox 4"/>
            <p:cNvSpPr txBox="1"/>
            <p:nvPr/>
          </p:nvSpPr>
          <p:spPr>
            <a:xfrm>
              <a:off x="936498" y="876300"/>
              <a:ext cx="10153977"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Packet clumps convert traffic into a sequence</a:t>
              </a:r>
            </a:p>
          </p:txBody>
        </p:sp>
      </p:grpSp>
      <p:grpSp>
        <p:nvGrpSpPr>
          <p:cNvPr id="24" name="packet-stream"/>
          <p:cNvGrpSpPr/>
          <p:nvPr/>
        </p:nvGrpSpPr>
        <p:grpSpPr>
          <a:xfrm>
            <a:off x="945642" y="1885950"/>
            <a:ext cx="9836658" cy="1288034"/>
            <a:chOff x="945642" y="1885950"/>
            <a:chExt cx="9836658" cy="1288034"/>
          </a:xfrm>
        </p:grpSpPr>
        <p:sp>
          <p:nvSpPr>
            <p:cNvPr id="6" name="TextBox 6"/>
            <p:cNvSpPr txBox="1"/>
            <p:nvPr/>
          </p:nvSpPr>
          <p:spPr>
            <a:xfrm>
              <a:off x="945642" y="1885950"/>
              <a:ext cx="1667043"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ORDERED PACKETS</a:t>
              </a:r>
            </a:p>
          </p:txBody>
        </p:sp>
        <p:sp>
          <p:nvSpPr>
            <p:cNvPr id="7" name="Line 7"/>
            <p:cNvSpPr/>
            <p:nvPr/>
          </p:nvSpPr>
          <p:spPr>
            <a:xfrm>
              <a:off x="1200150" y="2628900"/>
              <a:ext cx="9582150" cy="1"/>
            </a:xfrm>
            <a:prstGeom prst="line">
              <a:avLst/>
            </a:prstGeom>
            <a:noFill/>
            <a:ln w="28575">
              <a:solidFill>
                <a:schemeClr val="accent2"/>
              </a:solidFill>
              <a:tailEnd type="triangle" w="lg" len="lg"/>
            </a:ln>
          </p:spPr>
        </p:sp>
        <p:grpSp>
          <p:nvGrpSpPr>
            <p:cNvPr id="15" name="Group 15"/>
            <p:cNvGrpSpPr/>
            <p:nvPr/>
          </p:nvGrpSpPr>
          <p:grpSpPr>
            <a:xfrm>
              <a:off x="1447800" y="2333625"/>
              <a:ext cx="7086600" cy="590550"/>
              <a:chOff x="1447800" y="2333625"/>
              <a:chExt cx="7086600" cy="590550"/>
            </a:xfrm>
          </p:grpSpPr>
          <p:sp>
            <p:nvSpPr>
              <p:cNvPr id="8" name="Ellipse 8"/>
              <p:cNvSpPr/>
              <p:nvPr/>
            </p:nvSpPr>
            <p:spPr>
              <a:xfrm>
                <a:off x="1447800" y="2457450"/>
                <a:ext cx="342900" cy="342900"/>
              </a:xfrm>
              <a:prstGeom prst="ellipse">
                <a:avLst/>
              </a:prstGeom>
              <a:solidFill>
                <a:schemeClr val="accent2"/>
              </a:solidFill>
              <a:ln>
                <a:noFill/>
              </a:ln>
            </p:spPr>
          </p:sp>
          <p:sp>
            <p:nvSpPr>
              <p:cNvPr id="9" name="Ellipse 9"/>
              <p:cNvSpPr/>
              <p:nvPr/>
            </p:nvSpPr>
            <p:spPr>
              <a:xfrm>
                <a:off x="1943100" y="2381250"/>
                <a:ext cx="495300" cy="495300"/>
              </a:xfrm>
              <a:prstGeom prst="ellipse">
                <a:avLst/>
              </a:prstGeom>
              <a:solidFill>
                <a:schemeClr val="accent2"/>
              </a:solidFill>
              <a:ln>
                <a:noFill/>
              </a:ln>
            </p:spPr>
          </p:sp>
          <p:sp>
            <p:nvSpPr>
              <p:cNvPr id="10" name="Ellipse 10"/>
              <p:cNvSpPr/>
              <p:nvPr/>
            </p:nvSpPr>
            <p:spPr>
              <a:xfrm>
                <a:off x="2771775" y="2495550"/>
                <a:ext cx="266700" cy="266700"/>
              </a:xfrm>
              <a:prstGeom prst="ellipse">
                <a:avLst/>
              </a:prstGeom>
              <a:solidFill>
                <a:schemeClr val="accent2"/>
              </a:solidFill>
              <a:ln>
                <a:noFill/>
              </a:ln>
            </p:spPr>
          </p:sp>
          <p:sp>
            <p:nvSpPr>
              <p:cNvPr id="11" name="Ellipse 11"/>
              <p:cNvSpPr/>
              <p:nvPr/>
            </p:nvSpPr>
            <p:spPr>
              <a:xfrm>
                <a:off x="4038600" y="2333625"/>
                <a:ext cx="590550" cy="590550"/>
              </a:xfrm>
              <a:prstGeom prst="ellipse">
                <a:avLst/>
              </a:prstGeom>
              <a:solidFill>
                <a:schemeClr val="accent2"/>
              </a:solidFill>
              <a:ln>
                <a:noFill/>
              </a:ln>
            </p:spPr>
          </p:sp>
          <p:sp>
            <p:nvSpPr>
              <p:cNvPr id="12" name="Ellipse 12"/>
              <p:cNvSpPr/>
              <p:nvPr/>
            </p:nvSpPr>
            <p:spPr>
              <a:xfrm>
                <a:off x="4867275" y="2447925"/>
                <a:ext cx="361950" cy="361950"/>
              </a:xfrm>
              <a:prstGeom prst="ellipse">
                <a:avLst/>
              </a:prstGeom>
              <a:solidFill>
                <a:schemeClr val="accent2"/>
              </a:solidFill>
              <a:ln>
                <a:noFill/>
              </a:ln>
            </p:spPr>
          </p:sp>
          <p:sp>
            <p:nvSpPr>
              <p:cNvPr id="13" name="Ellipse 13"/>
              <p:cNvSpPr/>
              <p:nvPr/>
            </p:nvSpPr>
            <p:spPr>
              <a:xfrm>
                <a:off x="7448550" y="2362200"/>
                <a:ext cx="533400" cy="533400"/>
              </a:xfrm>
              <a:prstGeom prst="ellipse">
                <a:avLst/>
              </a:prstGeom>
              <a:solidFill>
                <a:schemeClr val="accent2"/>
              </a:solidFill>
              <a:ln>
                <a:noFill/>
              </a:ln>
            </p:spPr>
          </p:sp>
          <p:sp>
            <p:nvSpPr>
              <p:cNvPr id="14" name="Ellipse 14"/>
              <p:cNvSpPr/>
              <p:nvPr/>
            </p:nvSpPr>
            <p:spPr>
              <a:xfrm>
                <a:off x="8229600" y="2476500"/>
                <a:ext cx="304800" cy="304800"/>
              </a:xfrm>
              <a:prstGeom prst="ellipse">
                <a:avLst/>
              </a:prstGeom>
              <a:solidFill>
                <a:schemeClr val="accent2"/>
              </a:solidFill>
              <a:ln>
                <a:noFill/>
              </a:ln>
            </p:spPr>
          </p:sp>
        </p:grpSp>
        <p:grpSp>
          <p:nvGrpSpPr>
            <p:cNvPr id="21" name="Group 21"/>
            <p:cNvGrpSpPr/>
            <p:nvPr/>
          </p:nvGrpSpPr>
          <p:grpSpPr>
            <a:xfrm>
              <a:off x="3390900" y="2333625"/>
              <a:ext cx="6905625" cy="590550"/>
              <a:chOff x="3390900" y="2333625"/>
              <a:chExt cx="6905625" cy="590550"/>
            </a:xfrm>
          </p:grpSpPr>
          <p:sp>
            <p:nvSpPr>
              <p:cNvPr id="16" name="Ellipse 16"/>
              <p:cNvSpPr/>
              <p:nvPr/>
            </p:nvSpPr>
            <p:spPr>
              <a:xfrm>
                <a:off x="3390900" y="2419350"/>
                <a:ext cx="419100" cy="419100"/>
              </a:xfrm>
              <a:prstGeom prst="ellipse">
                <a:avLst/>
              </a:prstGeom>
              <a:solidFill>
                <a:schemeClr val="accent3"/>
              </a:solidFill>
              <a:ln>
                <a:noFill/>
              </a:ln>
            </p:spPr>
          </p:sp>
          <p:sp>
            <p:nvSpPr>
              <p:cNvPr id="17" name="Ellipse 17"/>
              <p:cNvSpPr/>
              <p:nvPr/>
            </p:nvSpPr>
            <p:spPr>
              <a:xfrm>
                <a:off x="5619750" y="2343150"/>
                <a:ext cx="571500" cy="571500"/>
              </a:xfrm>
              <a:prstGeom prst="ellipse">
                <a:avLst/>
              </a:prstGeom>
              <a:solidFill>
                <a:schemeClr val="accent3"/>
              </a:solidFill>
              <a:ln>
                <a:noFill/>
              </a:ln>
            </p:spPr>
          </p:sp>
          <p:sp>
            <p:nvSpPr>
              <p:cNvPr id="18" name="Ellipse 18"/>
              <p:cNvSpPr/>
              <p:nvPr/>
            </p:nvSpPr>
            <p:spPr>
              <a:xfrm>
                <a:off x="6505575" y="2466975"/>
                <a:ext cx="323850" cy="323850"/>
              </a:xfrm>
              <a:prstGeom prst="ellipse">
                <a:avLst/>
              </a:prstGeom>
              <a:solidFill>
                <a:schemeClr val="accent3"/>
              </a:solidFill>
              <a:ln>
                <a:noFill/>
              </a:ln>
            </p:spPr>
          </p:sp>
          <p:sp>
            <p:nvSpPr>
              <p:cNvPr id="19" name="Ellipse 19"/>
              <p:cNvSpPr/>
              <p:nvPr/>
            </p:nvSpPr>
            <p:spPr>
              <a:xfrm>
                <a:off x="9048750" y="2400300"/>
                <a:ext cx="457200" cy="457200"/>
              </a:xfrm>
              <a:prstGeom prst="ellipse">
                <a:avLst/>
              </a:prstGeom>
              <a:solidFill>
                <a:schemeClr val="accent3"/>
              </a:solidFill>
              <a:ln>
                <a:noFill/>
              </a:ln>
            </p:spPr>
          </p:sp>
          <p:sp>
            <p:nvSpPr>
              <p:cNvPr id="20" name="Ellipse 20"/>
              <p:cNvSpPr/>
              <p:nvPr/>
            </p:nvSpPr>
            <p:spPr>
              <a:xfrm>
                <a:off x="9705975" y="2333625"/>
                <a:ext cx="590550" cy="590550"/>
              </a:xfrm>
              <a:prstGeom prst="ellipse">
                <a:avLst/>
              </a:prstGeom>
              <a:solidFill>
                <a:schemeClr val="accent3"/>
              </a:solidFill>
              <a:ln>
                <a:noFill/>
              </a:ln>
            </p:spPr>
          </p:sp>
        </p:grpSp>
        <p:sp>
          <p:nvSpPr>
            <p:cNvPr id="22" name="TextBox 22"/>
            <p:cNvSpPr txBox="1"/>
            <p:nvPr/>
          </p:nvSpPr>
          <p:spPr>
            <a:xfrm>
              <a:off x="1480566" y="2968625"/>
              <a:ext cx="1155611" cy="205359"/>
            </a:xfrm>
            <a:prstGeom prst="rect">
              <a:avLst/>
            </a:prstGeom>
            <a:noFill/>
            <a:ln>
              <a:noFill/>
            </a:ln>
          </p:spPr>
          <p:txBody>
            <a:bodyPr wrap="none" lIns="0" tIns="0" rIns="0" bIns="0" anchor="t" anchorCtr="0">
              <a:spAutoFit/>
            </a:bodyPr>
            <a:lstStyle/>
            <a:p>
              <a:pPr algn="l"/>
              <a:r>
                <a:rPr lang="en-US" sz="1050" dirty="0">
                  <a:solidFill>
                    <a:schemeClr val="accent2"/>
                  </a:solidFill>
                  <a:latin typeface="+mn-lt"/>
                  <a:ea typeface="+mn-ea"/>
                  <a:cs typeface="+mn-cs"/>
                </a:rPr>
                <a:t>client → resolver</a:t>
              </a:r>
            </a:p>
          </p:txBody>
        </p:sp>
        <p:sp>
          <p:nvSpPr>
            <p:cNvPr id="23" name="TextBox 23"/>
            <p:cNvSpPr txBox="1"/>
            <p:nvPr/>
          </p:nvSpPr>
          <p:spPr>
            <a:xfrm>
              <a:off x="8852916" y="2968625"/>
              <a:ext cx="1155611" cy="205359"/>
            </a:xfrm>
            <a:prstGeom prst="rect">
              <a:avLst/>
            </a:prstGeom>
            <a:noFill/>
            <a:ln>
              <a:noFill/>
            </a:ln>
          </p:spPr>
          <p:txBody>
            <a:bodyPr wrap="none" lIns="0" tIns="0" rIns="0" bIns="0" anchor="t" anchorCtr="0">
              <a:spAutoFit/>
            </a:bodyPr>
            <a:lstStyle/>
            <a:p>
              <a:pPr algn="l"/>
              <a:r>
                <a:rPr lang="en-US" sz="1050" dirty="0">
                  <a:solidFill>
                    <a:schemeClr val="accent3"/>
                  </a:solidFill>
                  <a:latin typeface="+mn-lt"/>
                  <a:ea typeface="+mn-ea"/>
                  <a:cs typeface="+mn-cs"/>
                </a:rPr>
                <a:t>resolver → client</a:t>
              </a:r>
            </a:p>
          </p:txBody>
        </p:sp>
      </p:grpSp>
      <p:grpSp>
        <p:nvGrpSpPr>
          <p:cNvPr id="30" name="clump-rule"/>
          <p:cNvGrpSpPr/>
          <p:nvPr/>
        </p:nvGrpSpPr>
        <p:grpSpPr>
          <a:xfrm>
            <a:off x="952500" y="3429000"/>
            <a:ext cx="4857750" cy="2114550"/>
            <a:chOff x="952500" y="3429000"/>
            <a:chExt cx="4857750" cy="2114550"/>
          </a:xfrm>
        </p:grpSpPr>
        <p:sp>
          <p:nvSpPr>
            <p:cNvPr id="25" name="Rectangle 25"/>
            <p:cNvSpPr/>
            <p:nvPr/>
          </p:nvSpPr>
          <p:spPr>
            <a:xfrm>
              <a:off x="952500" y="3429000"/>
              <a:ext cx="4857750" cy="2114550"/>
            </a:xfrm>
            <a:prstGeom prst="roundRect">
              <a:avLst>
                <a:gd name="adj" fmla="val 4505"/>
              </a:avLst>
            </a:prstGeom>
            <a:solidFill>
              <a:srgbClr val="FFFFFF"/>
            </a:solidFill>
            <a:ln w="19050">
              <a:solidFill>
                <a:schemeClr val="accent6"/>
              </a:solidFill>
            </a:ln>
          </p:spPr>
        </p:sp>
        <p:sp>
          <p:nvSpPr>
            <p:cNvPr id="26" name="TextBox 26"/>
            <p:cNvSpPr txBox="1"/>
            <p:nvPr/>
          </p:nvSpPr>
          <p:spPr>
            <a:xfrm>
              <a:off x="1248156" y="3651250"/>
              <a:ext cx="4453754"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A clump groups consecutive packets</a:t>
              </a:r>
            </a:p>
          </p:txBody>
        </p:sp>
        <p:sp>
          <p:nvSpPr>
            <p:cNvPr id="27" name="TextBox 27"/>
            <p:cNvSpPr txBox="1"/>
            <p:nvPr/>
          </p:nvSpPr>
          <p:spPr>
            <a:xfrm>
              <a:off x="1249680" y="4117975"/>
              <a:ext cx="443750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same direction · bounded by direction change</a:t>
              </a:r>
            </a:p>
          </p:txBody>
        </p:sp>
        <p:sp>
          <p:nvSpPr>
            <p:cNvPr id="28" name="TextBox 28"/>
            <p:cNvSpPr txBox="1"/>
            <p:nvPr/>
          </p:nvSpPr>
          <p:spPr>
            <a:xfrm>
              <a:off x="1248918" y="4597400"/>
              <a:ext cx="4048296"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Consolas"/>
                  <a:ea typeface="Consolas"/>
                  <a:cs typeface="Consolas"/>
                </a:rPr>
                <a:t>cᵢ = (direction, lengths, timing)</a:t>
              </a:r>
            </a:p>
          </p:txBody>
        </p:sp>
        <p:sp>
          <p:nvSpPr>
            <p:cNvPr id="29" name="TextBox 29"/>
            <p:cNvSpPr txBox="1"/>
            <p:nvPr/>
          </p:nvSpPr>
          <p:spPr>
            <a:xfrm>
              <a:off x="1250442" y="5067300"/>
              <a:ext cx="392458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The first N clumps define the model window.</a:t>
              </a:r>
            </a:p>
          </p:txBody>
        </p:sp>
      </p:grpSp>
      <p:grpSp>
        <p:nvGrpSpPr>
          <p:cNvPr id="42" name="sequence-model"/>
          <p:cNvGrpSpPr/>
          <p:nvPr/>
        </p:nvGrpSpPr>
        <p:grpSpPr>
          <a:xfrm>
            <a:off x="6191250" y="3429000"/>
            <a:ext cx="5048250" cy="2114550"/>
            <a:chOff x="6191250" y="3429000"/>
            <a:chExt cx="5048250" cy="2114550"/>
          </a:xfrm>
        </p:grpSpPr>
        <p:sp>
          <p:nvSpPr>
            <p:cNvPr id="31" name="Rectangle 31"/>
            <p:cNvSpPr/>
            <p:nvPr/>
          </p:nvSpPr>
          <p:spPr>
            <a:xfrm>
              <a:off x="6191250" y="3429000"/>
              <a:ext cx="5048250" cy="2114550"/>
            </a:xfrm>
            <a:prstGeom prst="roundRect">
              <a:avLst>
                <a:gd name="adj" fmla="val 4505"/>
              </a:avLst>
            </a:prstGeom>
            <a:solidFill>
              <a:schemeClr val="accent1"/>
            </a:solidFill>
            <a:ln>
              <a:noFill/>
            </a:ln>
          </p:spPr>
        </p:sp>
        <p:grpSp>
          <p:nvGrpSpPr>
            <p:cNvPr id="38" name="Group 38"/>
            <p:cNvGrpSpPr/>
            <p:nvPr/>
          </p:nvGrpSpPr>
          <p:grpSpPr>
            <a:xfrm>
              <a:off x="6596063" y="3871913"/>
              <a:ext cx="371475" cy="371475"/>
              <a:chOff x="6596063" y="3871913"/>
              <a:chExt cx="371475" cy="371475"/>
            </a:xfrm>
          </p:grpSpPr>
          <p:sp>
            <p:nvSpPr>
              <p:cNvPr id="32" name="Freeform 32"/>
              <p:cNvSpPr/>
              <p:nvPr/>
            </p:nvSpPr>
            <p:spPr>
              <a:xfrm>
                <a:off x="6781800" y="4078288"/>
                <a:ext cx="144463" cy="165100"/>
              </a:xfrm>
              <a:custGeom>
                <a:avLst/>
                <a:gdLst/>
                <a:ahLst/>
                <a:cxnLst/>
                <a:rect l="l" t="t" r="r" b="b"/>
                <a:pathLst>
                  <a:path w="144463" h="165100">
                    <a:moveTo>
                      <a:pt x="72231" y="0"/>
                    </a:moveTo>
                    <a:cubicBezTo>
                      <a:pt x="32339" y="0"/>
                      <a:pt x="0" y="32339"/>
                      <a:pt x="0" y="72231"/>
                    </a:cubicBezTo>
                    <a:lnTo>
                      <a:pt x="0" y="92869"/>
                    </a:lnTo>
                    <a:cubicBezTo>
                      <a:pt x="0" y="132761"/>
                      <a:pt x="32339" y="165100"/>
                      <a:pt x="72231" y="165100"/>
                    </a:cubicBezTo>
                    <a:cubicBezTo>
                      <a:pt x="112124" y="165100"/>
                      <a:pt x="144463" y="132761"/>
                      <a:pt x="144463" y="92869"/>
                    </a:cubicBezTo>
                    <a:lnTo>
                      <a:pt x="144463" y="55721"/>
                    </a:lnTo>
                  </a:path>
                </a:pathLst>
              </a:custGeom>
              <a:noFill/>
              <a:ln w="41275">
                <a:solidFill>
                  <a:srgbClr val="FFFFFF"/>
                </a:solidFill>
              </a:ln>
            </p:spPr>
          </p:sp>
          <p:sp>
            <p:nvSpPr>
              <p:cNvPr id="33" name="Freeform 33"/>
              <p:cNvSpPr/>
              <p:nvPr/>
            </p:nvSpPr>
            <p:spPr>
              <a:xfrm>
                <a:off x="6637338" y="4078288"/>
                <a:ext cx="144463" cy="165100"/>
              </a:xfrm>
              <a:custGeom>
                <a:avLst/>
                <a:gdLst/>
                <a:ahLst/>
                <a:cxnLst/>
                <a:rect l="l" t="t" r="r" b="b"/>
                <a:pathLst>
                  <a:path w="144463" h="165100">
                    <a:moveTo>
                      <a:pt x="72231" y="0"/>
                    </a:moveTo>
                    <a:cubicBezTo>
                      <a:pt x="112124" y="0"/>
                      <a:pt x="144463" y="32339"/>
                      <a:pt x="144463" y="72231"/>
                    </a:cubicBezTo>
                    <a:lnTo>
                      <a:pt x="144463" y="92869"/>
                    </a:lnTo>
                    <a:cubicBezTo>
                      <a:pt x="144463" y="132761"/>
                      <a:pt x="112124" y="165100"/>
                      <a:pt x="72231" y="165100"/>
                    </a:cubicBezTo>
                    <a:cubicBezTo>
                      <a:pt x="32339" y="165100"/>
                      <a:pt x="0" y="132761"/>
                      <a:pt x="0" y="92869"/>
                    </a:cubicBezTo>
                    <a:lnTo>
                      <a:pt x="0" y="55721"/>
                    </a:lnTo>
                  </a:path>
                </a:pathLst>
              </a:custGeom>
              <a:noFill/>
              <a:ln w="41275">
                <a:solidFill>
                  <a:srgbClr val="FFFFFF"/>
                </a:solidFill>
              </a:ln>
            </p:spPr>
          </p:sp>
          <p:sp>
            <p:nvSpPr>
              <p:cNvPr id="34" name="Freeform 34"/>
              <p:cNvSpPr/>
              <p:nvPr/>
            </p:nvSpPr>
            <p:spPr>
              <a:xfrm>
                <a:off x="6884988" y="3995738"/>
                <a:ext cx="82550" cy="144463"/>
              </a:xfrm>
              <a:custGeom>
                <a:avLst/>
                <a:gdLst/>
                <a:ahLst/>
                <a:cxnLst/>
                <a:rect l="l" t="t" r="r" b="b"/>
                <a:pathLst>
                  <a:path w="82550" h="144463">
                    <a:moveTo>
                      <a:pt x="10319" y="144463"/>
                    </a:moveTo>
                    <a:cubicBezTo>
                      <a:pt x="50211" y="144463"/>
                      <a:pt x="82550" y="112124"/>
                      <a:pt x="82550" y="72231"/>
                    </a:cubicBezTo>
                    <a:cubicBezTo>
                      <a:pt x="82550" y="32339"/>
                      <a:pt x="50211" y="0"/>
                      <a:pt x="10319" y="0"/>
                    </a:cubicBezTo>
                    <a:lnTo>
                      <a:pt x="0" y="0"/>
                    </a:lnTo>
                  </a:path>
                </a:pathLst>
              </a:custGeom>
              <a:noFill/>
              <a:ln w="41275">
                <a:solidFill>
                  <a:srgbClr val="FFFFFF"/>
                </a:solidFill>
              </a:ln>
            </p:spPr>
          </p:sp>
          <p:sp>
            <p:nvSpPr>
              <p:cNvPr id="35" name="Freeform 35"/>
              <p:cNvSpPr/>
              <p:nvPr/>
            </p:nvSpPr>
            <p:spPr>
              <a:xfrm>
                <a:off x="6781800" y="3871913"/>
                <a:ext cx="144463" cy="130016"/>
              </a:xfrm>
              <a:custGeom>
                <a:avLst/>
                <a:gdLst/>
                <a:ahLst/>
                <a:cxnLst/>
                <a:rect l="l" t="t" r="r" b="b"/>
                <a:pathLst>
                  <a:path w="144463" h="130016">
                    <a:moveTo>
                      <a:pt x="144463" y="130016"/>
                    </a:moveTo>
                    <a:lnTo>
                      <a:pt x="144463" y="72231"/>
                    </a:lnTo>
                    <a:cubicBezTo>
                      <a:pt x="144463" y="32339"/>
                      <a:pt x="112124" y="0"/>
                      <a:pt x="72231" y="0"/>
                    </a:cubicBezTo>
                    <a:cubicBezTo>
                      <a:pt x="32339" y="0"/>
                      <a:pt x="0" y="32339"/>
                      <a:pt x="0" y="72231"/>
                    </a:cubicBezTo>
                  </a:path>
                </a:pathLst>
              </a:custGeom>
              <a:noFill/>
              <a:ln w="41275">
                <a:solidFill>
                  <a:srgbClr val="FFFFFF"/>
                </a:solidFill>
              </a:ln>
            </p:spPr>
          </p:sp>
          <p:sp>
            <p:nvSpPr>
              <p:cNvPr id="36" name="Freeform 36"/>
              <p:cNvSpPr/>
              <p:nvPr/>
            </p:nvSpPr>
            <p:spPr>
              <a:xfrm>
                <a:off x="6596063" y="3995738"/>
                <a:ext cx="82550" cy="144463"/>
              </a:xfrm>
              <a:custGeom>
                <a:avLst/>
                <a:gdLst/>
                <a:ahLst/>
                <a:cxnLst/>
                <a:rect l="l" t="t" r="r" b="b"/>
                <a:pathLst>
                  <a:path w="82550" h="144463">
                    <a:moveTo>
                      <a:pt x="72231" y="144463"/>
                    </a:moveTo>
                    <a:cubicBezTo>
                      <a:pt x="32339" y="144463"/>
                      <a:pt x="0" y="112124"/>
                      <a:pt x="0" y="72231"/>
                    </a:cubicBezTo>
                    <a:cubicBezTo>
                      <a:pt x="0" y="32339"/>
                      <a:pt x="32339" y="0"/>
                      <a:pt x="72231" y="0"/>
                    </a:cubicBezTo>
                    <a:lnTo>
                      <a:pt x="82550" y="0"/>
                    </a:lnTo>
                  </a:path>
                </a:pathLst>
              </a:custGeom>
              <a:noFill/>
              <a:ln w="41275">
                <a:solidFill>
                  <a:srgbClr val="FFFFFF"/>
                </a:solidFill>
              </a:ln>
            </p:spPr>
          </p:sp>
          <p:sp>
            <p:nvSpPr>
              <p:cNvPr id="37" name="Freeform 37"/>
              <p:cNvSpPr/>
              <p:nvPr/>
            </p:nvSpPr>
            <p:spPr>
              <a:xfrm>
                <a:off x="6637338" y="3871913"/>
                <a:ext cx="144463" cy="278607"/>
              </a:xfrm>
              <a:custGeom>
                <a:avLst/>
                <a:gdLst/>
                <a:ahLst/>
                <a:cxnLst/>
                <a:rect l="l" t="t" r="r" b="b"/>
                <a:pathLst>
                  <a:path w="144463" h="278607">
                    <a:moveTo>
                      <a:pt x="0" y="130016"/>
                    </a:moveTo>
                    <a:lnTo>
                      <a:pt x="0" y="72231"/>
                    </a:lnTo>
                    <a:cubicBezTo>
                      <a:pt x="0" y="32339"/>
                      <a:pt x="32339" y="0"/>
                      <a:pt x="72231" y="0"/>
                    </a:cubicBezTo>
                    <a:cubicBezTo>
                      <a:pt x="112124" y="0"/>
                      <a:pt x="144463" y="32339"/>
                      <a:pt x="144463" y="72231"/>
                    </a:cubicBezTo>
                    <a:lnTo>
                      <a:pt x="144463" y="278607"/>
                    </a:lnTo>
                  </a:path>
                </a:pathLst>
              </a:custGeom>
              <a:noFill/>
              <a:ln w="41275">
                <a:solidFill>
                  <a:srgbClr val="FFFFFF"/>
                </a:solidFill>
              </a:ln>
            </p:spPr>
          </p:sp>
        </p:grpSp>
        <p:sp>
          <p:nvSpPr>
            <p:cNvPr id="39" name="TextBox 39"/>
            <p:cNvSpPr txBox="1"/>
            <p:nvPr/>
          </p:nvSpPr>
          <p:spPr>
            <a:xfrm>
              <a:off x="7247382" y="3816350"/>
              <a:ext cx="2227495" cy="410718"/>
            </a:xfrm>
            <a:prstGeom prst="rect">
              <a:avLst/>
            </a:prstGeom>
            <a:noFill/>
            <a:ln>
              <a:noFill/>
            </a:ln>
          </p:spPr>
          <p:txBody>
            <a:bodyPr wrap="none" lIns="0" tIns="0" rIns="0" bIns="0" anchor="t" anchorCtr="0">
              <a:spAutoFit/>
            </a:bodyPr>
            <a:lstStyle/>
            <a:p>
              <a:pPr algn="l"/>
              <a:r>
                <a:rPr lang="en-US" sz="2100" b="1" dirty="0">
                  <a:solidFill>
                    <a:srgbClr val="FFFFFF"/>
                  </a:solidFill>
                  <a:latin typeface="+mn-lt"/>
                  <a:ea typeface="+mn-ea"/>
                  <a:cs typeface="+mn-cs"/>
                </a:rPr>
                <a:t>Sequence model</a:t>
              </a:r>
            </a:p>
          </p:txBody>
        </p:sp>
        <p:sp>
          <p:nvSpPr>
            <p:cNvPr id="40" name="TextBox 40"/>
            <p:cNvSpPr txBox="1"/>
            <p:nvPr/>
          </p:nvSpPr>
          <p:spPr>
            <a:xfrm>
              <a:off x="6525006" y="4451350"/>
              <a:ext cx="3083585" cy="352044"/>
            </a:xfrm>
            <a:prstGeom prst="rect">
              <a:avLst/>
            </a:prstGeom>
            <a:noFill/>
            <a:ln>
              <a:noFill/>
            </a:ln>
          </p:spPr>
          <p:txBody>
            <a:bodyPr wrap="none" lIns="0" tIns="0" rIns="0" bIns="0" anchor="t" anchorCtr="0">
              <a:spAutoFit/>
            </a:bodyPr>
            <a:lstStyle/>
            <a:p>
              <a:pPr algn="l"/>
              <a:r>
                <a:rPr lang="en-US" sz="1800" dirty="0">
                  <a:solidFill>
                    <a:srgbClr val="C9EAF0"/>
                  </a:solidFill>
                  <a:latin typeface="Consolas"/>
                  <a:ea typeface="Consolas"/>
                  <a:cs typeface="Consolas"/>
                </a:rPr>
                <a:t>[c₁, c₂, …, cₙ] → label</a:t>
              </a:r>
            </a:p>
          </p:txBody>
        </p:sp>
        <p:sp>
          <p:nvSpPr>
            <p:cNvPr id="41" name="TextBox 41"/>
            <p:cNvSpPr txBox="1"/>
            <p:nvPr/>
          </p:nvSpPr>
          <p:spPr>
            <a:xfrm>
              <a:off x="6527292" y="4972050"/>
              <a:ext cx="3872771"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Longer windows trade latency for context.</a:t>
              </a:r>
            </a:p>
          </p:txBody>
        </p:sp>
      </p:grpSp>
      <p:grpSp>
        <p:nvGrpSpPr>
          <p:cNvPr id="44" name="takeaway"/>
          <p:cNvGrpSpPr/>
          <p:nvPr/>
        </p:nvGrpSpPr>
        <p:grpSpPr>
          <a:xfrm>
            <a:off x="944118" y="5848350"/>
            <a:ext cx="8117204" cy="322707"/>
            <a:chOff x="944118" y="5848350"/>
            <a:chExt cx="8117204" cy="322707"/>
          </a:xfrm>
        </p:grpSpPr>
        <p:sp>
          <p:nvSpPr>
            <p:cNvPr id="43" name="TextBox 43"/>
            <p:cNvSpPr txBox="1"/>
            <p:nvPr/>
          </p:nvSpPr>
          <p:spPr>
            <a:xfrm>
              <a:off x="944118" y="5848350"/>
              <a:ext cx="811720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This representation preserves order while avoiding payload inspection.</a:t>
              </a:r>
            </a:p>
          </p:txBody>
        </p:sp>
      </p:grpSp>
      <p:grpSp>
        <p:nvGrpSpPr>
          <p:cNvPr id="47" name="footer"/>
          <p:cNvGrpSpPr/>
          <p:nvPr/>
        </p:nvGrpSpPr>
        <p:grpSpPr>
          <a:xfrm>
            <a:off x="947166" y="6369050"/>
            <a:ext cx="10297668" cy="205359"/>
            <a:chOff x="947166" y="6369050"/>
            <a:chExt cx="10297668" cy="205359"/>
          </a:xfrm>
        </p:grpSpPr>
        <p:sp>
          <p:nvSpPr>
            <p:cNvPr id="45" name="TextBox 45"/>
            <p:cNvSpPr txBox="1"/>
            <p:nvPr/>
          </p:nvSpPr>
          <p:spPr>
            <a:xfrm>
              <a:off x="947166" y="6369050"/>
              <a:ext cx="3485626"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original paper, packet-clump methodology</a:t>
              </a:r>
            </a:p>
          </p:txBody>
        </p:sp>
        <p:sp>
          <p:nvSpPr>
            <p:cNvPr id="46" name="TextBox 46"/>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38784" y="546100"/>
            <a:ext cx="10512873" cy="909066"/>
            <a:chOff x="938784" y="546100"/>
            <a:chExt cx="10512873" cy="909066"/>
          </a:xfrm>
        </p:grpSpPr>
        <p:sp>
          <p:nvSpPr>
            <p:cNvPr id="3" name="TextBox 3"/>
            <p:cNvSpPr txBox="1"/>
            <p:nvPr/>
          </p:nvSpPr>
          <p:spPr>
            <a:xfrm>
              <a:off x="946404" y="546100"/>
              <a:ext cx="1373429"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04 · DATASET</a:t>
              </a:r>
            </a:p>
          </p:txBody>
        </p:sp>
        <p:sp>
          <p:nvSpPr>
            <p:cNvPr id="4" name="TextBox 4"/>
            <p:cNvSpPr txBox="1"/>
            <p:nvPr/>
          </p:nvSpPr>
          <p:spPr>
            <a:xfrm>
              <a:off x="938784" y="927100"/>
              <a:ext cx="10512873" cy="528066"/>
            </a:xfrm>
            <a:prstGeom prst="rect">
              <a:avLst/>
            </a:prstGeom>
            <a:noFill/>
            <a:ln>
              <a:noFill/>
            </a:ln>
          </p:spPr>
          <p:txBody>
            <a:bodyPr wrap="none" lIns="0" tIns="0" rIns="0" bIns="0" anchor="t" anchorCtr="0">
              <a:spAutoFit/>
            </a:bodyPr>
            <a:lstStyle/>
            <a:p>
              <a:pPr algn="l"/>
              <a:r>
                <a:rPr lang="en-US" sz="2700" b="1" dirty="0">
                  <a:solidFill>
                    <a:schemeClr val="accent1"/>
                  </a:solidFill>
                  <a:latin typeface="+mj-lt"/>
                  <a:ea typeface="+mj-ea"/>
                  <a:cs typeface="+mj-cs"/>
                </a:rPr>
                <a:t>CIRA-CIC-DoHBrw-2020 provides both tables and packets</a:t>
              </a:r>
            </a:p>
          </p:txBody>
        </p:sp>
      </p:grpSp>
      <p:grpSp>
        <p:nvGrpSpPr>
          <p:cNvPr id="10" name="capture-image"/>
          <p:cNvGrpSpPr/>
          <p:nvPr/>
        </p:nvGrpSpPr>
        <p:grpSpPr>
          <a:xfrm>
            <a:off x="952500" y="1733550"/>
            <a:ext cx="4953000" cy="3676650"/>
            <a:chOff x="952500" y="1733550"/>
            <a:chExt cx="4953000" cy="3676650"/>
          </a:xfrm>
        </p:grpSpPr>
        <p:sp>
          <p:nvSpPr>
            <p:cNvPr id="6" name="Rectangle 6"/>
            <p:cNvSpPr/>
            <p:nvPr/>
          </p:nvSpPr>
          <p:spPr>
            <a:xfrm>
              <a:off x="952500" y="1733550"/>
              <a:ext cx="4953000" cy="3676650"/>
            </a:xfrm>
            <a:prstGeom prst="roundRect">
              <a:avLst>
                <a:gd name="adj" fmla="val 2591"/>
              </a:avLst>
            </a:prstGeom>
            <a:solidFill>
              <a:srgbClr val="FFFFFF"/>
            </a:solidFill>
            <a:ln w="19050">
              <a:solidFill>
                <a:schemeClr val="accent6"/>
              </a:solidFill>
            </a:ln>
          </p:spPr>
        </p:sp>
        <p:pic>
          <p:nvPicPr>
            <p:cNvPr id="7" name="Image 7"/>
            <p:cNvPicPr>
              <a:picLocks noChangeAspect="1"/>
            </p:cNvPicPr>
            <p:nvPr/>
          </p:nvPicPr>
          <p:blipFill>
            <a:blip r:embed="rId2"/>
            <a:stretch>
              <a:fillRect/>
            </a:stretch>
          </p:blipFill>
          <p:spPr>
            <a:xfrm>
              <a:off x="2938683" y="1943100"/>
              <a:ext cx="980633" cy="2781300"/>
            </a:xfrm>
            <a:prstGeom prst="rect">
              <a:avLst/>
            </a:prstGeom>
          </p:spPr>
        </p:pic>
        <p:sp>
          <p:nvSpPr>
            <p:cNvPr id="8" name="TextBox 8"/>
            <p:cNvSpPr txBox="1"/>
            <p:nvPr/>
          </p:nvSpPr>
          <p:spPr>
            <a:xfrm>
              <a:off x="1155192" y="4895850"/>
              <a:ext cx="274843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Original capture environment</a:t>
              </a:r>
            </a:p>
          </p:txBody>
        </p:sp>
        <p:sp>
          <p:nvSpPr>
            <p:cNvPr id="9" name="TextBox 9"/>
            <p:cNvSpPr txBox="1"/>
            <p:nvPr/>
          </p:nvSpPr>
          <p:spPr>
            <a:xfrm>
              <a:off x="1156716" y="5159375"/>
              <a:ext cx="1549433"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Paper figure · no crop</a:t>
              </a:r>
            </a:p>
          </p:txBody>
        </p:sp>
      </p:grpSp>
      <p:grpSp>
        <p:nvGrpSpPr>
          <p:cNvPr id="27" name="dataset-inventory"/>
          <p:cNvGrpSpPr/>
          <p:nvPr/>
        </p:nvGrpSpPr>
        <p:grpSpPr>
          <a:xfrm>
            <a:off x="6324600" y="1733550"/>
            <a:ext cx="4914900" cy="3676650"/>
            <a:chOff x="6324600" y="1733550"/>
            <a:chExt cx="4914900" cy="3676650"/>
          </a:xfrm>
        </p:grpSpPr>
        <p:sp>
          <p:nvSpPr>
            <p:cNvPr id="11" name="Rectangle 11"/>
            <p:cNvSpPr/>
            <p:nvPr/>
          </p:nvSpPr>
          <p:spPr>
            <a:xfrm>
              <a:off x="6324600" y="1733550"/>
              <a:ext cx="4914900" cy="3676650"/>
            </a:xfrm>
            <a:prstGeom prst="roundRect">
              <a:avLst>
                <a:gd name="adj" fmla="val 2591"/>
              </a:avLst>
            </a:prstGeom>
            <a:solidFill>
              <a:schemeClr val="lt2"/>
            </a:solidFill>
            <a:ln>
              <a:noFill/>
            </a:ln>
          </p:spPr>
        </p:sp>
        <p:grpSp>
          <p:nvGrpSpPr>
            <p:cNvPr id="15" name="Group 15"/>
            <p:cNvGrpSpPr/>
            <p:nvPr/>
          </p:nvGrpSpPr>
          <p:grpSpPr>
            <a:xfrm>
              <a:off x="6746875" y="2135981"/>
              <a:ext cx="317499" cy="357187"/>
              <a:chOff x="6746875" y="2135981"/>
              <a:chExt cx="317499" cy="357187"/>
            </a:xfrm>
          </p:grpSpPr>
          <p:sp>
            <p:nvSpPr>
              <p:cNvPr id="12" name="Freeform 12"/>
              <p:cNvSpPr/>
              <p:nvPr/>
            </p:nvSpPr>
            <p:spPr>
              <a:xfrm>
                <a:off x="6746875" y="2135981"/>
                <a:ext cx="317499" cy="119062"/>
              </a:xfrm>
              <a:custGeom>
                <a:avLst/>
                <a:gdLst/>
                <a:ahLst/>
                <a:cxnLst/>
                <a:rect l="l" t="t" r="r" b="b"/>
                <a:pathLst>
                  <a:path w="317499" h="119062">
                    <a:moveTo>
                      <a:pt x="0" y="59531"/>
                    </a:moveTo>
                    <a:cubicBezTo>
                      <a:pt x="0" y="92409"/>
                      <a:pt x="71075" y="119062"/>
                      <a:pt x="158750" y="119062"/>
                    </a:cubicBezTo>
                    <a:cubicBezTo>
                      <a:pt x="246425" y="119062"/>
                      <a:pt x="317499" y="92409"/>
                      <a:pt x="317499" y="59531"/>
                    </a:cubicBezTo>
                    <a:cubicBezTo>
                      <a:pt x="317499" y="26653"/>
                      <a:pt x="246425" y="0"/>
                      <a:pt x="158750" y="0"/>
                    </a:cubicBezTo>
                    <a:cubicBezTo>
                      <a:pt x="71075" y="0"/>
                      <a:pt x="0" y="26653"/>
                      <a:pt x="0" y="59531"/>
                    </a:cubicBezTo>
                  </a:path>
                </a:pathLst>
              </a:custGeom>
              <a:noFill/>
              <a:ln w="39687">
                <a:solidFill>
                  <a:schemeClr val="accent2"/>
                </a:solidFill>
              </a:ln>
            </p:spPr>
          </p:sp>
          <p:sp>
            <p:nvSpPr>
              <p:cNvPr id="13" name="Freeform 13"/>
              <p:cNvSpPr/>
              <p:nvPr/>
            </p:nvSpPr>
            <p:spPr>
              <a:xfrm>
                <a:off x="6746875" y="2195512"/>
                <a:ext cx="317499" cy="178593"/>
              </a:xfrm>
              <a:custGeom>
                <a:avLst/>
                <a:gdLst/>
                <a:ahLst/>
                <a:cxnLst/>
                <a:rect l="l" t="t" r="r" b="b"/>
                <a:pathLst>
                  <a:path w="317499" h="178593">
                    <a:moveTo>
                      <a:pt x="0" y="0"/>
                    </a:moveTo>
                    <a:lnTo>
                      <a:pt x="0" y="119062"/>
                    </a:lnTo>
                    <a:cubicBezTo>
                      <a:pt x="0" y="151940"/>
                      <a:pt x="71075" y="178593"/>
                      <a:pt x="158750" y="178593"/>
                    </a:cubicBezTo>
                    <a:cubicBezTo>
                      <a:pt x="246425" y="178593"/>
                      <a:pt x="317499" y="151940"/>
                      <a:pt x="317499" y="119062"/>
                    </a:cubicBezTo>
                    <a:lnTo>
                      <a:pt x="317499" y="0"/>
                    </a:lnTo>
                  </a:path>
                </a:pathLst>
              </a:custGeom>
              <a:noFill/>
              <a:ln w="39687">
                <a:solidFill>
                  <a:schemeClr val="accent2"/>
                </a:solidFill>
              </a:ln>
            </p:spPr>
          </p:sp>
          <p:sp>
            <p:nvSpPr>
              <p:cNvPr id="14" name="Freeform 14"/>
              <p:cNvSpPr/>
              <p:nvPr/>
            </p:nvSpPr>
            <p:spPr>
              <a:xfrm>
                <a:off x="6746875" y="2314575"/>
                <a:ext cx="317499" cy="178593"/>
              </a:xfrm>
              <a:custGeom>
                <a:avLst/>
                <a:gdLst/>
                <a:ahLst/>
                <a:cxnLst/>
                <a:rect l="l" t="t" r="r" b="b"/>
                <a:pathLst>
                  <a:path w="317499" h="178593">
                    <a:moveTo>
                      <a:pt x="0" y="0"/>
                    </a:moveTo>
                    <a:lnTo>
                      <a:pt x="0" y="119062"/>
                    </a:lnTo>
                    <a:cubicBezTo>
                      <a:pt x="0" y="151940"/>
                      <a:pt x="71075" y="178593"/>
                      <a:pt x="158750" y="178593"/>
                    </a:cubicBezTo>
                    <a:cubicBezTo>
                      <a:pt x="246425" y="178593"/>
                      <a:pt x="317499" y="151940"/>
                      <a:pt x="317499" y="119062"/>
                    </a:cubicBezTo>
                    <a:lnTo>
                      <a:pt x="317499" y="0"/>
                    </a:lnTo>
                  </a:path>
                </a:pathLst>
              </a:custGeom>
              <a:noFill/>
              <a:ln w="39687">
                <a:solidFill>
                  <a:schemeClr val="accent2"/>
                </a:solidFill>
              </a:ln>
            </p:spPr>
          </p:sp>
        </p:grpSp>
        <p:sp>
          <p:nvSpPr>
            <p:cNvPr id="16" name="TextBox 16"/>
            <p:cNvSpPr txBox="1"/>
            <p:nvPr/>
          </p:nvSpPr>
          <p:spPr>
            <a:xfrm>
              <a:off x="7361682" y="2139950"/>
              <a:ext cx="3162297"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Three traffic classes</a:t>
              </a:r>
            </a:p>
          </p:txBody>
        </p:sp>
        <p:sp>
          <p:nvSpPr>
            <p:cNvPr id="17" name="Rectangle 17"/>
            <p:cNvSpPr/>
            <p:nvPr/>
          </p:nvSpPr>
          <p:spPr>
            <a:xfrm>
              <a:off x="6667500" y="2895600"/>
              <a:ext cx="4229100" cy="552450"/>
            </a:xfrm>
            <a:prstGeom prst="roundRect">
              <a:avLst>
                <a:gd name="adj" fmla="val 10345"/>
              </a:avLst>
            </a:prstGeom>
            <a:solidFill>
              <a:srgbClr val="FFFFFF"/>
            </a:solidFill>
            <a:ln>
              <a:noFill/>
            </a:ln>
          </p:spPr>
        </p:sp>
        <p:sp>
          <p:nvSpPr>
            <p:cNvPr id="18" name="Ellipse 18"/>
            <p:cNvSpPr/>
            <p:nvPr/>
          </p:nvSpPr>
          <p:spPr>
            <a:xfrm>
              <a:off x="6819900" y="3095625"/>
              <a:ext cx="152400" cy="152400"/>
            </a:xfrm>
            <a:prstGeom prst="ellipse">
              <a:avLst/>
            </a:prstGeom>
            <a:solidFill>
              <a:srgbClr val="5B6875"/>
            </a:solidFill>
            <a:ln>
              <a:noFill/>
            </a:ln>
          </p:spPr>
        </p:sp>
        <p:sp>
          <p:nvSpPr>
            <p:cNvPr id="19" name="TextBox 19"/>
            <p:cNvSpPr txBox="1"/>
            <p:nvPr/>
          </p:nvSpPr>
          <p:spPr>
            <a:xfrm>
              <a:off x="7115937" y="3044825"/>
              <a:ext cx="1680966"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Non-DoH HTTPS</a:t>
              </a:r>
            </a:p>
          </p:txBody>
        </p:sp>
        <p:sp>
          <p:nvSpPr>
            <p:cNvPr id="20" name="Rectangle 20"/>
            <p:cNvSpPr/>
            <p:nvPr/>
          </p:nvSpPr>
          <p:spPr>
            <a:xfrm>
              <a:off x="6667500" y="3600450"/>
              <a:ext cx="4229100" cy="552450"/>
            </a:xfrm>
            <a:prstGeom prst="roundRect">
              <a:avLst>
                <a:gd name="adj" fmla="val 10345"/>
              </a:avLst>
            </a:prstGeom>
            <a:solidFill>
              <a:srgbClr val="FFFFFF"/>
            </a:solidFill>
            <a:ln>
              <a:noFill/>
            </a:ln>
          </p:spPr>
        </p:sp>
        <p:sp>
          <p:nvSpPr>
            <p:cNvPr id="21" name="Ellipse 21"/>
            <p:cNvSpPr/>
            <p:nvPr/>
          </p:nvSpPr>
          <p:spPr>
            <a:xfrm>
              <a:off x="6819900" y="3800475"/>
              <a:ext cx="152400" cy="152400"/>
            </a:xfrm>
            <a:prstGeom prst="ellipse">
              <a:avLst/>
            </a:prstGeom>
            <a:solidFill>
              <a:schemeClr val="accent2"/>
            </a:solidFill>
            <a:ln>
              <a:noFill/>
            </a:ln>
          </p:spPr>
        </p:sp>
        <p:sp>
          <p:nvSpPr>
            <p:cNvPr id="22" name="TextBox 22"/>
            <p:cNvSpPr txBox="1"/>
            <p:nvPr/>
          </p:nvSpPr>
          <p:spPr>
            <a:xfrm>
              <a:off x="7115937" y="3749675"/>
              <a:ext cx="1197102"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Benign DoH</a:t>
              </a:r>
            </a:p>
          </p:txBody>
        </p:sp>
        <p:sp>
          <p:nvSpPr>
            <p:cNvPr id="23" name="Rectangle 23"/>
            <p:cNvSpPr/>
            <p:nvPr/>
          </p:nvSpPr>
          <p:spPr>
            <a:xfrm>
              <a:off x="6667500" y="4305300"/>
              <a:ext cx="4229100" cy="552450"/>
            </a:xfrm>
            <a:prstGeom prst="roundRect">
              <a:avLst>
                <a:gd name="adj" fmla="val 10345"/>
              </a:avLst>
            </a:prstGeom>
            <a:solidFill>
              <a:srgbClr val="FFFFFF"/>
            </a:solidFill>
            <a:ln>
              <a:noFill/>
            </a:ln>
          </p:spPr>
        </p:sp>
        <p:sp>
          <p:nvSpPr>
            <p:cNvPr id="24" name="Ellipse 24"/>
            <p:cNvSpPr/>
            <p:nvPr/>
          </p:nvSpPr>
          <p:spPr>
            <a:xfrm>
              <a:off x="6819900" y="4505325"/>
              <a:ext cx="152400" cy="152400"/>
            </a:xfrm>
            <a:prstGeom prst="ellipse">
              <a:avLst/>
            </a:prstGeom>
            <a:solidFill>
              <a:schemeClr val="accent3"/>
            </a:solidFill>
            <a:ln>
              <a:noFill/>
            </a:ln>
          </p:spPr>
        </p:sp>
        <p:sp>
          <p:nvSpPr>
            <p:cNvPr id="25" name="TextBox 25"/>
            <p:cNvSpPr txBox="1"/>
            <p:nvPr/>
          </p:nvSpPr>
          <p:spPr>
            <a:xfrm>
              <a:off x="7115937" y="4454525"/>
              <a:ext cx="2412088" cy="337376"/>
            </a:xfrm>
            <a:prstGeom prst="rect">
              <a:avLst/>
            </a:prstGeom>
            <a:noFill/>
            <a:ln>
              <a:noFill/>
            </a:ln>
          </p:spPr>
          <p:txBody>
            <a:bodyPr wrap="none" lIns="0" tIns="0" rIns="0" bIns="0" anchor="t" anchorCtr="0">
              <a:spAutoFit/>
            </a:bodyPr>
            <a:lstStyle/>
            <a:p>
              <a:pPr algn="l"/>
              <a:r>
                <a:rPr lang="en-US" sz="1720" dirty="0">
                  <a:solidFill>
                    <a:schemeClr val="dk1"/>
                  </a:solidFill>
                  <a:latin typeface="+mn-lt"/>
                  <a:ea typeface="+mn-ea"/>
                  <a:cs typeface="+mn-cs"/>
                </a:rPr>
                <a:t>Malicious DoH tunnels</a:t>
              </a:r>
            </a:p>
          </p:txBody>
        </p:sp>
        <p:sp>
          <p:nvSpPr>
            <p:cNvPr id="26" name="TextBox 26"/>
            <p:cNvSpPr txBox="1"/>
            <p:nvPr/>
          </p:nvSpPr>
          <p:spPr>
            <a:xfrm>
              <a:off x="6661404" y="4940300"/>
              <a:ext cx="2923032" cy="444246"/>
            </a:xfrm>
            <a:prstGeom prst="rect">
              <a:avLst/>
            </a:prstGeom>
            <a:noFill/>
            <a:ln>
              <a:noFill/>
            </a:ln>
          </p:spPr>
          <p:txBody>
            <a:bodyPr wrap="none" lIns="0" tIns="0" rIns="0" bIns="0" anchor="t" anchorCtr="0">
              <a:spAutoFit/>
            </a:bodyPr>
            <a:lstStyle/>
            <a:p>
              <a:pPr algn="l">
                <a:lnSpc>
                  <a:spcPts val="1650"/>
                </a:lnSpc>
              </a:pPr>
              <a:r>
                <a:rPr lang="en-US" sz="1200" dirty="0">
                  <a:solidFill>
                    <a:schemeClr val="accent5"/>
                  </a:solidFill>
                  <a:latin typeface="+mn-lt"/>
                  <a:ea typeface="+mn-ea"/>
                  <a:cs typeface="+mn-cs"/>
                </a:rPr>
                <a:t>CSV supports statistical replication;</a:t>
              </a:r>
              <a:br>
                <a:rPr lang="en-US" sz="1200" dirty="0">
                  <a:solidFill>
                    <a:schemeClr val="accent5"/>
                  </a:solidFill>
                  <a:latin typeface="+mn-lt"/>
                  <a:ea typeface="+mn-ea"/>
                  <a:cs typeface="+mn-cs"/>
                </a:rPr>
              </a:br>
              <a:r>
                <a:rPr lang="en-US" sz="1200" dirty="0">
                  <a:solidFill>
                    <a:schemeClr val="accent5"/>
                  </a:solidFill>
                  <a:latin typeface="+mn-lt"/>
                  <a:ea typeface="+mn-ea"/>
                  <a:cs typeface="+mn-cs"/>
                </a:rPr>
                <a:t>PCAP enables sequence reconstruction.</a:t>
              </a:r>
            </a:p>
          </p:txBody>
        </p:sp>
      </p:grpSp>
      <p:grpSp>
        <p:nvGrpSpPr>
          <p:cNvPr id="30" name="data-path"/>
          <p:cNvGrpSpPr/>
          <p:nvPr/>
        </p:nvGrpSpPr>
        <p:grpSpPr>
          <a:xfrm>
            <a:off x="943356" y="5746750"/>
            <a:ext cx="8498467" cy="352044"/>
            <a:chOff x="943356" y="5746750"/>
            <a:chExt cx="8498467" cy="352044"/>
          </a:xfrm>
        </p:grpSpPr>
        <p:sp>
          <p:nvSpPr>
            <p:cNvPr id="28" name="TextBox 28"/>
            <p:cNvSpPr txBox="1"/>
            <p:nvPr/>
          </p:nvSpPr>
          <p:spPr>
            <a:xfrm>
              <a:off x="943356" y="5746750"/>
              <a:ext cx="185883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Evidence path:</a:t>
              </a:r>
            </a:p>
          </p:txBody>
        </p:sp>
        <p:sp>
          <p:nvSpPr>
            <p:cNvPr id="29" name="TextBox 29"/>
            <p:cNvSpPr txBox="1"/>
            <p:nvPr/>
          </p:nvSpPr>
          <p:spPr>
            <a:xfrm>
              <a:off x="2448306" y="5746750"/>
              <a:ext cx="699351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CSV baseline first → raw PCAP session-disjoint experiment.</a:t>
              </a:r>
            </a:p>
          </p:txBody>
        </p:sp>
      </p:grpSp>
      <p:grpSp>
        <p:nvGrpSpPr>
          <p:cNvPr id="33" name="footer"/>
          <p:cNvGrpSpPr/>
          <p:nvPr/>
        </p:nvGrpSpPr>
        <p:grpSpPr>
          <a:xfrm>
            <a:off x="947166" y="6369050"/>
            <a:ext cx="10297668" cy="205359"/>
            <a:chOff x="947166" y="6369050"/>
            <a:chExt cx="10297668" cy="205359"/>
          </a:xfrm>
        </p:grpSpPr>
        <p:sp>
          <p:nvSpPr>
            <p:cNvPr id="31" name="TextBox 31"/>
            <p:cNvSpPr txBox="1"/>
            <p:nvPr/>
          </p:nvSpPr>
          <p:spPr>
            <a:xfrm>
              <a:off x="947166" y="6369050"/>
              <a:ext cx="5186817"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Sources: original paper; project manifests and raw-PCAP experiment audit</a:t>
              </a:r>
            </a:p>
          </p:txBody>
        </p:sp>
        <p:sp>
          <p:nvSpPr>
            <p:cNvPr id="32" name="TextBox 32"/>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41070" y="546100"/>
            <a:ext cx="8063465" cy="871855"/>
            <a:chOff x="941070" y="546100"/>
            <a:chExt cx="8063465" cy="871855"/>
          </a:xfrm>
        </p:grpSpPr>
        <p:sp>
          <p:nvSpPr>
            <p:cNvPr id="3" name="TextBox 3"/>
            <p:cNvSpPr txBox="1"/>
            <p:nvPr/>
          </p:nvSpPr>
          <p:spPr>
            <a:xfrm>
              <a:off x="946404" y="546100"/>
              <a:ext cx="2525573"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05 · ORIGINAL PIPELINE</a:t>
              </a:r>
            </a:p>
          </p:txBody>
        </p:sp>
        <p:sp>
          <p:nvSpPr>
            <p:cNvPr id="4" name="TextBox 4"/>
            <p:cNvSpPr txBox="1"/>
            <p:nvPr/>
          </p:nvSpPr>
          <p:spPr>
            <a:xfrm>
              <a:off x="941070" y="977900"/>
              <a:ext cx="8063465"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The paper evaluates two representations in parallel</a:t>
              </a:r>
            </a:p>
          </p:txBody>
        </p:sp>
      </p:grpSp>
      <p:grpSp>
        <p:nvGrpSpPr>
          <p:cNvPr id="16" name="statistical-path"/>
          <p:cNvGrpSpPr/>
          <p:nvPr/>
        </p:nvGrpSpPr>
        <p:grpSpPr>
          <a:xfrm>
            <a:off x="952500" y="1790700"/>
            <a:ext cx="10287000" cy="1562100"/>
            <a:chOff x="952500" y="1790700"/>
            <a:chExt cx="10287000" cy="1562100"/>
          </a:xfrm>
        </p:grpSpPr>
        <p:sp>
          <p:nvSpPr>
            <p:cNvPr id="6" name="Rectangle 6"/>
            <p:cNvSpPr/>
            <p:nvPr/>
          </p:nvSpPr>
          <p:spPr>
            <a:xfrm>
              <a:off x="952500" y="1790700"/>
              <a:ext cx="10287000" cy="1562100"/>
            </a:xfrm>
            <a:prstGeom prst="roundRect">
              <a:avLst>
                <a:gd name="adj" fmla="val 6098"/>
              </a:avLst>
            </a:prstGeom>
            <a:solidFill>
              <a:srgbClr val="FFFFFF"/>
            </a:solidFill>
            <a:ln w="19050">
              <a:solidFill>
                <a:schemeClr val="accent6"/>
              </a:solidFill>
            </a:ln>
          </p:spPr>
        </p:sp>
        <p:sp>
          <p:nvSpPr>
            <p:cNvPr id="7" name="TextBox 7"/>
            <p:cNvSpPr txBox="1"/>
            <p:nvPr/>
          </p:nvSpPr>
          <p:spPr>
            <a:xfrm>
              <a:off x="1212342" y="1962150"/>
              <a:ext cx="163679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STATISTICAL PATH</a:t>
              </a:r>
            </a:p>
          </p:txBody>
        </p:sp>
        <p:sp>
          <p:nvSpPr>
            <p:cNvPr id="8" name="Rectangle 8"/>
            <p:cNvSpPr/>
            <p:nvPr/>
          </p:nvSpPr>
          <p:spPr>
            <a:xfrm>
              <a:off x="1219200" y="2362200"/>
              <a:ext cx="1809750" cy="666750"/>
            </a:xfrm>
            <a:prstGeom prst="roundRect">
              <a:avLst>
                <a:gd name="adj" fmla="val 10000"/>
              </a:avLst>
            </a:prstGeom>
            <a:solidFill>
              <a:schemeClr val="lt2"/>
            </a:solidFill>
            <a:ln>
              <a:noFill/>
            </a:ln>
          </p:spPr>
        </p:sp>
        <p:sp>
          <p:nvSpPr>
            <p:cNvPr id="9" name="TextBox 9"/>
            <p:cNvSpPr txBox="1"/>
            <p:nvPr/>
          </p:nvSpPr>
          <p:spPr>
            <a:xfrm>
              <a:off x="1371131" y="2584450"/>
              <a:ext cx="1505888" cy="293370"/>
            </a:xfrm>
            <a:prstGeom prst="rect">
              <a:avLst/>
            </a:prstGeom>
            <a:noFill/>
            <a:ln>
              <a:noFill/>
            </a:ln>
          </p:spPr>
          <p:txBody>
            <a:bodyPr wrap="none" lIns="0" tIns="0" rIns="0" bIns="0" anchor="t" anchorCtr="0">
              <a:spAutoFit/>
            </a:bodyPr>
            <a:lstStyle/>
            <a:p>
              <a:pPr algn="ctr"/>
              <a:r>
                <a:rPr lang="en-US" sz="1500" dirty="0">
                  <a:solidFill>
                    <a:schemeClr val="accent1"/>
                  </a:solidFill>
                  <a:latin typeface="+mn-lt"/>
                  <a:ea typeface="+mn-ea"/>
                  <a:cs typeface="+mn-cs"/>
                </a:rPr>
                <a:t>Completed flow</a:t>
              </a:r>
            </a:p>
          </p:txBody>
        </p:sp>
        <p:sp>
          <p:nvSpPr>
            <p:cNvPr id="10" name="Line 10"/>
            <p:cNvSpPr/>
            <p:nvPr/>
          </p:nvSpPr>
          <p:spPr>
            <a:xfrm>
              <a:off x="3028950" y="2695575"/>
              <a:ext cx="533400" cy="1"/>
            </a:xfrm>
            <a:prstGeom prst="line">
              <a:avLst/>
            </a:prstGeom>
            <a:noFill/>
            <a:ln w="28575">
              <a:solidFill>
                <a:schemeClr val="accent2"/>
              </a:solidFill>
              <a:tailEnd type="triangle" w="lg" len="lg"/>
            </a:ln>
          </p:spPr>
        </p:sp>
        <p:sp>
          <p:nvSpPr>
            <p:cNvPr id="11" name="Rectangle 11"/>
            <p:cNvSpPr/>
            <p:nvPr/>
          </p:nvSpPr>
          <p:spPr>
            <a:xfrm>
              <a:off x="3676650" y="2362200"/>
              <a:ext cx="2286000" cy="666750"/>
            </a:xfrm>
            <a:prstGeom prst="roundRect">
              <a:avLst>
                <a:gd name="adj" fmla="val 10000"/>
              </a:avLst>
            </a:prstGeom>
            <a:solidFill>
              <a:schemeClr val="lt2"/>
            </a:solidFill>
            <a:ln>
              <a:noFill/>
            </a:ln>
          </p:spPr>
        </p:sp>
        <p:sp>
          <p:nvSpPr>
            <p:cNvPr id="12" name="TextBox 12"/>
            <p:cNvSpPr txBox="1"/>
            <p:nvPr/>
          </p:nvSpPr>
          <p:spPr>
            <a:xfrm>
              <a:off x="3767042" y="2584450"/>
              <a:ext cx="2105216" cy="293370"/>
            </a:xfrm>
            <a:prstGeom prst="rect">
              <a:avLst/>
            </a:prstGeom>
            <a:noFill/>
            <a:ln>
              <a:noFill/>
            </a:ln>
          </p:spPr>
          <p:txBody>
            <a:bodyPr wrap="none" lIns="0" tIns="0" rIns="0" bIns="0" anchor="t" anchorCtr="0">
              <a:spAutoFit/>
            </a:bodyPr>
            <a:lstStyle/>
            <a:p>
              <a:pPr algn="ctr"/>
              <a:r>
                <a:rPr lang="en-US" sz="1500" dirty="0">
                  <a:solidFill>
                    <a:schemeClr val="accent1"/>
                  </a:solidFill>
                  <a:latin typeface="+mn-lt"/>
                  <a:ea typeface="+mn-ea"/>
                  <a:cs typeface="+mn-cs"/>
                </a:rPr>
                <a:t>28 summary features</a:t>
              </a:r>
            </a:p>
          </p:txBody>
        </p:sp>
        <p:sp>
          <p:nvSpPr>
            <p:cNvPr id="13" name="Line 13"/>
            <p:cNvSpPr/>
            <p:nvPr/>
          </p:nvSpPr>
          <p:spPr>
            <a:xfrm>
              <a:off x="5962650" y="2695575"/>
              <a:ext cx="533400" cy="1"/>
            </a:xfrm>
            <a:prstGeom prst="line">
              <a:avLst/>
            </a:prstGeom>
            <a:noFill/>
            <a:ln w="28575">
              <a:solidFill>
                <a:schemeClr val="accent2"/>
              </a:solidFill>
              <a:tailEnd type="triangle" w="lg" len="lg"/>
            </a:ln>
          </p:spPr>
        </p:sp>
        <p:sp>
          <p:nvSpPr>
            <p:cNvPr id="14" name="Rectangle 14"/>
            <p:cNvSpPr/>
            <p:nvPr/>
          </p:nvSpPr>
          <p:spPr>
            <a:xfrm>
              <a:off x="6610350" y="2362200"/>
              <a:ext cx="4171950" cy="666750"/>
            </a:xfrm>
            <a:prstGeom prst="roundRect">
              <a:avLst>
                <a:gd name="adj" fmla="val 10000"/>
              </a:avLst>
            </a:prstGeom>
            <a:solidFill>
              <a:schemeClr val="accent1"/>
            </a:solidFill>
            <a:ln>
              <a:noFill/>
            </a:ln>
          </p:spPr>
        </p:sp>
        <p:sp>
          <p:nvSpPr>
            <p:cNvPr id="15" name="TextBox 15"/>
            <p:cNvSpPr txBox="1"/>
            <p:nvPr/>
          </p:nvSpPr>
          <p:spPr>
            <a:xfrm>
              <a:off x="6907149" y="2584450"/>
              <a:ext cx="3578352" cy="293370"/>
            </a:xfrm>
            <a:prstGeom prst="rect">
              <a:avLst/>
            </a:prstGeom>
            <a:noFill/>
            <a:ln>
              <a:noFill/>
            </a:ln>
          </p:spPr>
          <p:txBody>
            <a:bodyPr wrap="none" lIns="0" tIns="0" rIns="0" bIns="0" anchor="t" anchorCtr="0">
              <a:spAutoFit/>
            </a:bodyPr>
            <a:lstStyle/>
            <a:p>
              <a:pPr algn="ctr"/>
              <a:r>
                <a:rPr lang="en-US" sz="1500" dirty="0">
                  <a:solidFill>
                    <a:srgbClr val="FFFFFF"/>
                  </a:solidFill>
                  <a:latin typeface="+mn-lt"/>
                  <a:ea typeface="+mn-ea"/>
                  <a:cs typeface="+mn-cs"/>
                </a:rPr>
                <a:t>RF · C4.5 · SVM · NB · DNN · 2D CNN</a:t>
              </a:r>
            </a:p>
          </p:txBody>
        </p:sp>
      </p:grpSp>
      <p:grpSp>
        <p:nvGrpSpPr>
          <p:cNvPr id="27" name="sequence-path"/>
          <p:cNvGrpSpPr/>
          <p:nvPr/>
        </p:nvGrpSpPr>
        <p:grpSpPr>
          <a:xfrm>
            <a:off x="952500" y="3638550"/>
            <a:ext cx="10287000" cy="1562100"/>
            <a:chOff x="952500" y="3638550"/>
            <a:chExt cx="10287000" cy="1562100"/>
          </a:xfrm>
        </p:grpSpPr>
        <p:sp>
          <p:nvSpPr>
            <p:cNvPr id="17" name="Rectangle 17"/>
            <p:cNvSpPr/>
            <p:nvPr/>
          </p:nvSpPr>
          <p:spPr>
            <a:xfrm>
              <a:off x="952500" y="3638550"/>
              <a:ext cx="10287000" cy="1562100"/>
            </a:xfrm>
            <a:prstGeom prst="roundRect">
              <a:avLst>
                <a:gd name="adj" fmla="val 6098"/>
              </a:avLst>
            </a:prstGeom>
            <a:solidFill>
              <a:srgbClr val="FFFFFF"/>
            </a:solidFill>
            <a:ln w="19050">
              <a:solidFill>
                <a:schemeClr val="accent6"/>
              </a:solidFill>
            </a:ln>
          </p:spPr>
        </p:sp>
        <p:sp>
          <p:nvSpPr>
            <p:cNvPr id="18" name="TextBox 18"/>
            <p:cNvSpPr txBox="1"/>
            <p:nvPr/>
          </p:nvSpPr>
          <p:spPr>
            <a:xfrm>
              <a:off x="1212342" y="3810000"/>
              <a:ext cx="1677124"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TIME-SERIES PATH</a:t>
              </a:r>
            </a:p>
          </p:txBody>
        </p:sp>
        <p:sp>
          <p:nvSpPr>
            <p:cNvPr id="19" name="Rectangle 19"/>
            <p:cNvSpPr/>
            <p:nvPr/>
          </p:nvSpPr>
          <p:spPr>
            <a:xfrm>
              <a:off x="1219200" y="4210050"/>
              <a:ext cx="1809750" cy="666750"/>
            </a:xfrm>
            <a:prstGeom prst="roundRect">
              <a:avLst>
                <a:gd name="adj" fmla="val 10000"/>
              </a:avLst>
            </a:prstGeom>
            <a:solidFill>
              <a:srgbClr val="FFF7ED"/>
            </a:solidFill>
            <a:ln>
              <a:noFill/>
            </a:ln>
          </p:spPr>
        </p:sp>
        <p:sp>
          <p:nvSpPr>
            <p:cNvPr id="20" name="TextBox 20"/>
            <p:cNvSpPr txBox="1"/>
            <p:nvPr/>
          </p:nvSpPr>
          <p:spPr>
            <a:xfrm>
              <a:off x="1396222" y="4432300"/>
              <a:ext cx="1455706" cy="293370"/>
            </a:xfrm>
            <a:prstGeom prst="rect">
              <a:avLst/>
            </a:prstGeom>
            <a:noFill/>
            <a:ln>
              <a:noFill/>
            </a:ln>
          </p:spPr>
          <p:txBody>
            <a:bodyPr wrap="none" lIns="0" tIns="0" rIns="0" bIns="0" anchor="t" anchorCtr="0">
              <a:spAutoFit/>
            </a:bodyPr>
            <a:lstStyle/>
            <a:p>
              <a:pPr algn="ctr"/>
              <a:r>
                <a:rPr lang="en-US" sz="1500" dirty="0">
                  <a:solidFill>
                    <a:schemeClr val="accent1"/>
                  </a:solidFill>
                  <a:latin typeface="+mn-lt"/>
                  <a:ea typeface="+mn-ea"/>
                  <a:cs typeface="+mn-cs"/>
                </a:rPr>
                <a:t>Packet stream</a:t>
              </a:r>
            </a:p>
          </p:txBody>
        </p:sp>
        <p:sp>
          <p:nvSpPr>
            <p:cNvPr id="21" name="Line 21"/>
            <p:cNvSpPr/>
            <p:nvPr/>
          </p:nvSpPr>
          <p:spPr>
            <a:xfrm>
              <a:off x="3028950" y="4543425"/>
              <a:ext cx="533400" cy="1"/>
            </a:xfrm>
            <a:prstGeom prst="line">
              <a:avLst/>
            </a:prstGeom>
            <a:noFill/>
            <a:ln w="28575">
              <a:solidFill>
                <a:schemeClr val="accent2"/>
              </a:solidFill>
              <a:tailEnd type="triangle" w="lg" len="lg"/>
            </a:ln>
          </p:spPr>
        </p:sp>
        <p:sp>
          <p:nvSpPr>
            <p:cNvPr id="22" name="Rectangle 22"/>
            <p:cNvSpPr/>
            <p:nvPr/>
          </p:nvSpPr>
          <p:spPr>
            <a:xfrm>
              <a:off x="3676650" y="4210050"/>
              <a:ext cx="2286000" cy="666750"/>
            </a:xfrm>
            <a:prstGeom prst="roundRect">
              <a:avLst>
                <a:gd name="adj" fmla="val 10000"/>
              </a:avLst>
            </a:prstGeom>
            <a:solidFill>
              <a:srgbClr val="FFF7ED"/>
            </a:solidFill>
            <a:ln>
              <a:noFill/>
            </a:ln>
          </p:spPr>
        </p:sp>
        <p:sp>
          <p:nvSpPr>
            <p:cNvPr id="23" name="TextBox 23"/>
            <p:cNvSpPr txBox="1"/>
            <p:nvPr/>
          </p:nvSpPr>
          <p:spPr>
            <a:xfrm>
              <a:off x="3915515" y="4432300"/>
              <a:ext cx="1808271" cy="293370"/>
            </a:xfrm>
            <a:prstGeom prst="rect">
              <a:avLst/>
            </a:prstGeom>
            <a:noFill/>
            <a:ln>
              <a:noFill/>
            </a:ln>
          </p:spPr>
          <p:txBody>
            <a:bodyPr wrap="none" lIns="0" tIns="0" rIns="0" bIns="0" anchor="t" anchorCtr="0">
              <a:spAutoFit/>
            </a:bodyPr>
            <a:lstStyle/>
            <a:p>
              <a:pPr algn="ctr"/>
              <a:r>
                <a:rPr lang="en-US" sz="1500" dirty="0">
                  <a:solidFill>
                    <a:schemeClr val="accent1"/>
                  </a:solidFill>
                  <a:latin typeface="+mn-lt"/>
                  <a:ea typeface="+mn-ea"/>
                  <a:cs typeface="+mn-cs"/>
                </a:rPr>
                <a:t>Directional clumps</a:t>
              </a:r>
            </a:p>
          </p:txBody>
        </p:sp>
        <p:sp>
          <p:nvSpPr>
            <p:cNvPr id="24" name="Line 24"/>
            <p:cNvSpPr/>
            <p:nvPr/>
          </p:nvSpPr>
          <p:spPr>
            <a:xfrm>
              <a:off x="5962650" y="4543425"/>
              <a:ext cx="533400" cy="1"/>
            </a:xfrm>
            <a:prstGeom prst="line">
              <a:avLst/>
            </a:prstGeom>
            <a:noFill/>
            <a:ln w="28575">
              <a:solidFill>
                <a:schemeClr val="accent2"/>
              </a:solidFill>
              <a:tailEnd type="triangle" w="lg" len="lg"/>
            </a:ln>
          </p:spPr>
        </p:sp>
        <p:sp>
          <p:nvSpPr>
            <p:cNvPr id="25" name="Rectangle 25"/>
            <p:cNvSpPr/>
            <p:nvPr/>
          </p:nvSpPr>
          <p:spPr>
            <a:xfrm>
              <a:off x="6610350" y="4210050"/>
              <a:ext cx="4171950" cy="666750"/>
            </a:xfrm>
            <a:prstGeom prst="roundRect">
              <a:avLst>
                <a:gd name="adj" fmla="val 10000"/>
              </a:avLst>
            </a:prstGeom>
            <a:solidFill>
              <a:schemeClr val="accent1"/>
            </a:solidFill>
            <a:ln>
              <a:noFill/>
            </a:ln>
          </p:spPr>
        </p:sp>
        <p:sp>
          <p:nvSpPr>
            <p:cNvPr id="26" name="TextBox 26"/>
            <p:cNvSpPr txBox="1"/>
            <p:nvPr/>
          </p:nvSpPr>
          <p:spPr>
            <a:xfrm>
              <a:off x="7260312" y="4432300"/>
              <a:ext cx="2872026" cy="293370"/>
            </a:xfrm>
            <a:prstGeom prst="rect">
              <a:avLst/>
            </a:prstGeom>
            <a:noFill/>
            <a:ln>
              <a:noFill/>
            </a:ln>
          </p:spPr>
          <p:txBody>
            <a:bodyPr wrap="none" lIns="0" tIns="0" rIns="0" bIns="0" anchor="t" anchorCtr="0">
              <a:spAutoFit/>
            </a:bodyPr>
            <a:lstStyle/>
            <a:p>
              <a:pPr algn="ctr"/>
              <a:r>
                <a:rPr lang="en-US" sz="1500" dirty="0">
                  <a:solidFill>
                    <a:srgbClr val="FFFFFF"/>
                  </a:solidFill>
                  <a:latin typeface="+mn-lt"/>
                  <a:ea typeface="+mn-ea"/>
                  <a:cs typeface="+mn-cs"/>
                </a:rPr>
                <a:t>4-layer LSTM · windows 1…10</a:t>
              </a:r>
            </a:p>
          </p:txBody>
        </p:sp>
      </p:grpSp>
      <p:grpSp>
        <p:nvGrpSpPr>
          <p:cNvPr id="34" name="split-rule"/>
          <p:cNvGrpSpPr/>
          <p:nvPr/>
        </p:nvGrpSpPr>
        <p:grpSpPr>
          <a:xfrm>
            <a:off x="1000125" y="5645150"/>
            <a:ext cx="7484646" cy="344932"/>
            <a:chOff x="1000125" y="5645150"/>
            <a:chExt cx="7484646" cy="344932"/>
          </a:xfrm>
        </p:grpSpPr>
        <p:grpSp>
          <p:nvGrpSpPr>
            <p:cNvPr id="32" name="Group 32"/>
            <p:cNvGrpSpPr/>
            <p:nvPr/>
          </p:nvGrpSpPr>
          <p:grpSpPr>
            <a:xfrm>
              <a:off x="1000125" y="5645150"/>
              <a:ext cx="285751" cy="254000"/>
              <a:chOff x="1000125" y="5645150"/>
              <a:chExt cx="285751" cy="254000"/>
            </a:xfrm>
          </p:grpSpPr>
          <p:sp>
            <p:nvSpPr>
              <p:cNvPr id="28" name="Freeform 28"/>
              <p:cNvSpPr/>
              <p:nvPr/>
            </p:nvSpPr>
            <p:spPr>
              <a:xfrm>
                <a:off x="1000125" y="5772150"/>
                <a:ext cx="285751" cy="79375"/>
              </a:xfrm>
              <a:custGeom>
                <a:avLst/>
                <a:gdLst/>
                <a:ahLst/>
                <a:cxnLst/>
                <a:rect l="l" t="t" r="r" b="b"/>
                <a:pathLst>
                  <a:path w="285751" h="79375">
                    <a:moveTo>
                      <a:pt x="285751" y="79375"/>
                    </a:moveTo>
                    <a:lnTo>
                      <a:pt x="158750" y="79375"/>
                    </a:lnTo>
                    <a:lnTo>
                      <a:pt x="103188" y="0"/>
                    </a:lnTo>
                    <a:lnTo>
                      <a:pt x="0" y="0"/>
                    </a:lnTo>
                  </a:path>
                </a:pathLst>
              </a:custGeom>
              <a:noFill/>
              <a:ln w="31750">
                <a:solidFill>
                  <a:schemeClr val="accent3"/>
                </a:solidFill>
              </a:ln>
            </p:spPr>
          </p:sp>
          <p:sp>
            <p:nvSpPr>
              <p:cNvPr id="29" name="Freeform 29"/>
              <p:cNvSpPr/>
              <p:nvPr/>
            </p:nvSpPr>
            <p:spPr>
              <a:xfrm>
                <a:off x="1103392" y="5692775"/>
                <a:ext cx="182483" cy="79375"/>
              </a:xfrm>
              <a:custGeom>
                <a:avLst/>
                <a:gdLst/>
                <a:ahLst/>
                <a:cxnLst/>
                <a:rect l="l" t="t" r="r" b="b"/>
                <a:pathLst>
                  <a:path w="182483" h="79375">
                    <a:moveTo>
                      <a:pt x="182483" y="0"/>
                    </a:moveTo>
                    <a:lnTo>
                      <a:pt x="55483" y="0"/>
                    </a:lnTo>
                    <a:lnTo>
                      <a:pt x="0" y="79375"/>
                    </a:lnTo>
                  </a:path>
                </a:pathLst>
              </a:custGeom>
              <a:noFill/>
              <a:ln w="31750">
                <a:solidFill>
                  <a:schemeClr val="accent3"/>
                </a:solidFill>
              </a:ln>
            </p:spPr>
          </p:sp>
          <p:sp>
            <p:nvSpPr>
              <p:cNvPr id="30" name="Freeform 30"/>
              <p:cNvSpPr/>
              <p:nvPr/>
            </p:nvSpPr>
            <p:spPr>
              <a:xfrm>
                <a:off x="1238251" y="5645150"/>
                <a:ext cx="47625" cy="95250"/>
              </a:xfrm>
              <a:custGeom>
                <a:avLst/>
                <a:gdLst/>
                <a:ahLst/>
                <a:cxnLst/>
                <a:rect l="l" t="t" r="r" b="b"/>
                <a:pathLst>
                  <a:path w="47625" h="95250">
                    <a:moveTo>
                      <a:pt x="0" y="95250"/>
                    </a:moveTo>
                    <a:lnTo>
                      <a:pt x="47625" y="47625"/>
                    </a:lnTo>
                    <a:lnTo>
                      <a:pt x="0" y="0"/>
                    </a:lnTo>
                  </a:path>
                </a:pathLst>
              </a:custGeom>
              <a:noFill/>
              <a:ln w="31750">
                <a:solidFill>
                  <a:schemeClr val="accent3"/>
                </a:solidFill>
              </a:ln>
            </p:spPr>
          </p:sp>
          <p:sp>
            <p:nvSpPr>
              <p:cNvPr id="31" name="Freeform 31"/>
              <p:cNvSpPr/>
              <p:nvPr/>
            </p:nvSpPr>
            <p:spPr>
              <a:xfrm>
                <a:off x="1238251" y="5803900"/>
                <a:ext cx="47625" cy="95250"/>
              </a:xfrm>
              <a:custGeom>
                <a:avLst/>
                <a:gdLst/>
                <a:ahLst/>
                <a:cxnLst/>
                <a:rect l="l" t="t" r="r" b="b"/>
                <a:pathLst>
                  <a:path w="47625" h="95250">
                    <a:moveTo>
                      <a:pt x="0" y="95250"/>
                    </a:moveTo>
                    <a:lnTo>
                      <a:pt x="47625" y="47625"/>
                    </a:lnTo>
                    <a:lnTo>
                      <a:pt x="0" y="0"/>
                    </a:lnTo>
                  </a:path>
                </a:pathLst>
              </a:custGeom>
              <a:noFill/>
              <a:ln w="31750">
                <a:solidFill>
                  <a:schemeClr val="accent3"/>
                </a:solidFill>
              </a:ln>
            </p:spPr>
          </p:sp>
        </p:grpSp>
        <p:sp>
          <p:nvSpPr>
            <p:cNvPr id="33" name="TextBox 33"/>
            <p:cNvSpPr txBox="1"/>
            <p:nvPr/>
          </p:nvSpPr>
          <p:spPr>
            <a:xfrm>
              <a:off x="1496568" y="5667375"/>
              <a:ext cx="6988203"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Original evaluation: stratified 80/20 random split at flow level.</a:t>
              </a:r>
            </a:p>
          </p:txBody>
        </p:sp>
      </p:grpSp>
      <p:grpSp>
        <p:nvGrpSpPr>
          <p:cNvPr id="37" name="footer"/>
          <p:cNvGrpSpPr/>
          <p:nvPr/>
        </p:nvGrpSpPr>
        <p:grpSpPr>
          <a:xfrm>
            <a:off x="947166" y="6369050"/>
            <a:ext cx="10297668" cy="205359"/>
            <a:chOff x="947166" y="6369050"/>
            <a:chExt cx="10297668" cy="205359"/>
          </a:xfrm>
        </p:grpSpPr>
        <p:sp>
          <p:nvSpPr>
            <p:cNvPr id="35" name="TextBox 35"/>
            <p:cNvSpPr txBox="1"/>
            <p:nvPr/>
          </p:nvSpPr>
          <p:spPr>
            <a:xfrm>
              <a:off x="947166" y="6369050"/>
              <a:ext cx="2593257"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original paper, Sections IV–V</a:t>
              </a:r>
            </a:p>
          </p:txBody>
        </p:sp>
        <p:sp>
          <p:nvSpPr>
            <p:cNvPr id="36" name="TextBox 36"/>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36498" y="546100"/>
            <a:ext cx="10772304" cy="946277"/>
            <a:chOff x="936498" y="546100"/>
            <a:chExt cx="10772304" cy="946277"/>
          </a:xfrm>
        </p:grpSpPr>
        <p:sp>
          <p:nvSpPr>
            <p:cNvPr id="3" name="TextBox 3"/>
            <p:cNvSpPr txBox="1"/>
            <p:nvPr/>
          </p:nvSpPr>
          <p:spPr>
            <a:xfrm>
              <a:off x="946404" y="546100"/>
              <a:ext cx="2756002"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06 · STATISTICAL RESULTS</a:t>
              </a:r>
            </a:p>
          </p:txBody>
        </p:sp>
        <p:sp>
          <p:nvSpPr>
            <p:cNvPr id="4" name="TextBox 4"/>
            <p:cNvSpPr txBox="1"/>
            <p:nvPr/>
          </p:nvSpPr>
          <p:spPr>
            <a:xfrm>
              <a:off x="936498" y="876300"/>
              <a:ext cx="10772304"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Flow-summary models reproduce near-perfect F1</a:t>
              </a:r>
            </a:p>
          </p:txBody>
        </p:sp>
      </p:grpSp>
      <p:grpSp>
        <p:nvGrpSpPr>
          <p:cNvPr id="11" name="statistical-f1"/>
          <p:cNvGrpSpPr/>
          <p:nvPr/>
        </p:nvGrpSpPr>
        <p:grpSpPr>
          <a:xfrm>
            <a:off x="-5810250" y="1790700"/>
            <a:ext cx="14306550" cy="3714750"/>
            <a:chOff x="-5810250" y="1790700"/>
            <a:chExt cx="14306550" cy="3714750"/>
          </a:xfrm>
        </p:grpSpPr>
        <p:graphicFrame>
          <p:nvGraphicFramePr>
            <p:cNvPr id="6" name="statistical-f1"/>
            <p:cNvGraphicFramePr>
              <a:graphicFrameLocks noGrp="1"/>
            </p:cNvGraphicFramePr>
            <p:nvPr/>
          </p:nvGraphicFramePr>
          <p:xfrm>
            <a:off x="952500" y="1790700"/>
            <a:ext cx="7239000" cy="3714750"/>
          </p:xfrm>
          <a:graphic>
            <a:graphicData uri="http://schemas.openxmlformats.org/drawingml/2006/chart">
              <c:chart xmlns:c="http://schemas.openxmlformats.org/drawingml/2006/chart" r:id="rId2"/>
            </a:graphicData>
          </a:graphic>
        </p:graphicFrame>
        <p:sp>
          <p:nvSpPr>
            <p:cNvPr id="7" name="Chart Note 7"/>
            <p:cNvSpPr txBox="1"/>
            <p:nvPr/>
          </p:nvSpPr>
          <p:spPr>
            <a:xfrm>
              <a:off x="1257300" y="1953578"/>
              <a:ext cx="7239000" cy="213360"/>
            </a:xfrm>
            <a:prstGeom prst="rect">
              <a:avLst/>
            </a:prstGeom>
            <a:noFill/>
            <a:ln>
              <a:noFill/>
            </a:ln>
          </p:spPr>
          <p:txBody>
            <a:bodyPr wrap="square" lIns="0" tIns="0" rIns="0" bIns="0" anchor="b" anchorCtr="0"/>
            <a:lstStyle/>
            <a:p>
              <a:pPr algn="l"/>
              <a:r>
                <a:rPr lang="en-US" sz="1050">
                  <a:solidFill>
                    <a:srgbClr val="172033"/>
                  </a:solidFill>
                  <a:latin typeface="Aptos"/>
                  <a:ea typeface="Microsoft YaHei"/>
                  <a:cs typeface="Aptos"/>
                </a:rPr>
                <a:t>F1 score · higher is better</a:t>
              </a:r>
            </a:p>
          </p:txBody>
        </p:sp>
        <p:sp>
          <p:nvSpPr>
            <p:cNvPr id="8" name="Chart Note 8"/>
            <p:cNvSpPr txBox="1"/>
            <p:nvPr/>
          </p:nvSpPr>
          <p:spPr>
            <a:xfrm>
              <a:off x="-5810250" y="2334578"/>
              <a:ext cx="7239000" cy="213360"/>
            </a:xfrm>
            <a:prstGeom prst="rect">
              <a:avLst/>
            </a:prstGeom>
            <a:noFill/>
            <a:ln>
              <a:noFill/>
            </a:ln>
          </p:spPr>
          <p:txBody>
            <a:bodyPr wrap="square" lIns="0" tIns="0" rIns="0" bIns="0" anchor="b" anchorCtr="0"/>
            <a:lstStyle/>
            <a:p>
              <a:pPr algn="r"/>
              <a:r>
                <a:rPr lang="en-US" sz="1050">
                  <a:solidFill>
                    <a:srgbClr val="172033"/>
                  </a:solidFill>
                  <a:latin typeface="Aptos"/>
                  <a:ea typeface="Microsoft YaHei"/>
                  <a:cs typeface="Aptos"/>
                </a:rPr>
                <a:t>1.000</a:t>
              </a:r>
            </a:p>
          </p:txBody>
        </p:sp>
        <p:sp>
          <p:nvSpPr>
            <p:cNvPr id="9" name="Chart Note 9"/>
            <p:cNvSpPr txBox="1"/>
            <p:nvPr/>
          </p:nvSpPr>
          <p:spPr>
            <a:xfrm>
              <a:off x="-5810250" y="3306128"/>
              <a:ext cx="7239000" cy="213360"/>
            </a:xfrm>
            <a:prstGeom prst="rect">
              <a:avLst/>
            </a:prstGeom>
            <a:noFill/>
            <a:ln>
              <a:noFill/>
            </a:ln>
          </p:spPr>
          <p:txBody>
            <a:bodyPr wrap="square" lIns="0" tIns="0" rIns="0" bIns="0" anchor="b" anchorCtr="0"/>
            <a:lstStyle/>
            <a:p>
              <a:pPr algn="r"/>
              <a:r>
                <a:rPr lang="en-US" sz="1050">
                  <a:solidFill>
                    <a:srgbClr val="172033"/>
                  </a:solidFill>
                  <a:latin typeface="Aptos"/>
                  <a:ea typeface="Microsoft YaHei"/>
                  <a:cs typeface="Aptos"/>
                </a:rPr>
                <a:t>0.990</a:t>
              </a:r>
            </a:p>
          </p:txBody>
        </p:sp>
        <p:sp>
          <p:nvSpPr>
            <p:cNvPr id="10" name="Chart Note 10"/>
            <p:cNvSpPr txBox="1"/>
            <p:nvPr/>
          </p:nvSpPr>
          <p:spPr>
            <a:xfrm>
              <a:off x="-5810250" y="4811078"/>
              <a:ext cx="7239000" cy="213360"/>
            </a:xfrm>
            <a:prstGeom prst="rect">
              <a:avLst/>
            </a:prstGeom>
            <a:noFill/>
            <a:ln>
              <a:noFill/>
            </a:ln>
          </p:spPr>
          <p:txBody>
            <a:bodyPr wrap="square" lIns="0" tIns="0" rIns="0" bIns="0" anchor="b" anchorCtr="0"/>
            <a:lstStyle/>
            <a:p>
              <a:pPr algn="r"/>
              <a:r>
                <a:rPr lang="en-US" sz="1050">
                  <a:solidFill>
                    <a:srgbClr val="172033"/>
                  </a:solidFill>
                  <a:latin typeface="Aptos"/>
                  <a:ea typeface="Microsoft YaHei"/>
                  <a:cs typeface="Aptos"/>
                </a:rPr>
                <a:t>0.980</a:t>
              </a:r>
            </a:p>
          </p:txBody>
        </p:sp>
      </p:grpSp>
      <p:grpSp>
        <p:nvGrpSpPr>
          <p:cNvPr id="21" name="interpretation"/>
          <p:cNvGrpSpPr/>
          <p:nvPr/>
        </p:nvGrpSpPr>
        <p:grpSpPr>
          <a:xfrm>
            <a:off x="8572500" y="1790700"/>
            <a:ext cx="2667000" cy="3714750"/>
            <a:chOff x="8572500" y="1790700"/>
            <a:chExt cx="2667000" cy="3714750"/>
          </a:xfrm>
        </p:grpSpPr>
        <p:sp>
          <p:nvSpPr>
            <p:cNvPr id="12" name="Rectangle 12"/>
            <p:cNvSpPr/>
            <p:nvPr/>
          </p:nvSpPr>
          <p:spPr>
            <a:xfrm>
              <a:off x="8572500" y="1790700"/>
              <a:ext cx="2667000" cy="3714750"/>
            </a:xfrm>
            <a:prstGeom prst="roundRect">
              <a:avLst>
                <a:gd name="adj" fmla="val 3571"/>
              </a:avLst>
            </a:prstGeom>
            <a:solidFill>
              <a:schemeClr val="accent1"/>
            </a:solidFill>
            <a:ln>
              <a:noFill/>
            </a:ln>
          </p:spPr>
        </p:sp>
        <p:sp>
          <p:nvSpPr>
            <p:cNvPr id="13" name="TextBox 13"/>
            <p:cNvSpPr txBox="1"/>
            <p:nvPr/>
          </p:nvSpPr>
          <p:spPr>
            <a:xfrm>
              <a:off x="8851392" y="2114550"/>
              <a:ext cx="1060247" cy="264033"/>
            </a:xfrm>
            <a:prstGeom prst="rect">
              <a:avLst/>
            </a:prstGeom>
            <a:noFill/>
            <a:ln>
              <a:noFill/>
            </a:ln>
          </p:spPr>
          <p:txBody>
            <a:bodyPr wrap="none" lIns="0" tIns="0" rIns="0" bIns="0" anchor="t" anchorCtr="0">
              <a:spAutoFit/>
            </a:bodyPr>
            <a:lstStyle/>
            <a:p>
              <a:pPr algn="l"/>
              <a:r>
                <a:rPr lang="en-US" sz="1350" dirty="0">
                  <a:solidFill>
                    <a:srgbClr val="C9EAF0"/>
                  </a:solidFill>
                  <a:latin typeface="+mn-lt"/>
                  <a:ea typeface="+mn-ea"/>
                  <a:cs typeface="+mn-cs"/>
                </a:rPr>
                <a:t>PROJECT RF</a:t>
              </a:r>
            </a:p>
          </p:txBody>
        </p:sp>
        <p:sp>
          <p:nvSpPr>
            <p:cNvPr id="14" name="TextBox 14"/>
            <p:cNvSpPr txBox="1"/>
            <p:nvPr/>
          </p:nvSpPr>
          <p:spPr>
            <a:xfrm>
              <a:off x="8842248" y="2533650"/>
              <a:ext cx="1431379"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Consolas"/>
                  <a:ea typeface="Consolas"/>
                  <a:cs typeface="Consolas"/>
                </a:rPr>
                <a:t>0.9965</a:t>
              </a:r>
            </a:p>
          </p:txBody>
        </p:sp>
        <p:sp>
          <p:nvSpPr>
            <p:cNvPr id="15" name="TextBox 15"/>
            <p:cNvSpPr txBox="1"/>
            <p:nvPr/>
          </p:nvSpPr>
          <p:spPr>
            <a:xfrm>
              <a:off x="8851392" y="3048000"/>
              <a:ext cx="93954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Layer 1 F1</a:t>
              </a:r>
            </a:p>
          </p:txBody>
        </p:sp>
        <p:sp>
          <p:nvSpPr>
            <p:cNvPr id="16" name="TextBox 16"/>
            <p:cNvSpPr txBox="1"/>
            <p:nvPr/>
          </p:nvSpPr>
          <p:spPr>
            <a:xfrm>
              <a:off x="8842248" y="3562350"/>
              <a:ext cx="1431379"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Consolas"/>
                  <a:ea typeface="Consolas"/>
                  <a:cs typeface="Consolas"/>
                </a:rPr>
                <a:t>0.9997</a:t>
              </a:r>
            </a:p>
          </p:txBody>
        </p:sp>
        <p:sp>
          <p:nvSpPr>
            <p:cNvPr id="17" name="TextBox 17"/>
            <p:cNvSpPr txBox="1"/>
            <p:nvPr/>
          </p:nvSpPr>
          <p:spPr>
            <a:xfrm>
              <a:off x="8851392" y="4076700"/>
              <a:ext cx="93954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Layer 2 F1</a:t>
              </a:r>
            </a:p>
          </p:txBody>
        </p:sp>
        <p:sp>
          <p:nvSpPr>
            <p:cNvPr id="18" name="Line 18"/>
            <p:cNvSpPr/>
            <p:nvPr/>
          </p:nvSpPr>
          <p:spPr>
            <a:xfrm>
              <a:off x="8858250" y="4572000"/>
              <a:ext cx="2095500" cy="9525"/>
            </a:xfrm>
            <a:custGeom>
              <a:avLst/>
              <a:gdLst/>
              <a:ahLst/>
              <a:cxnLst/>
              <a:rect l="l" t="t" r="r" b="b"/>
              <a:pathLst>
                <a:path w="2095500" h="9525">
                  <a:moveTo>
                    <a:pt x="0" y="0"/>
                  </a:moveTo>
                  <a:lnTo>
                    <a:pt x="2095500" y="0"/>
                  </a:lnTo>
                </a:path>
              </a:pathLst>
            </a:custGeom>
            <a:noFill/>
            <a:ln w="9525">
              <a:solidFill>
                <a:srgbClr val="5B6875"/>
              </a:solidFill>
            </a:ln>
          </p:spPr>
        </p:sp>
        <p:sp>
          <p:nvSpPr>
            <p:cNvPr id="19" name="TextBox 19"/>
            <p:cNvSpPr txBox="1"/>
            <p:nvPr/>
          </p:nvSpPr>
          <p:spPr>
            <a:xfrm>
              <a:off x="8852154" y="4794250"/>
              <a:ext cx="2174353" cy="234696"/>
            </a:xfrm>
            <a:prstGeom prst="rect">
              <a:avLst/>
            </a:prstGeom>
            <a:noFill/>
            <a:ln>
              <a:noFill/>
            </a:ln>
          </p:spPr>
          <p:txBody>
            <a:bodyPr wrap="none" lIns="0" tIns="0" rIns="0" bIns="0" anchor="t" anchorCtr="0">
              <a:spAutoFit/>
            </a:bodyPr>
            <a:lstStyle/>
            <a:p>
              <a:pPr algn="l"/>
              <a:r>
                <a:rPr lang="en-US" sz="1200" dirty="0">
                  <a:solidFill>
                    <a:srgbClr val="C9EAF0"/>
                  </a:solidFill>
                  <a:latin typeface="+mn-lt"/>
                  <a:ea typeface="+mn-ea"/>
                  <a:cs typeface="+mn-cs"/>
                </a:rPr>
                <a:t>Same flow-random protocol</a:t>
              </a:r>
            </a:p>
          </p:txBody>
        </p:sp>
        <p:sp>
          <p:nvSpPr>
            <p:cNvPr id="20" name="TextBox 20"/>
            <p:cNvSpPr txBox="1"/>
            <p:nvPr/>
          </p:nvSpPr>
          <p:spPr>
            <a:xfrm>
              <a:off x="8852154" y="5041900"/>
              <a:ext cx="1616803" cy="234696"/>
            </a:xfrm>
            <a:prstGeom prst="rect">
              <a:avLst/>
            </a:prstGeom>
            <a:noFill/>
            <a:ln>
              <a:noFill/>
            </a:ln>
          </p:spPr>
          <p:txBody>
            <a:bodyPr wrap="none" lIns="0" tIns="0" rIns="0" bIns="0" anchor="t" anchorCtr="0">
              <a:spAutoFit/>
            </a:bodyPr>
            <a:lstStyle/>
            <a:p>
              <a:pPr algn="l"/>
              <a:r>
                <a:rPr lang="en-US" sz="1200" dirty="0">
                  <a:solidFill>
                    <a:srgbClr val="C9EAF0"/>
                  </a:solidFill>
                  <a:latin typeface="+mn-lt"/>
                  <a:ea typeface="+mn-ea"/>
                  <a:cs typeface="+mn-cs"/>
                </a:rPr>
                <a:t>Same leakage caveat</a:t>
              </a:r>
            </a:p>
          </p:txBody>
        </p:sp>
      </p:grpSp>
      <p:grpSp>
        <p:nvGrpSpPr>
          <p:cNvPr id="23" name="takeaway"/>
          <p:cNvGrpSpPr/>
          <p:nvPr/>
        </p:nvGrpSpPr>
        <p:grpSpPr>
          <a:xfrm>
            <a:off x="944118" y="5848350"/>
            <a:ext cx="7312676" cy="322707"/>
            <a:chOff x="944118" y="5848350"/>
            <a:chExt cx="7312676" cy="322707"/>
          </a:xfrm>
        </p:grpSpPr>
        <p:sp>
          <p:nvSpPr>
            <p:cNvPr id="22" name="TextBox 22"/>
            <p:cNvSpPr txBox="1"/>
            <p:nvPr/>
          </p:nvSpPr>
          <p:spPr>
            <a:xfrm>
              <a:off x="944118" y="5848350"/>
              <a:ext cx="731267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Replication succeeded—but protocol realism remains unresolved.</a:t>
              </a:r>
            </a:p>
          </p:txBody>
        </p:sp>
      </p:grpSp>
      <p:grpSp>
        <p:nvGrpSpPr>
          <p:cNvPr id="26" name="footer"/>
          <p:cNvGrpSpPr/>
          <p:nvPr/>
        </p:nvGrpSpPr>
        <p:grpSpPr>
          <a:xfrm>
            <a:off x="947166" y="6369050"/>
            <a:ext cx="10297668" cy="205359"/>
            <a:chOff x="947166" y="6369050"/>
            <a:chExt cx="10297668" cy="205359"/>
          </a:xfrm>
        </p:grpSpPr>
        <p:sp>
          <p:nvSpPr>
            <p:cNvPr id="24" name="TextBox 24"/>
            <p:cNvSpPr txBox="1"/>
            <p:nvPr/>
          </p:nvSpPr>
          <p:spPr>
            <a:xfrm>
              <a:off x="947166" y="6369050"/>
              <a:ext cx="5597346"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Sources: Paper Tables III–IV; reports/paper_comparison/statistical_models.csv</a:t>
              </a:r>
            </a:p>
          </p:txBody>
        </p:sp>
        <p:sp>
          <p:nvSpPr>
            <p:cNvPr id="25" name="TextBox 25"/>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36498" y="546100"/>
            <a:ext cx="10465370" cy="946277"/>
            <a:chOff x="936498" y="546100"/>
            <a:chExt cx="10465370" cy="946277"/>
          </a:xfrm>
        </p:grpSpPr>
        <p:sp>
          <p:nvSpPr>
            <p:cNvPr id="3" name="TextBox 3"/>
            <p:cNvSpPr txBox="1"/>
            <p:nvPr/>
          </p:nvSpPr>
          <p:spPr>
            <a:xfrm>
              <a:off x="946404" y="546100"/>
              <a:ext cx="3447288"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07 · PAPER TIME-SERIES RESULTS</a:t>
              </a:r>
            </a:p>
          </p:txBody>
        </p:sp>
        <p:sp>
          <p:nvSpPr>
            <p:cNvPr id="4" name="TextBox 4"/>
            <p:cNvSpPr txBox="1"/>
            <p:nvPr/>
          </p:nvSpPr>
          <p:spPr>
            <a:xfrm>
              <a:off x="936498" y="876300"/>
              <a:ext cx="10465370"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A few clumps recover most discriminative signal</a:t>
              </a:r>
            </a:p>
          </p:txBody>
        </p:sp>
      </p:grpSp>
      <p:grpSp>
        <p:nvGrpSpPr>
          <p:cNvPr id="11" name="paper-window-sweep"/>
          <p:cNvGrpSpPr/>
          <p:nvPr/>
        </p:nvGrpSpPr>
        <p:grpSpPr>
          <a:xfrm>
            <a:off x="-6381750" y="1771650"/>
            <a:ext cx="15449550" cy="3829050"/>
            <a:chOff x="-6381750" y="1771650"/>
            <a:chExt cx="15449550" cy="3829050"/>
          </a:xfrm>
        </p:grpSpPr>
        <p:graphicFrame>
          <p:nvGraphicFramePr>
            <p:cNvPr id="6" name="paper-window-sweep"/>
            <p:cNvGraphicFramePr>
              <a:graphicFrameLocks noGrp="1"/>
            </p:cNvGraphicFramePr>
            <p:nvPr/>
          </p:nvGraphicFramePr>
          <p:xfrm>
            <a:off x="952500" y="1771650"/>
            <a:ext cx="7810500" cy="3829050"/>
          </p:xfrm>
          <a:graphic>
            <a:graphicData uri="http://schemas.openxmlformats.org/drawingml/2006/chart">
              <c:chart xmlns:c="http://schemas.openxmlformats.org/drawingml/2006/chart" r:id="rId2"/>
            </a:graphicData>
          </a:graphic>
        </p:graphicFrame>
        <p:sp>
          <p:nvSpPr>
            <p:cNvPr id="7" name="Chart Note 7"/>
            <p:cNvSpPr txBox="1"/>
            <p:nvPr/>
          </p:nvSpPr>
          <p:spPr>
            <a:xfrm>
              <a:off x="1257300" y="1915478"/>
              <a:ext cx="7810500" cy="213360"/>
            </a:xfrm>
            <a:prstGeom prst="rect">
              <a:avLst/>
            </a:prstGeom>
            <a:noFill/>
            <a:ln>
              <a:noFill/>
            </a:ln>
          </p:spPr>
          <p:txBody>
            <a:bodyPr wrap="square" lIns="0" tIns="0" rIns="0" bIns="0" anchor="b" anchorCtr="0"/>
            <a:lstStyle/>
            <a:p>
              <a:pPr algn="l"/>
              <a:r>
                <a:rPr lang="en-US" sz="1050">
                  <a:solidFill>
                    <a:srgbClr val="5B6875"/>
                  </a:solidFill>
                  <a:latin typeface="Aptos"/>
                  <a:ea typeface="Microsoft YaHei"/>
                  <a:cs typeface="Aptos"/>
                </a:rPr>
                <a:t>F1 by number of observed clumps</a:t>
              </a:r>
            </a:p>
          </p:txBody>
        </p:sp>
        <p:sp>
          <p:nvSpPr>
            <p:cNvPr id="8" name="Chart Note 8"/>
            <p:cNvSpPr txBox="1"/>
            <p:nvPr/>
          </p:nvSpPr>
          <p:spPr>
            <a:xfrm>
              <a:off x="-6381750" y="2258378"/>
              <a:ext cx="7810500" cy="213360"/>
            </a:xfrm>
            <a:prstGeom prst="rect">
              <a:avLst/>
            </a:prstGeom>
            <a:noFill/>
            <a:ln>
              <a:noFill/>
            </a:ln>
          </p:spPr>
          <p:txBody>
            <a:bodyPr wrap="square" lIns="0" tIns="0" rIns="0" bIns="0" anchor="b" anchorCtr="0"/>
            <a:lstStyle/>
            <a:p>
              <a:pPr algn="r"/>
              <a:r>
                <a:rPr lang="en-US" sz="1050">
                  <a:solidFill>
                    <a:srgbClr val="5B6875"/>
                  </a:solidFill>
                  <a:latin typeface="Aptos"/>
                  <a:ea typeface="Microsoft YaHei"/>
                  <a:cs typeface="Aptos"/>
                </a:rPr>
                <a:t>1.00</a:t>
              </a:r>
            </a:p>
          </p:txBody>
        </p:sp>
        <p:sp>
          <p:nvSpPr>
            <p:cNvPr id="9" name="Chart Note 9"/>
            <p:cNvSpPr txBox="1"/>
            <p:nvPr/>
          </p:nvSpPr>
          <p:spPr>
            <a:xfrm>
              <a:off x="-6381750" y="3287078"/>
              <a:ext cx="7810500" cy="213360"/>
            </a:xfrm>
            <a:prstGeom prst="rect">
              <a:avLst/>
            </a:prstGeom>
            <a:noFill/>
            <a:ln>
              <a:noFill/>
            </a:ln>
          </p:spPr>
          <p:txBody>
            <a:bodyPr wrap="square" lIns="0" tIns="0" rIns="0" bIns="0" anchor="b" anchorCtr="0"/>
            <a:lstStyle/>
            <a:p>
              <a:pPr algn="r"/>
              <a:r>
                <a:rPr lang="en-US" sz="1050">
                  <a:solidFill>
                    <a:srgbClr val="5B6875"/>
                  </a:solidFill>
                  <a:latin typeface="Aptos"/>
                  <a:ea typeface="Microsoft YaHei"/>
                  <a:cs typeface="Aptos"/>
                </a:rPr>
                <a:t>0.90</a:t>
              </a:r>
            </a:p>
          </p:txBody>
        </p:sp>
        <p:sp>
          <p:nvSpPr>
            <p:cNvPr id="10" name="Chart Note 10"/>
            <p:cNvSpPr txBox="1"/>
            <p:nvPr/>
          </p:nvSpPr>
          <p:spPr>
            <a:xfrm>
              <a:off x="-6381750" y="4315778"/>
              <a:ext cx="7810500" cy="213360"/>
            </a:xfrm>
            <a:prstGeom prst="rect">
              <a:avLst/>
            </a:prstGeom>
            <a:noFill/>
            <a:ln>
              <a:noFill/>
            </a:ln>
          </p:spPr>
          <p:txBody>
            <a:bodyPr wrap="square" lIns="0" tIns="0" rIns="0" bIns="0" anchor="b" anchorCtr="0"/>
            <a:lstStyle/>
            <a:p>
              <a:pPr algn="r"/>
              <a:r>
                <a:rPr lang="en-US" sz="1050">
                  <a:solidFill>
                    <a:srgbClr val="5B6875"/>
                  </a:solidFill>
                  <a:latin typeface="Aptos"/>
                  <a:ea typeface="Microsoft YaHei"/>
                  <a:cs typeface="Aptos"/>
                </a:rPr>
                <a:t>0.80</a:t>
              </a:r>
            </a:p>
          </p:txBody>
        </p:sp>
      </p:grpSp>
      <p:grpSp>
        <p:nvGrpSpPr>
          <p:cNvPr id="23" name="latency-callouts"/>
          <p:cNvGrpSpPr/>
          <p:nvPr/>
        </p:nvGrpSpPr>
        <p:grpSpPr>
          <a:xfrm>
            <a:off x="9124950" y="1771650"/>
            <a:ext cx="2114550" cy="3829050"/>
            <a:chOff x="9124950" y="1771650"/>
            <a:chExt cx="2114550" cy="3829050"/>
          </a:xfrm>
        </p:grpSpPr>
        <p:sp>
          <p:nvSpPr>
            <p:cNvPr id="12" name="Rectangle 12"/>
            <p:cNvSpPr/>
            <p:nvPr/>
          </p:nvSpPr>
          <p:spPr>
            <a:xfrm>
              <a:off x="9124950" y="1771650"/>
              <a:ext cx="2114550" cy="3829050"/>
            </a:xfrm>
            <a:prstGeom prst="roundRect">
              <a:avLst>
                <a:gd name="adj" fmla="val 4505"/>
              </a:avLst>
            </a:prstGeom>
            <a:solidFill>
              <a:schemeClr val="accent1"/>
            </a:solidFill>
            <a:ln>
              <a:noFill/>
            </a:ln>
          </p:spPr>
        </p:sp>
        <p:grpSp>
          <p:nvGrpSpPr>
            <p:cNvPr id="15" name="Group 15"/>
            <p:cNvGrpSpPr/>
            <p:nvPr/>
          </p:nvGrpSpPr>
          <p:grpSpPr>
            <a:xfrm>
              <a:off x="9479756" y="2145506"/>
              <a:ext cx="300038" cy="300038"/>
              <a:chOff x="9479756" y="2145506"/>
              <a:chExt cx="300038" cy="300038"/>
            </a:xfrm>
          </p:grpSpPr>
          <p:sp>
            <p:nvSpPr>
              <p:cNvPr id="13" name="Freeform 13"/>
              <p:cNvSpPr/>
              <p:nvPr/>
            </p:nvSpPr>
            <p:spPr>
              <a:xfrm>
                <a:off x="9479756" y="2145506"/>
                <a:ext cx="300038" cy="300038"/>
              </a:xfrm>
              <a:custGeom>
                <a:avLst/>
                <a:gdLst/>
                <a:ahLst/>
                <a:cxnLst/>
                <a:rect l="l" t="t" r="r" b="b"/>
                <a:pathLst>
                  <a:path w="300038" h="300038">
                    <a:moveTo>
                      <a:pt x="0" y="150019"/>
                    </a:moveTo>
                    <a:cubicBezTo>
                      <a:pt x="0" y="232872"/>
                      <a:pt x="67166" y="300038"/>
                      <a:pt x="150019" y="300038"/>
                    </a:cubicBezTo>
                    <a:cubicBezTo>
                      <a:pt x="232872" y="300038"/>
                      <a:pt x="300038" y="232872"/>
                      <a:pt x="300038" y="150019"/>
                    </a:cubicBezTo>
                    <a:cubicBezTo>
                      <a:pt x="300038" y="67166"/>
                      <a:pt x="232872" y="0"/>
                      <a:pt x="150019" y="0"/>
                    </a:cubicBezTo>
                    <a:cubicBezTo>
                      <a:pt x="67166" y="0"/>
                      <a:pt x="0" y="67166"/>
                      <a:pt x="0" y="150019"/>
                    </a:cubicBezTo>
                  </a:path>
                </a:pathLst>
              </a:custGeom>
              <a:noFill/>
              <a:ln w="33338">
                <a:solidFill>
                  <a:srgbClr val="FFFFFF"/>
                </a:solidFill>
              </a:ln>
            </p:spPr>
          </p:sp>
          <p:sp>
            <p:nvSpPr>
              <p:cNvPr id="14" name="Freeform 14"/>
              <p:cNvSpPr/>
              <p:nvPr/>
            </p:nvSpPr>
            <p:spPr>
              <a:xfrm>
                <a:off x="9629775" y="2212181"/>
                <a:ext cx="50006" cy="133350"/>
              </a:xfrm>
              <a:custGeom>
                <a:avLst/>
                <a:gdLst/>
                <a:ahLst/>
                <a:cxnLst/>
                <a:rect l="l" t="t" r="r" b="b"/>
                <a:pathLst>
                  <a:path w="50006" h="133350">
                    <a:moveTo>
                      <a:pt x="0" y="0"/>
                    </a:moveTo>
                    <a:lnTo>
                      <a:pt x="0" y="83344"/>
                    </a:lnTo>
                    <a:lnTo>
                      <a:pt x="50006" y="133350"/>
                    </a:lnTo>
                  </a:path>
                </a:pathLst>
              </a:custGeom>
              <a:noFill/>
              <a:ln w="33338">
                <a:solidFill>
                  <a:srgbClr val="FFFFFF"/>
                </a:solidFill>
              </a:ln>
            </p:spPr>
          </p:sp>
        </p:grpSp>
        <p:sp>
          <p:nvSpPr>
            <p:cNvPr id="16" name="TextBox 16"/>
            <p:cNvSpPr txBox="1"/>
            <p:nvPr/>
          </p:nvSpPr>
          <p:spPr>
            <a:xfrm>
              <a:off x="9413748" y="2533650"/>
              <a:ext cx="1664608"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Consolas"/>
                  <a:ea typeface="Consolas"/>
                  <a:cs typeface="Consolas"/>
                </a:rPr>
                <a:t>0.574 s</a:t>
              </a:r>
            </a:p>
          </p:txBody>
        </p:sp>
        <p:sp>
          <p:nvSpPr>
            <p:cNvPr id="17" name="TextBox 17"/>
            <p:cNvSpPr txBox="1"/>
            <p:nvPr/>
          </p:nvSpPr>
          <p:spPr>
            <a:xfrm>
              <a:off x="9423654" y="3060700"/>
              <a:ext cx="1047674" cy="234696"/>
            </a:xfrm>
            <a:prstGeom prst="rect">
              <a:avLst/>
            </a:prstGeom>
            <a:noFill/>
            <a:ln>
              <a:noFill/>
            </a:ln>
          </p:spPr>
          <p:txBody>
            <a:bodyPr wrap="none" lIns="0" tIns="0" rIns="0" bIns="0" anchor="t" anchorCtr="0">
              <a:spAutoFit/>
            </a:bodyPr>
            <a:lstStyle/>
            <a:p>
              <a:pPr algn="l"/>
              <a:r>
                <a:rPr lang="en-US" sz="1200" dirty="0">
                  <a:solidFill>
                    <a:srgbClr val="C9EAF0"/>
                  </a:solidFill>
                  <a:latin typeface="+mn-lt"/>
                  <a:ea typeface="+mn-ea"/>
                  <a:cs typeface="+mn-cs"/>
                </a:rPr>
                <a:t>L1 mean · l=6</a:t>
              </a:r>
            </a:p>
          </p:txBody>
        </p:sp>
        <p:sp>
          <p:nvSpPr>
            <p:cNvPr id="18" name="Line 18"/>
            <p:cNvSpPr/>
            <p:nvPr/>
          </p:nvSpPr>
          <p:spPr>
            <a:xfrm>
              <a:off x="9429750" y="3543300"/>
              <a:ext cx="1504950" cy="9525"/>
            </a:xfrm>
            <a:custGeom>
              <a:avLst/>
              <a:gdLst/>
              <a:ahLst/>
              <a:cxnLst/>
              <a:rect l="l" t="t" r="r" b="b"/>
              <a:pathLst>
                <a:path w="1504950" h="9525">
                  <a:moveTo>
                    <a:pt x="0" y="0"/>
                  </a:moveTo>
                  <a:lnTo>
                    <a:pt x="1504950" y="0"/>
                  </a:lnTo>
                </a:path>
              </a:pathLst>
            </a:custGeom>
            <a:noFill/>
            <a:ln w="9525">
              <a:solidFill>
                <a:srgbClr val="5B6875"/>
              </a:solidFill>
            </a:ln>
          </p:spPr>
        </p:sp>
        <p:sp>
          <p:nvSpPr>
            <p:cNvPr id="19" name="TextBox 19"/>
            <p:cNvSpPr txBox="1"/>
            <p:nvPr/>
          </p:nvSpPr>
          <p:spPr>
            <a:xfrm>
              <a:off x="9413748" y="3714750"/>
              <a:ext cx="1664608"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Consolas"/>
                  <a:ea typeface="Consolas"/>
                  <a:cs typeface="Consolas"/>
                </a:rPr>
                <a:t>0.502 s</a:t>
              </a:r>
            </a:p>
          </p:txBody>
        </p:sp>
        <p:sp>
          <p:nvSpPr>
            <p:cNvPr id="20" name="TextBox 20"/>
            <p:cNvSpPr txBox="1"/>
            <p:nvPr/>
          </p:nvSpPr>
          <p:spPr>
            <a:xfrm>
              <a:off x="9423654" y="4241800"/>
              <a:ext cx="1047674" cy="234696"/>
            </a:xfrm>
            <a:prstGeom prst="rect">
              <a:avLst/>
            </a:prstGeom>
            <a:noFill/>
            <a:ln>
              <a:noFill/>
            </a:ln>
          </p:spPr>
          <p:txBody>
            <a:bodyPr wrap="none" lIns="0" tIns="0" rIns="0" bIns="0" anchor="t" anchorCtr="0">
              <a:spAutoFit/>
            </a:bodyPr>
            <a:lstStyle/>
            <a:p>
              <a:pPr algn="l"/>
              <a:r>
                <a:rPr lang="en-US" sz="1200" dirty="0">
                  <a:solidFill>
                    <a:srgbClr val="C9EAF0"/>
                  </a:solidFill>
                  <a:latin typeface="+mn-lt"/>
                  <a:ea typeface="+mn-ea"/>
                  <a:cs typeface="+mn-cs"/>
                </a:rPr>
                <a:t>L2 mean · l=3</a:t>
              </a:r>
            </a:p>
          </p:txBody>
        </p:sp>
        <p:sp>
          <p:nvSpPr>
            <p:cNvPr id="21" name="TextBox 21"/>
            <p:cNvSpPr txBox="1"/>
            <p:nvPr/>
          </p:nvSpPr>
          <p:spPr>
            <a:xfrm>
              <a:off x="9423654" y="4870450"/>
              <a:ext cx="1762065"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Paper-selected points</a:t>
              </a:r>
            </a:p>
          </p:txBody>
        </p:sp>
        <p:sp>
          <p:nvSpPr>
            <p:cNvPr id="22" name="TextBox 22"/>
            <p:cNvSpPr txBox="1"/>
            <p:nvPr/>
          </p:nvSpPr>
          <p:spPr>
            <a:xfrm>
              <a:off x="9423654" y="5118100"/>
              <a:ext cx="660806"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mn-lt"/>
                  <a:ea typeface="+mn-ea"/>
                  <a:cs typeface="+mn-cs"/>
                </a:rPr>
                <a:t>≈99% F1</a:t>
              </a:r>
            </a:p>
          </p:txBody>
        </p:sp>
      </p:grpSp>
      <p:grpSp>
        <p:nvGrpSpPr>
          <p:cNvPr id="25" name="takeaway"/>
          <p:cNvGrpSpPr/>
          <p:nvPr/>
        </p:nvGrpSpPr>
        <p:grpSpPr>
          <a:xfrm>
            <a:off x="944118" y="5848350"/>
            <a:ext cx="7779334" cy="322707"/>
            <a:chOff x="944118" y="5848350"/>
            <a:chExt cx="7779334" cy="322707"/>
          </a:xfrm>
        </p:grpSpPr>
        <p:sp>
          <p:nvSpPr>
            <p:cNvPr id="24" name="TextBox 24"/>
            <p:cNvSpPr txBox="1"/>
            <p:nvPr/>
          </p:nvSpPr>
          <p:spPr>
            <a:xfrm>
              <a:off x="944118" y="5848350"/>
              <a:ext cx="777933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Paper claim: early sequence decisions can replace full-flow waiting.</a:t>
              </a:r>
            </a:p>
          </p:txBody>
        </p:sp>
      </p:grpSp>
      <p:grpSp>
        <p:nvGrpSpPr>
          <p:cNvPr id="28" name="footer"/>
          <p:cNvGrpSpPr/>
          <p:nvPr/>
        </p:nvGrpSpPr>
        <p:grpSpPr>
          <a:xfrm>
            <a:off x="947166" y="6369050"/>
            <a:ext cx="10297668" cy="205359"/>
            <a:chOff x="947166" y="6369050"/>
            <a:chExt cx="10297668" cy="205359"/>
          </a:xfrm>
        </p:grpSpPr>
        <p:sp>
          <p:nvSpPr>
            <p:cNvPr id="26" name="TextBox 26"/>
            <p:cNvSpPr txBox="1"/>
            <p:nvPr/>
          </p:nvSpPr>
          <p:spPr>
            <a:xfrm>
              <a:off x="947166" y="6369050"/>
              <a:ext cx="3482538"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Paper Tables V–VI; paper-reported timing</a:t>
              </a:r>
            </a:p>
          </p:txBody>
        </p:sp>
        <p:sp>
          <p:nvSpPr>
            <p:cNvPr id="27" name="TextBox 27"/>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41070" y="546100"/>
            <a:ext cx="8778854" cy="871855"/>
            <a:chOff x="941070" y="546100"/>
            <a:chExt cx="8778854" cy="871855"/>
          </a:xfrm>
        </p:grpSpPr>
        <p:sp>
          <p:nvSpPr>
            <p:cNvPr id="3" name="TextBox 3"/>
            <p:cNvSpPr txBox="1"/>
            <p:nvPr/>
          </p:nvSpPr>
          <p:spPr>
            <a:xfrm>
              <a:off x="946404" y="546100"/>
              <a:ext cx="3332074"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08 · REPRODUCTION CORRECTIONS</a:t>
              </a:r>
            </a:p>
          </p:txBody>
        </p:sp>
        <p:sp>
          <p:nvSpPr>
            <p:cNvPr id="4" name="TextBox 4"/>
            <p:cNvSpPr txBox="1"/>
            <p:nvPr/>
          </p:nvSpPr>
          <p:spPr>
            <a:xfrm>
              <a:off x="941070" y="977900"/>
              <a:ext cx="8778854"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Reproducibility required fixing method and protocol gaps</a:t>
              </a:r>
            </a:p>
          </p:txBody>
        </p:sp>
      </p:grpSp>
      <p:grpSp>
        <p:nvGrpSpPr>
          <p:cNvPr id="24" name="correction-ledger"/>
          <p:cNvGrpSpPr/>
          <p:nvPr/>
        </p:nvGrpSpPr>
        <p:grpSpPr>
          <a:xfrm>
            <a:off x="952500" y="1752600"/>
            <a:ext cx="10287000" cy="3829050"/>
            <a:chOff x="952500" y="1752600"/>
            <a:chExt cx="10287000" cy="3829050"/>
          </a:xfrm>
        </p:grpSpPr>
        <p:sp>
          <p:nvSpPr>
            <p:cNvPr id="6" name="Rectangle 6"/>
            <p:cNvSpPr/>
            <p:nvPr/>
          </p:nvSpPr>
          <p:spPr>
            <a:xfrm>
              <a:off x="952500" y="1752600"/>
              <a:ext cx="10287000" cy="3829050"/>
            </a:xfrm>
            <a:prstGeom prst="roundRect">
              <a:avLst>
                <a:gd name="adj" fmla="val 2488"/>
              </a:avLst>
            </a:prstGeom>
            <a:solidFill>
              <a:srgbClr val="FFFFFF"/>
            </a:solidFill>
            <a:ln w="19050">
              <a:solidFill>
                <a:schemeClr val="accent6"/>
              </a:solidFill>
            </a:ln>
          </p:spPr>
        </p:sp>
        <p:sp>
          <p:nvSpPr>
            <p:cNvPr id="7" name="Rectangle 7"/>
            <p:cNvSpPr/>
            <p:nvPr/>
          </p:nvSpPr>
          <p:spPr>
            <a:xfrm>
              <a:off x="952500" y="1752600"/>
              <a:ext cx="10287000" cy="552450"/>
            </a:xfrm>
            <a:prstGeom prst="roundRect">
              <a:avLst>
                <a:gd name="adj" fmla="val 17241"/>
              </a:avLst>
            </a:prstGeom>
            <a:solidFill>
              <a:schemeClr val="accent1"/>
            </a:solidFill>
            <a:ln>
              <a:noFill/>
            </a:ln>
          </p:spPr>
        </p:sp>
        <p:sp>
          <p:nvSpPr>
            <p:cNvPr id="8" name="TextBox 8"/>
            <p:cNvSpPr txBox="1"/>
            <p:nvPr/>
          </p:nvSpPr>
          <p:spPr>
            <a:xfrm>
              <a:off x="1250442" y="1952625"/>
              <a:ext cx="1586393"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PAPER GAP / RISK</a:t>
              </a:r>
            </a:p>
          </p:txBody>
        </p:sp>
        <p:sp>
          <p:nvSpPr>
            <p:cNvPr id="9" name="TextBox 9"/>
            <p:cNvSpPr txBox="1"/>
            <p:nvPr/>
          </p:nvSpPr>
          <p:spPr>
            <a:xfrm>
              <a:off x="6336792" y="1952625"/>
              <a:ext cx="2029968" cy="264033"/>
            </a:xfrm>
            <a:prstGeom prst="rect">
              <a:avLst/>
            </a:prstGeom>
            <a:noFill/>
            <a:ln>
              <a:noFill/>
            </a:ln>
          </p:spPr>
          <p:txBody>
            <a:bodyPr wrap="none" lIns="0" tIns="0" rIns="0" bIns="0" anchor="t" anchorCtr="0">
              <a:spAutoFit/>
            </a:bodyPr>
            <a:lstStyle/>
            <a:p>
              <a:pPr algn="l"/>
              <a:r>
                <a:rPr lang="en-US" sz="1350" b="1" dirty="0">
                  <a:solidFill>
                    <a:srgbClr val="C9EAF0"/>
                  </a:solidFill>
                  <a:latin typeface="+mn-lt"/>
                  <a:ea typeface="+mn-ea"/>
                  <a:cs typeface="+mn-cs"/>
                </a:rPr>
                <a:t>PROJECT CORRECTION</a:t>
              </a:r>
            </a:p>
          </p:txBody>
        </p:sp>
        <p:sp>
          <p:nvSpPr>
            <p:cNvPr id="10" name="Line 10"/>
            <p:cNvSpPr/>
            <p:nvPr/>
          </p:nvSpPr>
          <p:spPr>
            <a:xfrm>
              <a:off x="6096000" y="2305050"/>
              <a:ext cx="9525" cy="3276600"/>
            </a:xfrm>
            <a:custGeom>
              <a:avLst/>
              <a:gdLst/>
              <a:ahLst/>
              <a:cxnLst/>
              <a:rect l="l" t="t" r="r" b="b"/>
              <a:pathLst>
                <a:path w="9525" h="3276600">
                  <a:moveTo>
                    <a:pt x="0" y="0"/>
                  </a:moveTo>
                  <a:lnTo>
                    <a:pt x="0" y="3276600"/>
                  </a:lnTo>
                </a:path>
              </a:pathLst>
            </a:custGeom>
            <a:noFill/>
            <a:ln w="19050">
              <a:solidFill>
                <a:schemeClr val="accent6"/>
              </a:solidFill>
            </a:ln>
          </p:spPr>
        </p:sp>
        <p:sp>
          <p:nvSpPr>
            <p:cNvPr id="11" name="TextBox 11"/>
            <p:cNvSpPr txBox="1"/>
            <p:nvPr/>
          </p:nvSpPr>
          <p:spPr>
            <a:xfrm>
              <a:off x="1249680" y="2546350"/>
              <a:ext cx="353503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Printed clump termination inversion</a:t>
              </a:r>
            </a:p>
          </p:txBody>
        </p:sp>
        <p:sp>
          <p:nvSpPr>
            <p:cNvPr id="12" name="TextBox 12"/>
            <p:cNvSpPr txBox="1"/>
            <p:nvPr/>
          </p:nvSpPr>
          <p:spPr>
            <a:xfrm>
              <a:off x="6336030" y="2546350"/>
              <a:ext cx="354556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Stop on direction change or timeout</a:t>
              </a:r>
            </a:p>
          </p:txBody>
        </p:sp>
        <p:sp>
          <p:nvSpPr>
            <p:cNvPr id="13" name="Line 13"/>
            <p:cNvSpPr/>
            <p:nvPr/>
          </p:nvSpPr>
          <p:spPr>
            <a:xfrm>
              <a:off x="1181100" y="2990850"/>
              <a:ext cx="9829800" cy="9525"/>
            </a:xfrm>
            <a:custGeom>
              <a:avLst/>
              <a:gdLst/>
              <a:ahLst/>
              <a:cxnLst/>
              <a:rect l="l" t="t" r="r" b="b"/>
              <a:pathLst>
                <a:path w="9829800" h="9525">
                  <a:moveTo>
                    <a:pt x="0" y="0"/>
                  </a:moveTo>
                  <a:lnTo>
                    <a:pt x="9829800" y="0"/>
                  </a:lnTo>
                </a:path>
              </a:pathLst>
            </a:custGeom>
            <a:noFill/>
            <a:ln w="19050">
              <a:solidFill>
                <a:srgbClr val="EAF0F5"/>
              </a:solidFill>
            </a:ln>
          </p:spPr>
        </p:sp>
        <p:sp>
          <p:nvSpPr>
            <p:cNvPr id="14" name="TextBox 14"/>
            <p:cNvSpPr txBox="1"/>
            <p:nvPr/>
          </p:nvSpPr>
          <p:spPr>
            <a:xfrm>
              <a:off x="1249680" y="3251200"/>
              <a:ext cx="389937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Out-of-bounds access after increment</a:t>
              </a:r>
            </a:p>
          </p:txBody>
        </p:sp>
        <p:sp>
          <p:nvSpPr>
            <p:cNvPr id="15" name="TextBox 15"/>
            <p:cNvSpPr txBox="1"/>
            <p:nvPr/>
          </p:nvSpPr>
          <p:spPr>
            <a:xfrm>
              <a:off x="6336030" y="3251200"/>
              <a:ext cx="360604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Bounds check before packet indexing</a:t>
              </a:r>
            </a:p>
          </p:txBody>
        </p:sp>
        <p:sp>
          <p:nvSpPr>
            <p:cNvPr id="16" name="Line 16"/>
            <p:cNvSpPr/>
            <p:nvPr/>
          </p:nvSpPr>
          <p:spPr>
            <a:xfrm>
              <a:off x="1181100" y="3695700"/>
              <a:ext cx="9829800" cy="9525"/>
            </a:xfrm>
            <a:custGeom>
              <a:avLst/>
              <a:gdLst/>
              <a:ahLst/>
              <a:cxnLst/>
              <a:rect l="l" t="t" r="r" b="b"/>
              <a:pathLst>
                <a:path w="9829800" h="9525">
                  <a:moveTo>
                    <a:pt x="0" y="0"/>
                  </a:moveTo>
                  <a:lnTo>
                    <a:pt x="9829800" y="0"/>
                  </a:lnTo>
                </a:path>
              </a:pathLst>
            </a:custGeom>
            <a:noFill/>
            <a:ln w="19050">
              <a:solidFill>
                <a:srgbClr val="EAF0F5"/>
              </a:solidFill>
            </a:ln>
          </p:spPr>
        </p:sp>
        <p:sp>
          <p:nvSpPr>
            <p:cNvPr id="17" name="TextBox 17"/>
            <p:cNvSpPr txBox="1"/>
            <p:nvPr/>
          </p:nvSpPr>
          <p:spPr>
            <a:xfrm>
              <a:off x="1249680" y="3956050"/>
              <a:ext cx="315148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Unspecified optimizer and seeds</a:t>
              </a:r>
            </a:p>
          </p:txBody>
        </p:sp>
        <p:sp>
          <p:nvSpPr>
            <p:cNvPr id="18" name="TextBox 18"/>
            <p:cNvSpPr txBox="1"/>
            <p:nvPr/>
          </p:nvSpPr>
          <p:spPr>
            <a:xfrm>
              <a:off x="6336030" y="3956050"/>
              <a:ext cx="452556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Pinned configs, seed 42, immutable manifests</a:t>
              </a:r>
            </a:p>
          </p:txBody>
        </p:sp>
        <p:sp>
          <p:nvSpPr>
            <p:cNvPr id="19" name="Line 19"/>
            <p:cNvSpPr/>
            <p:nvPr/>
          </p:nvSpPr>
          <p:spPr>
            <a:xfrm>
              <a:off x="1181100" y="4400550"/>
              <a:ext cx="9829800" cy="9525"/>
            </a:xfrm>
            <a:custGeom>
              <a:avLst/>
              <a:gdLst/>
              <a:ahLst/>
              <a:cxnLst/>
              <a:rect l="l" t="t" r="r" b="b"/>
              <a:pathLst>
                <a:path w="9829800" h="9525">
                  <a:moveTo>
                    <a:pt x="0" y="0"/>
                  </a:moveTo>
                  <a:lnTo>
                    <a:pt x="9829800" y="0"/>
                  </a:lnTo>
                </a:path>
              </a:pathLst>
            </a:custGeom>
            <a:noFill/>
            <a:ln w="19050">
              <a:solidFill>
                <a:srgbClr val="EAF0F5"/>
              </a:solidFill>
            </a:ln>
          </p:spPr>
        </p:sp>
        <p:sp>
          <p:nvSpPr>
            <p:cNvPr id="20" name="TextBox 20"/>
            <p:cNvSpPr txBox="1"/>
            <p:nvPr/>
          </p:nvSpPr>
          <p:spPr>
            <a:xfrm>
              <a:off x="1249680" y="4660900"/>
              <a:ext cx="357591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Flow-random train/test correlation</a:t>
              </a:r>
            </a:p>
          </p:txBody>
        </p:sp>
        <p:sp>
          <p:nvSpPr>
            <p:cNvPr id="21" name="TextBox 21"/>
            <p:cNvSpPr txBox="1"/>
            <p:nvPr/>
          </p:nvSpPr>
          <p:spPr>
            <a:xfrm>
              <a:off x="6336030" y="4660900"/>
              <a:ext cx="367644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Session/scenario group-disjoint split</a:t>
              </a:r>
            </a:p>
          </p:txBody>
        </p:sp>
        <p:sp>
          <p:nvSpPr>
            <p:cNvPr id="22" name="TextBox 22"/>
            <p:cNvSpPr txBox="1"/>
            <p:nvPr/>
          </p:nvSpPr>
          <p:spPr>
            <a:xfrm>
              <a:off x="1251204" y="5175250"/>
              <a:ext cx="3801466"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Consolas"/>
                  <a:ea typeface="Consolas"/>
                  <a:cs typeface="Consolas"/>
                </a:rPr>
                <a:t>baseline: Dense(10) → LSTM(8×4) → Dense(1)</a:t>
              </a:r>
            </a:p>
          </p:txBody>
        </p:sp>
        <p:sp>
          <p:nvSpPr>
            <p:cNvPr id="23" name="TextBox 23"/>
            <p:cNvSpPr txBox="1"/>
            <p:nvPr/>
          </p:nvSpPr>
          <p:spPr>
            <a:xfrm>
              <a:off x="6337554" y="5175250"/>
              <a:ext cx="4214368"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Consolas"/>
                  <a:ea typeface="Consolas"/>
                  <a:cs typeface="Consolas"/>
                </a:rPr>
                <a:t>improved: mask → BiGRU → attention → classifier</a:t>
              </a:r>
            </a:p>
          </p:txBody>
        </p:sp>
      </p:grpSp>
      <p:grpSp>
        <p:nvGrpSpPr>
          <p:cNvPr id="27" name="verification"/>
          <p:cNvGrpSpPr/>
          <p:nvPr/>
        </p:nvGrpSpPr>
        <p:grpSpPr>
          <a:xfrm>
            <a:off x="1019969" y="5829300"/>
            <a:ext cx="8448213" cy="322707"/>
            <a:chOff x="1019969" y="5829300"/>
            <a:chExt cx="8448213" cy="322707"/>
          </a:xfrm>
        </p:grpSpPr>
        <p:sp>
          <p:nvSpPr>
            <p:cNvPr id="25" name="Freeform 25"/>
            <p:cNvSpPr/>
            <p:nvPr/>
          </p:nvSpPr>
          <p:spPr>
            <a:xfrm>
              <a:off x="1019969" y="5847556"/>
              <a:ext cx="202407" cy="134938"/>
            </a:xfrm>
            <a:custGeom>
              <a:avLst/>
              <a:gdLst/>
              <a:ahLst/>
              <a:cxnLst/>
              <a:rect l="l" t="t" r="r" b="b"/>
              <a:pathLst>
                <a:path w="202407" h="134938">
                  <a:moveTo>
                    <a:pt x="0" y="67469"/>
                  </a:moveTo>
                  <a:lnTo>
                    <a:pt x="67469" y="134938"/>
                  </a:lnTo>
                  <a:lnTo>
                    <a:pt x="202407" y="0"/>
                  </a:lnTo>
                </a:path>
              </a:pathLst>
            </a:custGeom>
            <a:noFill/>
            <a:ln w="26988">
              <a:solidFill>
                <a:srgbClr val="15803D"/>
              </a:solidFill>
            </a:ln>
          </p:spPr>
        </p:sp>
        <p:sp>
          <p:nvSpPr>
            <p:cNvPr id="26" name="TextBox 26"/>
            <p:cNvSpPr txBox="1"/>
            <p:nvPr/>
          </p:nvSpPr>
          <p:spPr>
            <a:xfrm>
              <a:off x="1420368" y="5829300"/>
              <a:ext cx="804781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All corrections are encoded in code, manifests, and regression tests.</a:t>
              </a:r>
            </a:p>
          </p:txBody>
        </p:sp>
      </p:grpSp>
      <p:grpSp>
        <p:nvGrpSpPr>
          <p:cNvPr id="30" name="footer"/>
          <p:cNvGrpSpPr/>
          <p:nvPr/>
        </p:nvGrpSpPr>
        <p:grpSpPr>
          <a:xfrm>
            <a:off x="947166" y="6369050"/>
            <a:ext cx="10297668" cy="205359"/>
            <a:chOff x="947166" y="6369050"/>
            <a:chExt cx="10297668" cy="205359"/>
          </a:xfrm>
        </p:grpSpPr>
        <p:sp>
          <p:nvSpPr>
            <p:cNvPr id="28" name="TextBox 28"/>
            <p:cNvSpPr txBox="1"/>
            <p:nvPr/>
          </p:nvSpPr>
          <p:spPr>
            <a:xfrm>
              <a:off x="947166" y="6369050"/>
              <a:ext cx="5158471"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Sources: paper Algorithm 1; project methodology and experiment manifest</a:t>
              </a:r>
            </a:p>
          </p:txBody>
        </p:sp>
        <p:sp>
          <p:nvSpPr>
            <p:cNvPr id="29" name="TextBox 29"/>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41070" y="546100"/>
            <a:ext cx="9176651" cy="871855"/>
            <a:chOff x="941070" y="546100"/>
            <a:chExt cx="9176651" cy="871855"/>
          </a:xfrm>
        </p:grpSpPr>
        <p:sp>
          <p:nvSpPr>
            <p:cNvPr id="3" name="TextBox 3"/>
            <p:cNvSpPr txBox="1"/>
            <p:nvPr/>
          </p:nvSpPr>
          <p:spPr>
            <a:xfrm>
              <a:off x="946404" y="546100"/>
              <a:ext cx="2064715"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09 · LEAKAGE AUDIT</a:t>
              </a:r>
            </a:p>
          </p:txBody>
        </p:sp>
        <p:sp>
          <p:nvSpPr>
            <p:cNvPr id="4" name="TextBox 4"/>
            <p:cNvSpPr txBox="1"/>
            <p:nvPr/>
          </p:nvSpPr>
          <p:spPr>
            <a:xfrm>
              <a:off x="941070" y="977900"/>
              <a:ext cx="9176651"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Random flow splits overstate cross-session generalization</a:t>
              </a:r>
            </a:p>
          </p:txBody>
        </p:sp>
      </p:grpSp>
      <p:grpSp>
        <p:nvGrpSpPr>
          <p:cNvPr id="10" name="split-comparison"/>
          <p:cNvGrpSpPr/>
          <p:nvPr/>
        </p:nvGrpSpPr>
        <p:grpSpPr>
          <a:xfrm>
            <a:off x="-5791200" y="1752600"/>
            <a:ext cx="14287500" cy="3848100"/>
            <a:chOff x="-5791200" y="1752600"/>
            <a:chExt cx="14287500" cy="3848100"/>
          </a:xfrm>
        </p:grpSpPr>
        <p:graphicFrame>
          <p:nvGraphicFramePr>
            <p:cNvPr id="6" name="split-comparison"/>
            <p:cNvGraphicFramePr>
              <a:graphicFrameLocks noGrp="1"/>
            </p:cNvGraphicFramePr>
            <p:nvPr/>
          </p:nvGraphicFramePr>
          <p:xfrm>
            <a:off x="952500" y="1752600"/>
            <a:ext cx="7239000" cy="3848100"/>
          </p:xfrm>
          <a:graphic>
            <a:graphicData uri="http://schemas.openxmlformats.org/drawingml/2006/chart">
              <c:chart xmlns:c="http://schemas.openxmlformats.org/drawingml/2006/chart" r:id="rId2"/>
            </a:graphicData>
          </a:graphic>
        </p:graphicFrame>
        <p:sp>
          <p:nvSpPr>
            <p:cNvPr id="7" name="Chart Note 7"/>
            <p:cNvSpPr txBox="1"/>
            <p:nvPr/>
          </p:nvSpPr>
          <p:spPr>
            <a:xfrm>
              <a:off x="1257300" y="1915478"/>
              <a:ext cx="7239000" cy="213360"/>
            </a:xfrm>
            <a:prstGeom prst="rect">
              <a:avLst/>
            </a:prstGeom>
            <a:noFill/>
            <a:ln>
              <a:noFill/>
            </a:ln>
          </p:spPr>
          <p:txBody>
            <a:bodyPr wrap="square" lIns="0" tIns="0" rIns="0" bIns="0" anchor="b" anchorCtr="0"/>
            <a:lstStyle/>
            <a:p>
              <a:pPr algn="l"/>
              <a:r>
                <a:rPr lang="en-US" sz="1050">
                  <a:solidFill>
                    <a:srgbClr val="172033"/>
                  </a:solidFill>
                  <a:latin typeface="Aptos"/>
                  <a:ea typeface="Microsoft YaHei"/>
                  <a:cs typeface="Aptos"/>
                </a:rPr>
                <a:t>Paper architecture · F1 at paper-selected windows</a:t>
              </a:r>
            </a:p>
          </p:txBody>
        </p:sp>
        <p:sp>
          <p:nvSpPr>
            <p:cNvPr id="8" name="Chart Note 8"/>
            <p:cNvSpPr txBox="1"/>
            <p:nvPr/>
          </p:nvSpPr>
          <p:spPr>
            <a:xfrm>
              <a:off x="-5791200" y="3572828"/>
              <a:ext cx="7239000" cy="213360"/>
            </a:xfrm>
            <a:prstGeom prst="rect">
              <a:avLst/>
            </a:prstGeom>
            <a:noFill/>
            <a:ln>
              <a:noFill/>
            </a:ln>
          </p:spPr>
          <p:txBody>
            <a:bodyPr wrap="square" lIns="0" tIns="0" rIns="0" bIns="0" anchor="b" anchorCtr="0"/>
            <a:lstStyle/>
            <a:p>
              <a:pPr algn="r"/>
              <a:r>
                <a:rPr lang="en-US" sz="1050">
                  <a:solidFill>
                    <a:srgbClr val="172033"/>
                  </a:solidFill>
                  <a:latin typeface="Aptos"/>
                  <a:ea typeface="Microsoft YaHei"/>
                  <a:cs typeface="Aptos"/>
                </a:rPr>
                <a:t>0.5</a:t>
              </a:r>
            </a:p>
          </p:txBody>
        </p:sp>
        <p:sp>
          <p:nvSpPr>
            <p:cNvPr id="9" name="Chart Note 9"/>
            <p:cNvSpPr txBox="1"/>
            <p:nvPr/>
          </p:nvSpPr>
          <p:spPr>
            <a:xfrm>
              <a:off x="-5791200" y="4868228"/>
              <a:ext cx="7239000" cy="213360"/>
            </a:xfrm>
            <a:prstGeom prst="rect">
              <a:avLst/>
            </a:prstGeom>
            <a:noFill/>
            <a:ln>
              <a:noFill/>
            </a:ln>
          </p:spPr>
          <p:txBody>
            <a:bodyPr wrap="square" lIns="0" tIns="0" rIns="0" bIns="0" anchor="b" anchorCtr="0"/>
            <a:lstStyle/>
            <a:p>
              <a:pPr algn="r"/>
              <a:r>
                <a:rPr lang="en-US" sz="1050">
                  <a:solidFill>
                    <a:srgbClr val="172033"/>
                  </a:solidFill>
                  <a:latin typeface="Aptos"/>
                  <a:ea typeface="Microsoft YaHei"/>
                  <a:cs typeface="Aptos"/>
                </a:rPr>
                <a:t>0.0</a:t>
              </a:r>
            </a:p>
          </p:txBody>
        </p:sp>
      </p:grpSp>
      <p:grpSp>
        <p:nvGrpSpPr>
          <p:cNvPr id="25" name="leakage-explanation"/>
          <p:cNvGrpSpPr/>
          <p:nvPr/>
        </p:nvGrpSpPr>
        <p:grpSpPr>
          <a:xfrm>
            <a:off x="8572500" y="1752600"/>
            <a:ext cx="2678978" cy="3848100"/>
            <a:chOff x="8572500" y="1752600"/>
            <a:chExt cx="2678978" cy="3848100"/>
          </a:xfrm>
        </p:grpSpPr>
        <p:sp>
          <p:nvSpPr>
            <p:cNvPr id="11" name="Rectangle 11"/>
            <p:cNvSpPr/>
            <p:nvPr/>
          </p:nvSpPr>
          <p:spPr>
            <a:xfrm>
              <a:off x="8572500" y="1752600"/>
              <a:ext cx="2667000" cy="3848100"/>
            </a:xfrm>
            <a:prstGeom prst="roundRect">
              <a:avLst>
                <a:gd name="adj" fmla="val 3571"/>
              </a:avLst>
            </a:prstGeom>
            <a:solidFill>
              <a:srgbClr val="FFF7ED"/>
            </a:solidFill>
            <a:ln w="19050">
              <a:solidFill>
                <a:schemeClr val="accent3"/>
              </a:solidFill>
            </a:ln>
          </p:spPr>
        </p:sp>
        <p:grpSp>
          <p:nvGrpSpPr>
            <p:cNvPr id="15" name="Group 15"/>
            <p:cNvGrpSpPr/>
            <p:nvPr/>
          </p:nvGrpSpPr>
          <p:grpSpPr>
            <a:xfrm>
              <a:off x="8893209" y="2125154"/>
              <a:ext cx="368219" cy="316349"/>
              <a:chOff x="8893209" y="2125154"/>
              <a:chExt cx="368219" cy="316349"/>
            </a:xfrm>
          </p:grpSpPr>
          <p:sp>
            <p:nvSpPr>
              <p:cNvPr id="12" name="Freeform 12"/>
              <p:cNvSpPr/>
              <p:nvPr/>
            </p:nvSpPr>
            <p:spPr>
              <a:xfrm>
                <a:off x="9077325" y="2240757"/>
                <a:ext cx="9525" cy="73025"/>
              </a:xfrm>
              <a:custGeom>
                <a:avLst/>
                <a:gdLst/>
                <a:ahLst/>
                <a:cxnLst/>
                <a:rect l="l" t="t" r="r" b="b"/>
                <a:pathLst>
                  <a:path w="9525" h="73025">
                    <a:moveTo>
                      <a:pt x="0" y="0"/>
                    </a:moveTo>
                    <a:lnTo>
                      <a:pt x="0" y="73025"/>
                    </a:lnTo>
                  </a:path>
                </a:pathLst>
              </a:custGeom>
              <a:noFill/>
              <a:ln w="36513">
                <a:solidFill>
                  <a:schemeClr val="accent3"/>
                </a:solidFill>
              </a:ln>
            </p:spPr>
          </p:sp>
          <p:sp>
            <p:nvSpPr>
              <p:cNvPr id="13" name="Freeform 13"/>
              <p:cNvSpPr/>
              <p:nvPr/>
            </p:nvSpPr>
            <p:spPr>
              <a:xfrm>
                <a:off x="8893209" y="2125154"/>
                <a:ext cx="368219" cy="316349"/>
              </a:xfrm>
              <a:custGeom>
                <a:avLst/>
                <a:gdLst/>
                <a:ahLst/>
                <a:cxnLst/>
                <a:rect l="l" t="t" r="r" b="b"/>
                <a:pathLst>
                  <a:path w="368219" h="316349">
                    <a:moveTo>
                      <a:pt x="154231" y="16855"/>
                    </a:moveTo>
                    <a:lnTo>
                      <a:pt x="6246" y="263935"/>
                    </a:lnTo>
                    <a:cubicBezTo>
                      <a:pt x="38" y="274686"/>
                      <a:pt x="0" y="287923"/>
                      <a:pt x="6146" y="298708"/>
                    </a:cubicBezTo>
                    <a:cubicBezTo>
                      <a:pt x="12292" y="309494"/>
                      <a:pt x="23700" y="316209"/>
                      <a:pt x="36113" y="316349"/>
                    </a:cubicBezTo>
                    <a:lnTo>
                      <a:pt x="332120" y="316349"/>
                    </a:lnTo>
                    <a:cubicBezTo>
                      <a:pt x="344528" y="316206"/>
                      <a:pt x="355929" y="309493"/>
                      <a:pt x="362074" y="298713"/>
                    </a:cubicBezTo>
                    <a:cubicBezTo>
                      <a:pt x="368219" y="287933"/>
                      <a:pt x="368186" y="274703"/>
                      <a:pt x="361988" y="263953"/>
                    </a:cubicBezTo>
                    <a:lnTo>
                      <a:pt x="214002" y="16836"/>
                    </a:lnTo>
                    <a:cubicBezTo>
                      <a:pt x="207670" y="6384"/>
                      <a:pt x="196337" y="0"/>
                      <a:pt x="184117" y="0"/>
                    </a:cubicBezTo>
                    <a:cubicBezTo>
                      <a:pt x="171896" y="0"/>
                      <a:pt x="160564" y="6384"/>
                      <a:pt x="154231" y="16836"/>
                    </a:cubicBezTo>
                  </a:path>
                </a:pathLst>
              </a:custGeom>
              <a:noFill/>
              <a:ln w="36513">
                <a:solidFill>
                  <a:schemeClr val="accent3"/>
                </a:solidFill>
              </a:ln>
            </p:spPr>
          </p:sp>
          <p:sp>
            <p:nvSpPr>
              <p:cNvPr id="14" name="Freeform 14"/>
              <p:cNvSpPr/>
              <p:nvPr/>
            </p:nvSpPr>
            <p:spPr>
              <a:xfrm>
                <a:off x="9077325" y="2368551"/>
                <a:ext cx="9525" cy="9525"/>
              </a:xfrm>
              <a:custGeom>
                <a:avLst/>
                <a:gdLst/>
                <a:ahLst/>
                <a:cxnLst/>
                <a:rect l="l" t="t" r="r" b="b"/>
                <a:pathLst>
                  <a:path w="9525" h="9525">
                    <a:moveTo>
                      <a:pt x="0" y="0"/>
                    </a:moveTo>
                    <a:lnTo>
                      <a:pt x="183" y="0"/>
                    </a:lnTo>
                  </a:path>
                </a:pathLst>
              </a:custGeom>
              <a:noFill/>
              <a:ln w="36513">
                <a:solidFill>
                  <a:schemeClr val="accent3"/>
                </a:solidFill>
              </a:ln>
            </p:spPr>
          </p:sp>
        </p:grpSp>
        <p:sp>
          <p:nvSpPr>
            <p:cNvPr id="16" name="TextBox 16"/>
            <p:cNvSpPr txBox="1"/>
            <p:nvPr/>
          </p:nvSpPr>
          <p:spPr>
            <a:xfrm>
              <a:off x="8849106" y="2660650"/>
              <a:ext cx="1834049"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What changed?</a:t>
              </a:r>
            </a:p>
          </p:txBody>
        </p:sp>
        <p:sp>
          <p:nvSpPr>
            <p:cNvPr id="17" name="TextBox 17"/>
            <p:cNvSpPr txBox="1"/>
            <p:nvPr/>
          </p:nvSpPr>
          <p:spPr>
            <a:xfrm>
              <a:off x="8851392" y="3124200"/>
              <a:ext cx="198232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Random split can place</a:t>
              </a:r>
            </a:p>
          </p:txBody>
        </p:sp>
        <p:sp>
          <p:nvSpPr>
            <p:cNvPr id="18" name="TextBox 18"/>
            <p:cNvSpPr txBox="1"/>
            <p:nvPr/>
          </p:nvSpPr>
          <p:spPr>
            <a:xfrm>
              <a:off x="8851392" y="3371850"/>
              <a:ext cx="210369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flows from one capture</a:t>
              </a:r>
            </a:p>
          </p:txBody>
        </p:sp>
        <p:sp>
          <p:nvSpPr>
            <p:cNvPr id="19" name="TextBox 19"/>
            <p:cNvSpPr txBox="1"/>
            <p:nvPr/>
          </p:nvSpPr>
          <p:spPr>
            <a:xfrm>
              <a:off x="8851392" y="3619500"/>
              <a:ext cx="198556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session on both sides.</a:t>
              </a:r>
            </a:p>
          </p:txBody>
        </p:sp>
        <p:sp>
          <p:nvSpPr>
            <p:cNvPr id="20" name="Line 20"/>
            <p:cNvSpPr/>
            <p:nvPr/>
          </p:nvSpPr>
          <p:spPr>
            <a:xfrm>
              <a:off x="8858250" y="4095750"/>
              <a:ext cx="2095500" cy="9525"/>
            </a:xfrm>
            <a:custGeom>
              <a:avLst/>
              <a:gdLst/>
              <a:ahLst/>
              <a:cxnLst/>
              <a:rect l="l" t="t" r="r" b="b"/>
              <a:pathLst>
                <a:path w="2095500" h="9525">
                  <a:moveTo>
                    <a:pt x="0" y="0"/>
                  </a:moveTo>
                  <a:lnTo>
                    <a:pt x="2095500" y="0"/>
                  </a:lnTo>
                </a:path>
              </a:pathLst>
            </a:custGeom>
            <a:noFill/>
            <a:ln w="9525">
              <a:solidFill>
                <a:schemeClr val="accent3"/>
              </a:solidFill>
            </a:ln>
          </p:spPr>
        </p:sp>
        <p:sp>
          <p:nvSpPr>
            <p:cNvPr id="21" name="TextBox 21"/>
            <p:cNvSpPr txBox="1"/>
            <p:nvPr/>
          </p:nvSpPr>
          <p:spPr>
            <a:xfrm>
              <a:off x="8851392" y="4305300"/>
              <a:ext cx="240008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Group-disjoint split forces</a:t>
              </a:r>
            </a:p>
          </p:txBody>
        </p:sp>
        <p:sp>
          <p:nvSpPr>
            <p:cNvPr id="22" name="TextBox 22"/>
            <p:cNvSpPr txBox="1"/>
            <p:nvPr/>
          </p:nvSpPr>
          <p:spPr>
            <a:xfrm>
              <a:off x="8851392" y="4552950"/>
              <a:ext cx="232177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unseen-session transfer.</a:t>
              </a:r>
            </a:p>
          </p:txBody>
        </p:sp>
        <p:sp>
          <p:nvSpPr>
            <p:cNvPr id="23" name="TextBox 23"/>
            <p:cNvSpPr txBox="1"/>
            <p:nvPr/>
          </p:nvSpPr>
          <p:spPr>
            <a:xfrm>
              <a:off x="8852154" y="5080000"/>
              <a:ext cx="2316216" cy="234696"/>
            </a:xfrm>
            <a:prstGeom prst="rect">
              <a:avLst/>
            </a:prstGeom>
            <a:noFill/>
            <a:ln>
              <a:noFill/>
            </a:ln>
          </p:spPr>
          <p:txBody>
            <a:bodyPr wrap="none" lIns="0" tIns="0" rIns="0" bIns="0" anchor="t" anchorCtr="0">
              <a:spAutoFit/>
            </a:bodyPr>
            <a:lstStyle/>
            <a:p>
              <a:pPr algn="l"/>
              <a:r>
                <a:rPr lang="en-US" sz="1200" b="1" dirty="0">
                  <a:solidFill>
                    <a:srgbClr val="B42318"/>
                  </a:solidFill>
                  <a:latin typeface="+mn-lt"/>
                  <a:ea typeface="+mn-ea"/>
                  <a:cs typeface="+mn-cs"/>
                </a:rPr>
                <a:t>Protocol—not architecture—</a:t>
              </a:r>
            </a:p>
          </p:txBody>
        </p:sp>
        <p:sp>
          <p:nvSpPr>
            <p:cNvPr id="24" name="TextBox 24"/>
            <p:cNvSpPr txBox="1"/>
            <p:nvPr/>
          </p:nvSpPr>
          <p:spPr>
            <a:xfrm>
              <a:off x="8852154" y="5289550"/>
              <a:ext cx="1810177" cy="234696"/>
            </a:xfrm>
            <a:prstGeom prst="rect">
              <a:avLst/>
            </a:prstGeom>
            <a:noFill/>
            <a:ln>
              <a:noFill/>
            </a:ln>
          </p:spPr>
          <p:txBody>
            <a:bodyPr wrap="none" lIns="0" tIns="0" rIns="0" bIns="0" anchor="t" anchorCtr="0">
              <a:spAutoFit/>
            </a:bodyPr>
            <a:lstStyle/>
            <a:p>
              <a:pPr algn="l"/>
              <a:r>
                <a:rPr lang="en-US" sz="1200" b="1" dirty="0">
                  <a:solidFill>
                    <a:srgbClr val="B42318"/>
                  </a:solidFill>
                  <a:latin typeface="+mn-lt"/>
                  <a:ea typeface="+mn-ea"/>
                  <a:cs typeface="+mn-cs"/>
                </a:rPr>
                <a:t>explains the collapse.</a:t>
              </a:r>
            </a:p>
          </p:txBody>
        </p:sp>
      </p:grpSp>
      <p:grpSp>
        <p:nvGrpSpPr>
          <p:cNvPr id="27" name="takeaway"/>
          <p:cNvGrpSpPr/>
          <p:nvPr/>
        </p:nvGrpSpPr>
        <p:grpSpPr>
          <a:xfrm>
            <a:off x="944118" y="5848350"/>
            <a:ext cx="8362318" cy="322707"/>
            <a:chOff x="944118" y="5848350"/>
            <a:chExt cx="8362318" cy="322707"/>
          </a:xfrm>
        </p:grpSpPr>
        <p:sp>
          <p:nvSpPr>
            <p:cNvPr id="26" name="TextBox 26"/>
            <p:cNvSpPr txBox="1"/>
            <p:nvPr/>
          </p:nvSpPr>
          <p:spPr>
            <a:xfrm>
              <a:off x="944118" y="5848350"/>
              <a:ext cx="8362318"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High random-split accuracy is not evidence of deployment generalization.</a:t>
              </a:r>
            </a:p>
          </p:txBody>
        </p:sp>
      </p:grpSp>
      <p:grpSp>
        <p:nvGrpSpPr>
          <p:cNvPr id="30" name="footer"/>
          <p:cNvGrpSpPr/>
          <p:nvPr/>
        </p:nvGrpSpPr>
        <p:grpSpPr>
          <a:xfrm>
            <a:off x="947166" y="6369050"/>
            <a:ext cx="10297668" cy="205359"/>
            <a:chOff x="947166" y="6369050"/>
            <a:chExt cx="10297668" cy="205359"/>
          </a:xfrm>
        </p:grpSpPr>
        <p:sp>
          <p:nvSpPr>
            <p:cNvPr id="28" name="TextBox 28"/>
            <p:cNvSpPr txBox="1"/>
            <p:nvPr/>
          </p:nvSpPr>
          <p:spPr>
            <a:xfrm>
              <a:off x="947166" y="6369050"/>
              <a:ext cx="3789708"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reports/paper_comparison/leakage_audit.csv</a:t>
              </a:r>
            </a:p>
          </p:txBody>
        </p:sp>
        <p:sp>
          <p:nvSpPr>
            <p:cNvPr id="29" name="TextBox 29"/>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41070" y="546100"/>
            <a:ext cx="8079617" cy="871855"/>
            <a:chOff x="941070" y="546100"/>
            <a:chExt cx="8079617" cy="871855"/>
          </a:xfrm>
        </p:grpSpPr>
        <p:sp>
          <p:nvSpPr>
            <p:cNvPr id="3" name="TextBox 3"/>
            <p:cNvSpPr txBox="1"/>
            <p:nvPr/>
          </p:nvSpPr>
          <p:spPr>
            <a:xfrm>
              <a:off x="946404" y="546100"/>
              <a:ext cx="2756002"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10 · RAW-PCAP EXPERIMENT</a:t>
              </a:r>
            </a:p>
          </p:txBody>
        </p:sp>
        <p:sp>
          <p:nvSpPr>
            <p:cNvPr id="4" name="TextBox 4"/>
            <p:cNvSpPr txBox="1"/>
            <p:nvPr/>
          </p:nvSpPr>
          <p:spPr>
            <a:xfrm>
              <a:off x="941070" y="977900"/>
              <a:ext cx="8079617"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The corrected run is broad—but intentionally capped</a:t>
              </a:r>
            </a:p>
          </p:txBody>
        </p:sp>
      </p:grpSp>
      <p:grpSp>
        <p:nvGrpSpPr>
          <p:cNvPr id="9" name="capture-count"/>
          <p:cNvGrpSpPr/>
          <p:nvPr/>
        </p:nvGrpSpPr>
        <p:grpSpPr>
          <a:xfrm>
            <a:off x="933450" y="2133600"/>
            <a:ext cx="2840959" cy="1390396"/>
            <a:chOff x="933450" y="2133600"/>
            <a:chExt cx="2840959" cy="1390396"/>
          </a:xfrm>
        </p:grpSpPr>
        <p:sp>
          <p:nvSpPr>
            <p:cNvPr id="6" name="TextBox 6"/>
            <p:cNvSpPr txBox="1"/>
            <p:nvPr/>
          </p:nvSpPr>
          <p:spPr>
            <a:xfrm>
              <a:off x="933450" y="2133600"/>
              <a:ext cx="2303755" cy="990600"/>
            </a:xfrm>
            <a:prstGeom prst="rect">
              <a:avLst/>
            </a:prstGeom>
            <a:noFill/>
            <a:ln>
              <a:noFill/>
            </a:ln>
          </p:spPr>
          <p:txBody>
            <a:bodyPr wrap="none" lIns="0" tIns="0" rIns="0" bIns="0" anchor="t" anchorCtr="0">
              <a:spAutoFit/>
            </a:bodyPr>
            <a:lstStyle/>
            <a:p>
              <a:pPr algn="l"/>
              <a:r>
                <a:rPr lang="en-US" sz="5100" b="1" dirty="0">
                  <a:solidFill>
                    <a:schemeClr val="accent2"/>
                  </a:solidFill>
                  <a:latin typeface="Consolas"/>
                  <a:ea typeface="Consolas"/>
                  <a:cs typeface="Consolas"/>
                </a:rPr>
                <a:t>13,754</a:t>
              </a:r>
            </a:p>
          </p:txBody>
        </p:sp>
        <p:sp>
          <p:nvSpPr>
            <p:cNvPr id="7" name="TextBox 7"/>
            <p:cNvSpPr txBox="1"/>
            <p:nvPr/>
          </p:nvSpPr>
          <p:spPr>
            <a:xfrm>
              <a:off x="982218" y="2952750"/>
              <a:ext cx="279219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capture sources audited</a:t>
              </a:r>
            </a:p>
          </p:txBody>
        </p:sp>
        <p:sp>
          <p:nvSpPr>
            <p:cNvPr id="8" name="TextBox 8"/>
            <p:cNvSpPr txBox="1"/>
            <p:nvPr/>
          </p:nvSpPr>
          <p:spPr>
            <a:xfrm>
              <a:off x="984504" y="3289300"/>
              <a:ext cx="175686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13,150 session groups</a:t>
              </a:r>
            </a:p>
          </p:txBody>
        </p:sp>
      </p:grpSp>
      <p:grpSp>
        <p:nvGrpSpPr>
          <p:cNvPr id="13" name="byte-count"/>
          <p:cNvGrpSpPr/>
          <p:nvPr/>
        </p:nvGrpSpPr>
        <p:grpSpPr>
          <a:xfrm>
            <a:off x="4457700" y="2133600"/>
            <a:ext cx="2830982" cy="1390396"/>
            <a:chOff x="4457700" y="2133600"/>
            <a:chExt cx="2830982" cy="1390396"/>
          </a:xfrm>
        </p:grpSpPr>
        <p:sp>
          <p:nvSpPr>
            <p:cNvPr id="10" name="TextBox 10"/>
            <p:cNvSpPr txBox="1"/>
            <p:nvPr/>
          </p:nvSpPr>
          <p:spPr>
            <a:xfrm>
              <a:off x="4457700" y="2133600"/>
              <a:ext cx="2830982" cy="990600"/>
            </a:xfrm>
            <a:prstGeom prst="rect">
              <a:avLst/>
            </a:prstGeom>
            <a:noFill/>
            <a:ln>
              <a:noFill/>
            </a:ln>
          </p:spPr>
          <p:txBody>
            <a:bodyPr wrap="none" lIns="0" tIns="0" rIns="0" bIns="0" anchor="t" anchorCtr="0">
              <a:spAutoFit/>
            </a:bodyPr>
            <a:lstStyle/>
            <a:p>
              <a:pPr algn="l"/>
              <a:r>
                <a:rPr lang="en-US" sz="5100" b="1" dirty="0">
                  <a:solidFill>
                    <a:schemeClr val="accent2"/>
                  </a:solidFill>
                  <a:latin typeface="Consolas"/>
                  <a:ea typeface="Consolas"/>
                  <a:cs typeface="Consolas"/>
                </a:rPr>
                <a:t>97.1 GB</a:t>
              </a:r>
            </a:p>
          </p:txBody>
        </p:sp>
        <p:sp>
          <p:nvSpPr>
            <p:cNvPr id="11" name="TextBox 11"/>
            <p:cNvSpPr txBox="1"/>
            <p:nvPr/>
          </p:nvSpPr>
          <p:spPr>
            <a:xfrm>
              <a:off x="4506468" y="2952750"/>
              <a:ext cx="2640592"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uncompressed evidence</a:t>
              </a:r>
            </a:p>
          </p:txBody>
        </p:sp>
        <p:sp>
          <p:nvSpPr>
            <p:cNvPr id="12" name="TextBox 12"/>
            <p:cNvSpPr txBox="1"/>
            <p:nvPr/>
          </p:nvSpPr>
          <p:spPr>
            <a:xfrm>
              <a:off x="4508754" y="3289300"/>
              <a:ext cx="2069506"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one invalid PCAPNG skipped</a:t>
              </a:r>
            </a:p>
          </p:txBody>
        </p:sp>
      </p:grpSp>
      <p:grpSp>
        <p:nvGrpSpPr>
          <p:cNvPr id="17" name="flow-count"/>
          <p:cNvGrpSpPr/>
          <p:nvPr/>
        </p:nvGrpSpPr>
        <p:grpSpPr>
          <a:xfrm>
            <a:off x="7981950" y="2133600"/>
            <a:ext cx="2681364" cy="1390396"/>
            <a:chOff x="7981950" y="2133600"/>
            <a:chExt cx="2681364" cy="1390396"/>
          </a:xfrm>
        </p:grpSpPr>
        <p:sp>
          <p:nvSpPr>
            <p:cNvPr id="14" name="TextBox 14"/>
            <p:cNvSpPr txBox="1"/>
            <p:nvPr/>
          </p:nvSpPr>
          <p:spPr>
            <a:xfrm>
              <a:off x="7981950" y="2133600"/>
              <a:ext cx="2681364" cy="990600"/>
            </a:xfrm>
            <a:prstGeom prst="rect">
              <a:avLst/>
            </a:prstGeom>
            <a:noFill/>
            <a:ln>
              <a:noFill/>
            </a:ln>
          </p:spPr>
          <p:txBody>
            <a:bodyPr wrap="none" lIns="0" tIns="0" rIns="0" bIns="0" anchor="t" anchorCtr="0">
              <a:spAutoFit/>
            </a:bodyPr>
            <a:lstStyle/>
            <a:p>
              <a:pPr algn="l"/>
              <a:r>
                <a:rPr lang="en-US" sz="5100" b="1" dirty="0">
                  <a:solidFill>
                    <a:schemeClr val="accent2"/>
                  </a:solidFill>
                  <a:latin typeface="Consolas"/>
                  <a:ea typeface="Consolas"/>
                  <a:cs typeface="Consolas"/>
                </a:rPr>
                <a:t>201,321</a:t>
              </a:r>
            </a:p>
          </p:txBody>
        </p:sp>
        <p:sp>
          <p:nvSpPr>
            <p:cNvPr id="15" name="TextBox 15"/>
            <p:cNvSpPr txBox="1"/>
            <p:nvPr/>
          </p:nvSpPr>
          <p:spPr>
            <a:xfrm>
              <a:off x="8030718" y="2952750"/>
              <a:ext cx="187093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flows processed</a:t>
              </a:r>
            </a:p>
          </p:txBody>
        </p:sp>
        <p:sp>
          <p:nvSpPr>
            <p:cNvPr id="16" name="TextBox 16"/>
            <p:cNvSpPr txBox="1"/>
            <p:nvPr/>
          </p:nvSpPr>
          <p:spPr>
            <a:xfrm>
              <a:off x="8033004" y="3289300"/>
              <a:ext cx="216880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1,325 retained for training</a:t>
              </a:r>
            </a:p>
          </p:txBody>
        </p:sp>
      </p:grpSp>
      <p:grpSp>
        <p:nvGrpSpPr>
          <p:cNvPr id="26" name="class-ledger"/>
          <p:cNvGrpSpPr/>
          <p:nvPr/>
        </p:nvGrpSpPr>
        <p:grpSpPr>
          <a:xfrm>
            <a:off x="952500" y="4095750"/>
            <a:ext cx="10287000" cy="1238250"/>
            <a:chOff x="952500" y="4095750"/>
            <a:chExt cx="10287000" cy="1238250"/>
          </a:xfrm>
        </p:grpSpPr>
        <p:sp>
          <p:nvSpPr>
            <p:cNvPr id="18" name="Rectangle 18"/>
            <p:cNvSpPr/>
            <p:nvPr/>
          </p:nvSpPr>
          <p:spPr>
            <a:xfrm>
              <a:off x="952500" y="4095750"/>
              <a:ext cx="10287000" cy="1238250"/>
            </a:xfrm>
            <a:prstGeom prst="roundRect">
              <a:avLst>
                <a:gd name="adj" fmla="val 7692"/>
              </a:avLst>
            </a:prstGeom>
            <a:solidFill>
              <a:srgbClr val="FFFFFF"/>
            </a:solidFill>
            <a:ln w="19050">
              <a:solidFill>
                <a:schemeClr val="accent6"/>
              </a:solidFill>
            </a:ln>
          </p:spPr>
        </p:sp>
        <p:sp>
          <p:nvSpPr>
            <p:cNvPr id="19" name="TextBox 19"/>
            <p:cNvSpPr txBox="1"/>
            <p:nvPr/>
          </p:nvSpPr>
          <p:spPr>
            <a:xfrm>
              <a:off x="1250442" y="4362450"/>
              <a:ext cx="219318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RETAINED CLASS BALANCE</a:t>
              </a:r>
            </a:p>
          </p:txBody>
        </p:sp>
        <p:sp>
          <p:nvSpPr>
            <p:cNvPr id="20" name="TextBox 20"/>
            <p:cNvSpPr txBox="1"/>
            <p:nvPr/>
          </p:nvSpPr>
          <p:spPr>
            <a:xfrm>
              <a:off x="1246632" y="4737100"/>
              <a:ext cx="487794"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Consolas"/>
                  <a:ea typeface="Consolas"/>
                  <a:cs typeface="Consolas"/>
                </a:rPr>
                <a:t>500</a:t>
              </a:r>
            </a:p>
          </p:txBody>
        </p:sp>
        <p:sp>
          <p:nvSpPr>
            <p:cNvPr id="21" name="TextBox 21"/>
            <p:cNvSpPr txBox="1"/>
            <p:nvPr/>
          </p:nvSpPr>
          <p:spPr>
            <a:xfrm>
              <a:off x="1992630" y="4813300"/>
              <a:ext cx="80733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non-DoH</a:t>
              </a:r>
            </a:p>
          </p:txBody>
        </p:sp>
        <p:sp>
          <p:nvSpPr>
            <p:cNvPr id="22" name="TextBox 22"/>
            <p:cNvSpPr txBox="1"/>
            <p:nvPr/>
          </p:nvSpPr>
          <p:spPr>
            <a:xfrm>
              <a:off x="4427982" y="4737100"/>
              <a:ext cx="487794"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Consolas"/>
                  <a:ea typeface="Consolas"/>
                  <a:cs typeface="Consolas"/>
                </a:rPr>
                <a:t>325</a:t>
              </a:r>
            </a:p>
          </p:txBody>
        </p:sp>
        <p:sp>
          <p:nvSpPr>
            <p:cNvPr id="23" name="TextBox 23"/>
            <p:cNvSpPr txBox="1"/>
            <p:nvPr/>
          </p:nvSpPr>
          <p:spPr>
            <a:xfrm>
              <a:off x="5173980" y="4813300"/>
              <a:ext cx="103759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benign DoH</a:t>
              </a:r>
            </a:p>
          </p:txBody>
        </p:sp>
        <p:sp>
          <p:nvSpPr>
            <p:cNvPr id="24" name="TextBox 24"/>
            <p:cNvSpPr txBox="1"/>
            <p:nvPr/>
          </p:nvSpPr>
          <p:spPr>
            <a:xfrm>
              <a:off x="7799832" y="4737100"/>
              <a:ext cx="487794"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Consolas"/>
                  <a:ea typeface="Consolas"/>
                  <a:cs typeface="Consolas"/>
                </a:rPr>
                <a:t>500</a:t>
              </a:r>
            </a:p>
          </p:txBody>
        </p:sp>
        <p:sp>
          <p:nvSpPr>
            <p:cNvPr id="25" name="TextBox 25"/>
            <p:cNvSpPr txBox="1"/>
            <p:nvPr/>
          </p:nvSpPr>
          <p:spPr>
            <a:xfrm>
              <a:off x="8545830" y="4813300"/>
              <a:ext cx="130959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malicious DoH</a:t>
              </a:r>
            </a:p>
          </p:txBody>
        </p:sp>
      </p:grpSp>
      <p:grpSp>
        <p:nvGrpSpPr>
          <p:cNvPr id="36" name="scope-warning"/>
          <p:cNvGrpSpPr/>
          <p:nvPr/>
        </p:nvGrpSpPr>
        <p:grpSpPr>
          <a:xfrm>
            <a:off x="1027906" y="5645944"/>
            <a:ext cx="9282438" cy="391763"/>
            <a:chOff x="1027906" y="5645944"/>
            <a:chExt cx="9282438" cy="391763"/>
          </a:xfrm>
        </p:grpSpPr>
        <p:grpSp>
          <p:nvGrpSpPr>
            <p:cNvPr id="34" name="Group 34"/>
            <p:cNvGrpSpPr/>
            <p:nvPr/>
          </p:nvGrpSpPr>
          <p:grpSpPr>
            <a:xfrm>
              <a:off x="1027906" y="5645944"/>
              <a:ext cx="226219" cy="280987"/>
              <a:chOff x="1027906" y="5645944"/>
              <a:chExt cx="226219" cy="280987"/>
            </a:xfrm>
          </p:grpSpPr>
          <p:sp>
            <p:nvSpPr>
              <p:cNvPr id="27" name="Freeform 27"/>
              <p:cNvSpPr/>
              <p:nvPr/>
            </p:nvSpPr>
            <p:spPr>
              <a:xfrm>
                <a:off x="1027906" y="5917406"/>
                <a:ext cx="211137" cy="9525"/>
              </a:xfrm>
              <a:custGeom>
                <a:avLst/>
                <a:gdLst/>
                <a:ahLst/>
                <a:cxnLst/>
                <a:rect l="l" t="t" r="r" b="b"/>
                <a:pathLst>
                  <a:path w="211137" h="9525">
                    <a:moveTo>
                      <a:pt x="0" y="0"/>
                    </a:moveTo>
                    <a:lnTo>
                      <a:pt x="211137" y="0"/>
                    </a:lnTo>
                  </a:path>
                </a:pathLst>
              </a:custGeom>
              <a:noFill/>
              <a:ln w="30162">
                <a:solidFill>
                  <a:schemeClr val="accent3"/>
                </a:solidFill>
              </a:ln>
            </p:spPr>
          </p:sp>
          <p:sp>
            <p:nvSpPr>
              <p:cNvPr id="28" name="Freeform 28"/>
              <p:cNvSpPr/>
              <p:nvPr/>
            </p:nvSpPr>
            <p:spPr>
              <a:xfrm>
                <a:off x="1042987" y="5872162"/>
                <a:ext cx="30162" cy="9525"/>
              </a:xfrm>
              <a:custGeom>
                <a:avLst/>
                <a:gdLst/>
                <a:ahLst/>
                <a:cxnLst/>
                <a:rect l="l" t="t" r="r" b="b"/>
                <a:pathLst>
                  <a:path w="30162" h="9525">
                    <a:moveTo>
                      <a:pt x="0" y="0"/>
                    </a:moveTo>
                    <a:lnTo>
                      <a:pt x="30162" y="0"/>
                    </a:lnTo>
                  </a:path>
                </a:pathLst>
              </a:custGeom>
              <a:noFill/>
              <a:ln w="30162">
                <a:solidFill>
                  <a:schemeClr val="accent3"/>
                </a:solidFill>
              </a:ln>
            </p:spPr>
          </p:sp>
          <p:sp>
            <p:nvSpPr>
              <p:cNvPr id="29" name="Freeform 29"/>
              <p:cNvSpPr/>
              <p:nvPr/>
            </p:nvSpPr>
            <p:spPr>
              <a:xfrm>
                <a:off x="1058069" y="5872162"/>
                <a:ext cx="9525" cy="45244"/>
              </a:xfrm>
              <a:custGeom>
                <a:avLst/>
                <a:gdLst/>
                <a:ahLst/>
                <a:cxnLst/>
                <a:rect l="l" t="t" r="r" b="b"/>
                <a:pathLst>
                  <a:path w="9525" h="45244">
                    <a:moveTo>
                      <a:pt x="0" y="0"/>
                    </a:moveTo>
                    <a:lnTo>
                      <a:pt x="0" y="45244"/>
                    </a:lnTo>
                  </a:path>
                </a:pathLst>
              </a:custGeom>
              <a:noFill/>
              <a:ln w="30162">
                <a:solidFill>
                  <a:schemeClr val="accent3"/>
                </a:solidFill>
              </a:ln>
            </p:spPr>
          </p:sp>
          <p:sp>
            <p:nvSpPr>
              <p:cNvPr id="30" name="Freeform 30"/>
              <p:cNvSpPr/>
              <p:nvPr/>
            </p:nvSpPr>
            <p:spPr>
              <a:xfrm>
                <a:off x="1088231" y="5676106"/>
                <a:ext cx="135731" cy="135731"/>
              </a:xfrm>
              <a:custGeom>
                <a:avLst/>
                <a:gdLst/>
                <a:ahLst/>
                <a:cxnLst/>
                <a:rect l="l" t="t" r="r" b="b"/>
                <a:pathLst>
                  <a:path w="135731" h="135731">
                    <a:moveTo>
                      <a:pt x="0" y="90487"/>
                    </a:moveTo>
                    <a:lnTo>
                      <a:pt x="45244" y="135731"/>
                    </a:lnTo>
                    <a:lnTo>
                      <a:pt x="135731" y="45244"/>
                    </a:lnTo>
                    <a:lnTo>
                      <a:pt x="90487" y="0"/>
                    </a:lnTo>
                    <a:lnTo>
                      <a:pt x="0" y="90487"/>
                    </a:lnTo>
                  </a:path>
                </a:pathLst>
              </a:custGeom>
              <a:noFill/>
              <a:ln w="30162">
                <a:solidFill>
                  <a:schemeClr val="accent3"/>
                </a:solidFill>
              </a:ln>
            </p:spPr>
          </p:sp>
          <p:sp>
            <p:nvSpPr>
              <p:cNvPr id="31" name="Freeform 31"/>
              <p:cNvSpPr/>
              <p:nvPr/>
            </p:nvSpPr>
            <p:spPr>
              <a:xfrm>
                <a:off x="1088231" y="5789215"/>
                <a:ext cx="22622" cy="22622"/>
              </a:xfrm>
              <a:custGeom>
                <a:avLst/>
                <a:gdLst/>
                <a:ahLst/>
                <a:cxnLst/>
                <a:rect l="l" t="t" r="r" b="b"/>
                <a:pathLst>
                  <a:path w="22622" h="22622">
                    <a:moveTo>
                      <a:pt x="22622" y="0"/>
                    </a:moveTo>
                    <a:lnTo>
                      <a:pt x="0" y="22622"/>
                    </a:lnTo>
                  </a:path>
                </a:pathLst>
              </a:custGeom>
              <a:noFill/>
              <a:ln w="30162">
                <a:solidFill>
                  <a:schemeClr val="accent3"/>
                </a:solidFill>
              </a:ln>
            </p:spPr>
          </p:sp>
          <p:sp>
            <p:nvSpPr>
              <p:cNvPr id="32" name="Freeform 32"/>
              <p:cNvSpPr/>
              <p:nvPr/>
            </p:nvSpPr>
            <p:spPr>
              <a:xfrm>
                <a:off x="1208881" y="5645944"/>
                <a:ext cx="45244" cy="45244"/>
              </a:xfrm>
              <a:custGeom>
                <a:avLst/>
                <a:gdLst/>
                <a:ahLst/>
                <a:cxnLst/>
                <a:rect l="l" t="t" r="r" b="b"/>
                <a:pathLst>
                  <a:path w="45244" h="45244">
                    <a:moveTo>
                      <a:pt x="0" y="0"/>
                    </a:moveTo>
                    <a:lnTo>
                      <a:pt x="45244" y="45244"/>
                    </a:lnTo>
                  </a:path>
                </a:pathLst>
              </a:custGeom>
              <a:noFill/>
              <a:ln w="30162">
                <a:solidFill>
                  <a:schemeClr val="accent3"/>
                </a:solidFill>
              </a:ln>
            </p:spPr>
          </p:sp>
          <p:sp>
            <p:nvSpPr>
              <p:cNvPr id="33" name="Freeform 33"/>
              <p:cNvSpPr/>
              <p:nvPr/>
            </p:nvSpPr>
            <p:spPr>
              <a:xfrm>
                <a:off x="1133475" y="5755856"/>
                <a:ext cx="98132" cy="161554"/>
              </a:xfrm>
              <a:custGeom>
                <a:avLst/>
                <a:gdLst/>
                <a:ahLst/>
                <a:cxnLst/>
                <a:rect l="l" t="t" r="r" b="b"/>
                <a:pathLst>
                  <a:path w="98132" h="161554">
                    <a:moveTo>
                      <a:pt x="0" y="161550"/>
                    </a:moveTo>
                    <a:cubicBezTo>
                      <a:pt x="38550" y="161554"/>
                      <a:pt x="72869" y="137134"/>
                      <a:pt x="85500" y="100712"/>
                    </a:cubicBezTo>
                    <a:cubicBezTo>
                      <a:pt x="98132" y="64290"/>
                      <a:pt x="86301" y="23865"/>
                      <a:pt x="56027" y="0"/>
                    </a:cubicBezTo>
                  </a:path>
                </a:pathLst>
              </a:custGeom>
              <a:noFill/>
              <a:ln w="30162">
                <a:solidFill>
                  <a:schemeClr val="accent3"/>
                </a:solidFill>
              </a:ln>
            </p:spPr>
          </p:sp>
        </p:grpSp>
        <p:sp>
          <p:nvSpPr>
            <p:cNvPr id="35" name="TextBox 35"/>
            <p:cNvSpPr txBox="1"/>
            <p:nvPr/>
          </p:nvSpPr>
          <p:spPr>
            <a:xfrm>
              <a:off x="1477518" y="5715000"/>
              <a:ext cx="883282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25-flow-per-capture cap: comparative evidence, not full-data convergence.</a:t>
              </a:r>
            </a:p>
          </p:txBody>
        </p:sp>
      </p:grpSp>
      <p:grpSp>
        <p:nvGrpSpPr>
          <p:cNvPr id="39" name="footer"/>
          <p:cNvGrpSpPr/>
          <p:nvPr/>
        </p:nvGrpSpPr>
        <p:grpSpPr>
          <a:xfrm>
            <a:off x="947166" y="6369050"/>
            <a:ext cx="10297668" cy="205359"/>
            <a:chOff x="947166" y="6369050"/>
            <a:chExt cx="10297668" cy="205359"/>
          </a:xfrm>
        </p:grpSpPr>
        <p:sp>
          <p:nvSpPr>
            <p:cNvPr id="37" name="TextBox 37"/>
            <p:cNvSpPr txBox="1"/>
            <p:nvPr/>
          </p:nvSpPr>
          <p:spPr>
            <a:xfrm>
              <a:off x="947166" y="6369050"/>
              <a:ext cx="477901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data/manifests/timeseries_comprehensive_experiment.json</a:t>
              </a:r>
            </a:p>
          </p:txBody>
        </p:sp>
        <p:sp>
          <p:nvSpPr>
            <p:cNvPr id="38" name="TextBox 38"/>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41070" y="546100"/>
            <a:ext cx="9845276" cy="871855"/>
            <a:chOff x="941070" y="546100"/>
            <a:chExt cx="9845276" cy="871855"/>
          </a:xfrm>
        </p:grpSpPr>
        <p:sp>
          <p:nvSpPr>
            <p:cNvPr id="3" name="TextBox 3"/>
            <p:cNvSpPr txBox="1"/>
            <p:nvPr/>
          </p:nvSpPr>
          <p:spPr>
            <a:xfrm>
              <a:off x="946404" y="546100"/>
              <a:ext cx="3216859"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11 · PAPER-WINDOW COMPARISON</a:t>
              </a:r>
            </a:p>
          </p:txBody>
        </p:sp>
        <p:sp>
          <p:nvSpPr>
            <p:cNvPr id="4" name="TextBox 4"/>
            <p:cNvSpPr txBox="1"/>
            <p:nvPr/>
          </p:nvSpPr>
          <p:spPr>
            <a:xfrm>
              <a:off x="941070" y="977900"/>
              <a:ext cx="9845276"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The improved model is strong—but not at every selected window</a:t>
              </a:r>
            </a:p>
          </p:txBody>
        </p:sp>
      </p:grpSp>
      <p:graphicFrame>
        <p:nvGraphicFramePr>
          <p:cNvPr id="6" name="paper-window-table"/>
          <p:cNvGraphicFramePr>
            <a:graphicFrameLocks noGrp="1"/>
          </p:cNvGraphicFramePr>
          <p:nvPr/>
        </p:nvGraphicFramePr>
        <p:xfrm>
          <a:off x="952500" y="1733550"/>
          <a:ext cx="10287000" cy="3829050"/>
        </p:xfrm>
        <a:graphic>
          <a:graphicData uri="http://schemas.openxmlformats.org/drawingml/2006/table">
            <a:tbl>
              <a:tblPr firstRow="1" bandRow="1">
                <a:tableStyleId>{5C22544A-7EE6-4342-B048-85BDC9FD1C3A}</a:tableStyleId>
              </a:tblPr>
              <a:tblGrid>
                <a:gridCol w="1028700"/>
                <a:gridCol w="2880360"/>
                <a:gridCol w="3497579"/>
                <a:gridCol w="822961"/>
                <a:gridCol w="2057400"/>
              </a:tblGrid>
              <a:tr h="425450">
                <a:tc>
                  <a:txBody>
                    <a:bodyPr/>
                    <a:lstStyle/>
                    <a:p>
                      <a:pPr algn="ctr"/>
                      <a:r>
                        <a:rPr lang="en-US" sz="1280" b="1">
                          <a:solidFill>
                            <a:srgbClr val="FFFFFF"/>
                          </a:solidFill>
                          <a:latin typeface="Aptos"/>
                          <a:ea typeface="Microsoft YaHei"/>
                          <a:cs typeface="Aptos"/>
                        </a:rPr>
                        <a:t>Layer</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ctr"/>
                      <a:r>
                        <a:rPr lang="en-US" sz="1280" b="1">
                          <a:solidFill>
                            <a:srgbClr val="FFFFFF"/>
                          </a:solidFill>
                          <a:latin typeface="Aptos"/>
                          <a:ea typeface="Microsoft YaHei"/>
                          <a:cs typeface="Aptos"/>
                        </a:rPr>
                        <a:t>Evidence</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ctr"/>
                      <a:r>
                        <a:rPr lang="en-US" sz="1280" b="1">
                          <a:solidFill>
                            <a:srgbClr val="FFFFFF"/>
                          </a:solidFill>
                          <a:latin typeface="Aptos"/>
                          <a:ea typeface="Microsoft YaHei"/>
                          <a:cs typeface="Aptos"/>
                        </a:rPr>
                        <a:t>Split</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280" b="1">
                          <a:solidFill>
                            <a:srgbClr val="FFFFFF"/>
                          </a:solidFill>
                          <a:latin typeface="Aptos"/>
                          <a:ea typeface="Microsoft YaHei"/>
                          <a:cs typeface="Aptos"/>
                        </a:rPr>
                        <a:t>l</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c>
                  <a:txBody>
                    <a:bodyPr/>
                    <a:lstStyle/>
                    <a:p>
                      <a:pPr algn="r"/>
                      <a:r>
                        <a:rPr lang="en-US" sz="1280" b="1">
                          <a:solidFill>
                            <a:srgbClr val="FFFFFF"/>
                          </a:solidFill>
                          <a:latin typeface="Aptos"/>
                          <a:ea typeface="Microsoft YaHei"/>
                          <a:cs typeface="Aptos"/>
                        </a:rPr>
                        <a:t>F1</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accent1"/>
                    </a:solidFill>
                  </a:tcPr>
                </a:tc>
              </a:tr>
              <a:tr h="425450">
                <a:tc>
                  <a:txBody>
                    <a:bodyPr/>
                    <a:lstStyle/>
                    <a:p>
                      <a:pPr/>
                      <a:r>
                        <a:rPr lang="en-US" sz="1200" b="0">
                          <a:solidFill>
                            <a:schemeClr val="dk1"/>
                          </a:solidFill>
                          <a:latin typeface="Aptos"/>
                          <a:ea typeface="Microsoft YaHei"/>
                          <a:cs typeface="Aptos"/>
                        </a:rPr>
                        <a:t>L1</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r>
                        <a:rPr lang="en-US" sz="1200" b="0">
                          <a:solidFill>
                            <a:schemeClr val="dk1"/>
                          </a:solidFill>
                          <a:latin typeface="Aptos"/>
                          <a:ea typeface="Microsoft YaHei"/>
                          <a:cs typeface="Aptos"/>
                        </a:rPr>
                        <a:t>Paper reported</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r>
                        <a:rPr lang="en-US" sz="1200" b="0">
                          <a:solidFill>
                            <a:schemeClr val="dk1"/>
                          </a:solidFill>
                          <a:latin typeface="Aptos"/>
                          <a:ea typeface="Microsoft YaHei"/>
                          <a:cs typeface="Aptos"/>
                        </a:rPr>
                        <a:t>Flow-random</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lgn="r"/>
                      <a:r>
                        <a:rPr lang="en-US" sz="1200" b="0">
                          <a:solidFill>
                            <a:schemeClr val="dk1"/>
                          </a:solidFill>
                          <a:latin typeface="Aptos"/>
                          <a:ea typeface="Microsoft YaHei"/>
                          <a:cs typeface="Aptos"/>
                        </a:rPr>
                        <a:t>6</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lgn="r"/>
                      <a:r>
                        <a:rPr lang="en-US" sz="1200" b="0">
                          <a:solidFill>
                            <a:schemeClr val="dk1"/>
                          </a:solidFill>
                          <a:latin typeface="Aptos"/>
                          <a:ea typeface="Microsoft YaHei"/>
                          <a:cs typeface="Aptos"/>
                        </a:rPr>
                        <a:t>0.9930</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r>
              <a:tr h="425450">
                <a:tc>
                  <a:txBody>
                    <a:bodyPr/>
                    <a:lstStyle/>
                    <a:p>
                      <a:pPr/>
                      <a:r>
                        <a:rPr lang="en-US" sz="1200" b="0">
                          <a:solidFill>
                            <a:schemeClr val="dk1"/>
                          </a:solidFill>
                          <a:latin typeface="Aptos"/>
                          <a:ea typeface="Microsoft YaHei"/>
                          <a:cs typeface="Aptos"/>
                        </a:rPr>
                        <a:t>L1</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Aptos"/>
                          <a:ea typeface="Microsoft YaHei"/>
                          <a:cs typeface="Aptos"/>
                        </a:rPr>
                        <a:t>Project paper_v4</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Aptos"/>
                          <a:ea typeface="Microsoft YaHei"/>
                          <a:cs typeface="Aptos"/>
                        </a:rPr>
                        <a:t>Flow-random</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US" sz="1200" b="0">
                          <a:solidFill>
                            <a:schemeClr val="dk1"/>
                          </a:solidFill>
                          <a:latin typeface="Aptos"/>
                          <a:ea typeface="Microsoft YaHei"/>
                          <a:cs typeface="Aptos"/>
                        </a:rPr>
                        <a:t>6</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US" sz="1200" b="0">
                          <a:solidFill>
                            <a:schemeClr val="dk1"/>
                          </a:solidFill>
                          <a:latin typeface="Aptos"/>
                          <a:ea typeface="Microsoft YaHei"/>
                          <a:cs typeface="Aptos"/>
                        </a:rPr>
                        <a:t>0.9784</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r>
              <a:tr h="425450">
                <a:tc>
                  <a:txBody>
                    <a:bodyPr/>
                    <a:lstStyle/>
                    <a:p>
                      <a:pPr/>
                      <a:r>
                        <a:rPr lang="en-US" sz="1200" b="0">
                          <a:solidFill>
                            <a:schemeClr val="dk1"/>
                          </a:solidFill>
                          <a:latin typeface="Aptos"/>
                          <a:ea typeface="Microsoft YaHei"/>
                          <a:cs typeface="Aptos"/>
                        </a:rPr>
                        <a:t>L1</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r>
                        <a:rPr lang="en-US" sz="1200" b="0">
                          <a:solidFill>
                            <a:schemeClr val="dk1"/>
                          </a:solidFill>
                          <a:latin typeface="Aptos"/>
                          <a:ea typeface="Microsoft YaHei"/>
                          <a:cs typeface="Aptos"/>
                        </a:rPr>
                        <a:t>Project paper_v4</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r>
                        <a:rPr lang="en-US" sz="1200" b="0">
                          <a:solidFill>
                            <a:schemeClr val="dk1"/>
                          </a:solidFill>
                          <a:latin typeface="Aptos"/>
                          <a:ea typeface="Microsoft YaHei"/>
                          <a:cs typeface="Aptos"/>
                        </a:rPr>
                        <a:t>Session-disjoint</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lgn="r"/>
                      <a:r>
                        <a:rPr lang="en-US" sz="1200" b="0">
                          <a:solidFill>
                            <a:schemeClr val="dk1"/>
                          </a:solidFill>
                          <a:latin typeface="Aptos"/>
                          <a:ea typeface="Microsoft YaHei"/>
                          <a:cs typeface="Aptos"/>
                        </a:rPr>
                        <a:t>6</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lgn="r"/>
                      <a:r>
                        <a:rPr lang="en-US" sz="1200" b="1">
                          <a:solidFill>
                            <a:srgbClr val="B42318"/>
                          </a:solidFill>
                          <a:latin typeface="Aptos"/>
                          <a:ea typeface="Microsoft YaHei"/>
                          <a:cs typeface="Aptos"/>
                        </a:rPr>
                        <a:t>0.0000</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r>
              <a:tr h="425450">
                <a:tc>
                  <a:txBody>
                    <a:bodyPr/>
                    <a:lstStyle/>
                    <a:p>
                      <a:pPr/>
                      <a:r>
                        <a:rPr lang="en-US" sz="1200" b="0">
                          <a:solidFill>
                            <a:schemeClr val="dk1"/>
                          </a:solidFill>
                          <a:latin typeface="Aptos"/>
                          <a:ea typeface="Microsoft YaHei"/>
                          <a:cs typeface="Aptos"/>
                        </a:rPr>
                        <a:t>L1</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Aptos"/>
                          <a:ea typeface="Microsoft YaHei"/>
                          <a:cs typeface="Aptos"/>
                        </a:rPr>
                        <a:t>Improved BiGRU</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Aptos"/>
                          <a:ea typeface="Microsoft YaHei"/>
                          <a:cs typeface="Aptos"/>
                        </a:rPr>
                        <a:t>Session-disjoint</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US" sz="1200" b="0">
                          <a:solidFill>
                            <a:schemeClr val="dk1"/>
                          </a:solidFill>
                          <a:latin typeface="Aptos"/>
                          <a:ea typeface="Microsoft YaHei"/>
                          <a:cs typeface="Aptos"/>
                        </a:rPr>
                        <a:t>6</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US" sz="1200" b="1">
                          <a:solidFill>
                            <a:srgbClr val="15803D"/>
                          </a:solidFill>
                          <a:latin typeface="Aptos"/>
                          <a:ea typeface="Microsoft YaHei"/>
                          <a:cs typeface="Aptos"/>
                        </a:rPr>
                        <a:t>0.9153</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r>
              <a:tr h="425450">
                <a:tc>
                  <a:txBody>
                    <a:bodyPr/>
                    <a:lstStyle/>
                    <a:p>
                      <a:pPr/>
                      <a:r>
                        <a:rPr lang="en-US" sz="1200" b="0">
                          <a:solidFill>
                            <a:schemeClr val="dk1"/>
                          </a:solidFill>
                          <a:latin typeface="Aptos"/>
                          <a:ea typeface="Microsoft YaHei"/>
                          <a:cs typeface="Aptos"/>
                        </a:rPr>
                        <a:t>L2</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r>
                        <a:rPr lang="en-US" sz="1200" b="0">
                          <a:solidFill>
                            <a:schemeClr val="dk1"/>
                          </a:solidFill>
                          <a:latin typeface="Aptos"/>
                          <a:ea typeface="Microsoft YaHei"/>
                          <a:cs typeface="Aptos"/>
                        </a:rPr>
                        <a:t>Paper reported</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r>
                        <a:rPr lang="en-US" sz="1200" b="0">
                          <a:solidFill>
                            <a:schemeClr val="dk1"/>
                          </a:solidFill>
                          <a:latin typeface="Aptos"/>
                          <a:ea typeface="Microsoft YaHei"/>
                          <a:cs typeface="Aptos"/>
                        </a:rPr>
                        <a:t>Flow-random</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lgn="r"/>
                      <a:r>
                        <a:rPr lang="en-US" sz="1200" b="0">
                          <a:solidFill>
                            <a:schemeClr val="dk1"/>
                          </a:solidFill>
                          <a:latin typeface="Aptos"/>
                          <a:ea typeface="Microsoft YaHei"/>
                          <a:cs typeface="Aptos"/>
                        </a:rPr>
                        <a:t>3</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lgn="r"/>
                      <a:r>
                        <a:rPr lang="en-US" sz="1200" b="0">
                          <a:solidFill>
                            <a:schemeClr val="dk1"/>
                          </a:solidFill>
                          <a:latin typeface="Aptos"/>
                          <a:ea typeface="Microsoft YaHei"/>
                          <a:cs typeface="Aptos"/>
                        </a:rPr>
                        <a:t>0.9910</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r>
              <a:tr h="425450">
                <a:tc>
                  <a:txBody>
                    <a:bodyPr/>
                    <a:lstStyle/>
                    <a:p>
                      <a:pPr/>
                      <a:r>
                        <a:rPr lang="en-US" sz="1200" b="0">
                          <a:solidFill>
                            <a:schemeClr val="dk1"/>
                          </a:solidFill>
                          <a:latin typeface="Aptos"/>
                          <a:ea typeface="Microsoft YaHei"/>
                          <a:cs typeface="Aptos"/>
                        </a:rPr>
                        <a:t>L2</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Aptos"/>
                          <a:ea typeface="Microsoft YaHei"/>
                          <a:cs typeface="Aptos"/>
                        </a:rPr>
                        <a:t>Project paper_v4</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Aptos"/>
                          <a:ea typeface="Microsoft YaHei"/>
                          <a:cs typeface="Aptos"/>
                        </a:rPr>
                        <a:t>Flow-random</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US" sz="1200" b="0">
                          <a:solidFill>
                            <a:schemeClr val="dk1"/>
                          </a:solidFill>
                          <a:latin typeface="Aptos"/>
                          <a:ea typeface="Microsoft YaHei"/>
                          <a:cs typeface="Aptos"/>
                        </a:rPr>
                        <a:t>3</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US" sz="1200" b="0">
                          <a:solidFill>
                            <a:schemeClr val="dk1"/>
                          </a:solidFill>
                          <a:latin typeface="Aptos"/>
                          <a:ea typeface="Microsoft YaHei"/>
                          <a:cs typeface="Aptos"/>
                        </a:rPr>
                        <a:t>0.9405</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r>
              <a:tr h="425450">
                <a:tc>
                  <a:txBody>
                    <a:bodyPr/>
                    <a:lstStyle/>
                    <a:p>
                      <a:pPr/>
                      <a:r>
                        <a:rPr lang="en-US" sz="1200" b="0">
                          <a:solidFill>
                            <a:schemeClr val="dk1"/>
                          </a:solidFill>
                          <a:latin typeface="Aptos"/>
                          <a:ea typeface="Microsoft YaHei"/>
                          <a:cs typeface="Aptos"/>
                        </a:rPr>
                        <a:t>L2</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r>
                        <a:rPr lang="en-US" sz="1200" b="0">
                          <a:solidFill>
                            <a:schemeClr val="dk1"/>
                          </a:solidFill>
                          <a:latin typeface="Aptos"/>
                          <a:ea typeface="Microsoft YaHei"/>
                          <a:cs typeface="Aptos"/>
                        </a:rPr>
                        <a:t>Project paper_v4</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r>
                        <a:rPr lang="en-US" sz="1200" b="0">
                          <a:solidFill>
                            <a:schemeClr val="dk1"/>
                          </a:solidFill>
                          <a:latin typeface="Aptos"/>
                          <a:ea typeface="Microsoft YaHei"/>
                          <a:cs typeface="Aptos"/>
                        </a:rPr>
                        <a:t>Session-disjoint</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lgn="r"/>
                      <a:r>
                        <a:rPr lang="en-US" sz="1200" b="0">
                          <a:solidFill>
                            <a:schemeClr val="dk1"/>
                          </a:solidFill>
                          <a:latin typeface="Aptos"/>
                          <a:ea typeface="Microsoft YaHei"/>
                          <a:cs typeface="Aptos"/>
                        </a:rPr>
                        <a:t>3</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c>
                  <a:txBody>
                    <a:bodyPr/>
                    <a:lstStyle/>
                    <a:p>
                      <a:pPr algn="r"/>
                      <a:r>
                        <a:rPr lang="en-US" sz="1200" b="1">
                          <a:solidFill>
                            <a:srgbClr val="B42318"/>
                          </a:solidFill>
                          <a:latin typeface="Aptos"/>
                          <a:ea typeface="Microsoft YaHei"/>
                          <a:cs typeface="Aptos"/>
                        </a:rPr>
                        <a:t>0.1324</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rgbClr val="FFFFFF"/>
                    </a:solidFill>
                  </a:tcPr>
                </a:tc>
              </a:tr>
              <a:tr h="425450">
                <a:tc>
                  <a:txBody>
                    <a:bodyPr/>
                    <a:lstStyle/>
                    <a:p>
                      <a:pPr/>
                      <a:r>
                        <a:rPr lang="en-US" sz="1200" b="0">
                          <a:solidFill>
                            <a:schemeClr val="dk1"/>
                          </a:solidFill>
                          <a:latin typeface="Aptos"/>
                          <a:ea typeface="Microsoft YaHei"/>
                          <a:cs typeface="Aptos"/>
                        </a:rPr>
                        <a:t>L2</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Aptos"/>
                          <a:ea typeface="Microsoft YaHei"/>
                          <a:cs typeface="Aptos"/>
                        </a:rPr>
                        <a:t>Improved BiGRU</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r>
                        <a:rPr lang="en-US" sz="1200" b="0">
                          <a:solidFill>
                            <a:schemeClr val="dk1"/>
                          </a:solidFill>
                          <a:latin typeface="Aptos"/>
                          <a:ea typeface="Microsoft YaHei"/>
                          <a:cs typeface="Aptos"/>
                        </a:rPr>
                        <a:t>Session-disjoint</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US" sz="1200" b="0">
                          <a:solidFill>
                            <a:schemeClr val="dk1"/>
                          </a:solidFill>
                          <a:latin typeface="Aptos"/>
                          <a:ea typeface="Microsoft YaHei"/>
                          <a:cs typeface="Aptos"/>
                        </a:rPr>
                        <a:t>3</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c>
                  <a:txBody>
                    <a:bodyPr/>
                    <a:lstStyle/>
                    <a:p>
                      <a:pPr algn="r"/>
                      <a:r>
                        <a:rPr lang="en-US" sz="1200" b="1">
                          <a:solidFill>
                            <a:srgbClr val="15803D"/>
                          </a:solidFill>
                          <a:latin typeface="Aptos"/>
                          <a:ea typeface="Microsoft YaHei"/>
                          <a:cs typeface="Aptos"/>
                        </a:rPr>
                        <a:t>0.5538</a:t>
                      </a:r>
                    </a:p>
                  </a:txBody>
                  <a:tcPr anchor="ctr" marL="76200" marR="76200" marT="76200" marB="76200">
                    <a:lnL w="9525">
                      <a:solidFill>
                        <a:schemeClr val="accent6"/>
                      </a:solidFill>
                      <a:prstDash val="solid"/>
                    </a:lnL>
                    <a:lnR w="9525">
                      <a:solidFill>
                        <a:schemeClr val="accent6"/>
                      </a:solidFill>
                      <a:prstDash val="solid"/>
                    </a:lnR>
                    <a:lnT w="9525">
                      <a:solidFill>
                        <a:schemeClr val="accent6"/>
                      </a:solidFill>
                      <a:prstDash val="solid"/>
                    </a:lnT>
                    <a:lnB w="9525">
                      <a:solidFill>
                        <a:schemeClr val="accent6"/>
                      </a:solidFill>
                      <a:prstDash val="solid"/>
                    </a:lnB>
                    <a:solidFill>
                      <a:schemeClr val="lt2"/>
                    </a:solidFill>
                  </a:tcPr>
                </a:tc>
              </a:tr>
            </a:tbl>
          </a:graphicData>
        </a:graphic>
      </p:graphicFrame>
      <p:grpSp>
        <p:nvGrpSpPr>
          <p:cNvPr id="8" name="takeaway"/>
          <p:cNvGrpSpPr/>
          <p:nvPr/>
        </p:nvGrpSpPr>
        <p:grpSpPr>
          <a:xfrm>
            <a:off x="944118" y="5848350"/>
            <a:ext cx="8829203" cy="322707"/>
            <a:chOff x="944118" y="5848350"/>
            <a:chExt cx="8829203" cy="322707"/>
          </a:xfrm>
        </p:grpSpPr>
        <p:sp>
          <p:nvSpPr>
            <p:cNvPr id="7" name="TextBox 7"/>
            <p:cNvSpPr txBox="1"/>
            <p:nvPr/>
          </p:nvSpPr>
          <p:spPr>
            <a:xfrm>
              <a:off x="944118" y="5848350"/>
              <a:ext cx="8829203"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Paper-selected windows are not the improved model’s best operating points.</a:t>
              </a:r>
            </a:p>
          </p:txBody>
        </p:sp>
      </p:grpSp>
      <p:grpSp>
        <p:nvGrpSpPr>
          <p:cNvPr id="11" name="footer"/>
          <p:cNvGrpSpPr/>
          <p:nvPr/>
        </p:nvGrpSpPr>
        <p:grpSpPr>
          <a:xfrm>
            <a:off x="947166" y="6369050"/>
            <a:ext cx="10297668" cy="205359"/>
            <a:chOff x="947166" y="6369050"/>
            <a:chExt cx="10297668" cy="205359"/>
          </a:xfrm>
        </p:grpSpPr>
        <p:sp>
          <p:nvSpPr>
            <p:cNvPr id="9" name="TextBox 9"/>
            <p:cNvSpPr txBox="1"/>
            <p:nvPr/>
          </p:nvSpPr>
          <p:spPr>
            <a:xfrm>
              <a:off x="947166" y="6369050"/>
              <a:ext cx="4245007"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Sources: Paper Tables V–VI; comprehensive metrics manifest</a:t>
              </a:r>
            </a:p>
          </p:txBody>
        </p:sp>
        <p:sp>
          <p:nvSpPr>
            <p:cNvPr id="10" name="TextBox 10"/>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41070" y="546100"/>
            <a:ext cx="7772551" cy="871855"/>
            <a:chOff x="941070" y="546100"/>
            <a:chExt cx="7772551" cy="871855"/>
          </a:xfrm>
        </p:grpSpPr>
        <p:sp>
          <p:nvSpPr>
            <p:cNvPr id="3" name="TextBox 3"/>
            <p:cNvSpPr txBox="1"/>
            <p:nvPr/>
          </p:nvSpPr>
          <p:spPr>
            <a:xfrm>
              <a:off x="946404" y="546100"/>
              <a:ext cx="3792931"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12 · CORRECTED BEST-WINDOW RESULT</a:t>
              </a:r>
            </a:p>
          </p:txBody>
        </p:sp>
        <p:sp>
          <p:nvSpPr>
            <p:cNvPr id="4" name="TextBox 4"/>
            <p:cNvSpPr txBox="1"/>
            <p:nvPr/>
          </p:nvSpPr>
          <p:spPr>
            <a:xfrm>
              <a:off x="941070" y="977900"/>
              <a:ext cx="7772551"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Mask-aware BiGRU improves both detection layers</a:t>
              </a:r>
            </a:p>
          </p:txBody>
        </p:sp>
      </p:grpSp>
      <p:grpSp>
        <p:nvGrpSpPr>
          <p:cNvPr id="9" name="best-window-f1"/>
          <p:cNvGrpSpPr/>
          <p:nvPr/>
        </p:nvGrpSpPr>
        <p:grpSpPr>
          <a:xfrm>
            <a:off x="-6000750" y="1790700"/>
            <a:ext cx="14687550" cy="3810000"/>
            <a:chOff x="-6000750" y="1790700"/>
            <a:chExt cx="14687550" cy="3810000"/>
          </a:xfrm>
        </p:grpSpPr>
        <p:graphicFrame>
          <p:nvGraphicFramePr>
            <p:cNvPr id="6" name="best-window-f1"/>
            <p:cNvGraphicFramePr>
              <a:graphicFrameLocks noGrp="1"/>
            </p:cNvGraphicFramePr>
            <p:nvPr/>
          </p:nvGraphicFramePr>
          <p:xfrm>
            <a:off x="952500" y="1790700"/>
            <a:ext cx="7429500" cy="3810000"/>
          </p:xfrm>
          <a:graphic>
            <a:graphicData uri="http://schemas.openxmlformats.org/drawingml/2006/chart">
              <c:chart xmlns:c="http://schemas.openxmlformats.org/drawingml/2006/chart" r:id="rId2"/>
            </a:graphicData>
          </a:graphic>
        </p:graphicFrame>
        <p:sp>
          <p:nvSpPr>
            <p:cNvPr id="7" name="Chart Note 7"/>
            <p:cNvSpPr txBox="1"/>
            <p:nvPr/>
          </p:nvSpPr>
          <p:spPr>
            <a:xfrm>
              <a:off x="1257300" y="1953578"/>
              <a:ext cx="7429500" cy="213360"/>
            </a:xfrm>
            <a:prstGeom prst="rect">
              <a:avLst/>
            </a:prstGeom>
            <a:noFill/>
            <a:ln>
              <a:noFill/>
            </a:ln>
          </p:spPr>
          <p:txBody>
            <a:bodyPr wrap="square" lIns="0" tIns="0" rIns="0" bIns="0" anchor="b" anchorCtr="0"/>
            <a:lstStyle/>
            <a:p>
              <a:pPr algn="l"/>
              <a:r>
                <a:rPr lang="en-US" sz="1050">
                  <a:solidFill>
                    <a:srgbClr val="172033"/>
                  </a:solidFill>
                  <a:latin typeface="Aptos"/>
                  <a:ea typeface="Microsoft YaHei"/>
                  <a:cs typeface="Aptos"/>
                </a:rPr>
                <a:t>Best corrected session-disjoint F1</a:t>
              </a:r>
            </a:p>
          </p:txBody>
        </p:sp>
        <p:sp>
          <p:nvSpPr>
            <p:cNvPr id="8" name="Chart Note 8"/>
            <p:cNvSpPr txBox="1"/>
            <p:nvPr/>
          </p:nvSpPr>
          <p:spPr>
            <a:xfrm>
              <a:off x="-6000750" y="2277428"/>
              <a:ext cx="7429500" cy="213360"/>
            </a:xfrm>
            <a:prstGeom prst="rect">
              <a:avLst/>
            </a:prstGeom>
            <a:noFill/>
            <a:ln>
              <a:noFill/>
            </a:ln>
          </p:spPr>
          <p:txBody>
            <a:bodyPr wrap="square" lIns="0" tIns="0" rIns="0" bIns="0" anchor="b" anchorCtr="0"/>
            <a:lstStyle/>
            <a:p>
              <a:pPr algn="r"/>
              <a:r>
                <a:rPr lang="en-US" sz="1050">
                  <a:solidFill>
                    <a:srgbClr val="172033"/>
                  </a:solidFill>
                  <a:latin typeface="Aptos"/>
                  <a:ea typeface="Microsoft YaHei"/>
                  <a:cs typeface="Aptos"/>
                </a:rPr>
                <a:t>1.00</a:t>
              </a:r>
            </a:p>
          </p:txBody>
        </p:sp>
      </p:grpSp>
      <p:grpSp>
        <p:nvGrpSpPr>
          <p:cNvPr id="18" name="delta-ledger"/>
          <p:cNvGrpSpPr/>
          <p:nvPr/>
        </p:nvGrpSpPr>
        <p:grpSpPr>
          <a:xfrm>
            <a:off x="8763000" y="1790700"/>
            <a:ext cx="2476500" cy="3810000"/>
            <a:chOff x="8763000" y="1790700"/>
            <a:chExt cx="2476500" cy="3810000"/>
          </a:xfrm>
        </p:grpSpPr>
        <p:sp>
          <p:nvSpPr>
            <p:cNvPr id="10" name="Rectangle 10"/>
            <p:cNvSpPr/>
            <p:nvPr/>
          </p:nvSpPr>
          <p:spPr>
            <a:xfrm>
              <a:off x="8763000" y="1790700"/>
              <a:ext cx="2476500" cy="3810000"/>
            </a:xfrm>
            <a:prstGeom prst="roundRect">
              <a:avLst>
                <a:gd name="adj" fmla="val 3846"/>
              </a:avLst>
            </a:prstGeom>
            <a:solidFill>
              <a:schemeClr val="accent1"/>
            </a:solidFill>
            <a:ln>
              <a:noFill/>
            </a:ln>
          </p:spPr>
        </p:sp>
        <p:sp>
          <p:nvSpPr>
            <p:cNvPr id="11" name="TextBox 11"/>
            <p:cNvSpPr txBox="1"/>
            <p:nvPr/>
          </p:nvSpPr>
          <p:spPr>
            <a:xfrm>
              <a:off x="9041892" y="2057400"/>
              <a:ext cx="1482700" cy="264033"/>
            </a:xfrm>
            <a:prstGeom prst="rect">
              <a:avLst/>
            </a:prstGeom>
            <a:noFill/>
            <a:ln>
              <a:noFill/>
            </a:ln>
          </p:spPr>
          <p:txBody>
            <a:bodyPr wrap="none" lIns="0" tIns="0" rIns="0" bIns="0" anchor="t" anchorCtr="0">
              <a:spAutoFit/>
            </a:bodyPr>
            <a:lstStyle/>
            <a:p>
              <a:pPr algn="l"/>
              <a:r>
                <a:rPr lang="en-US" sz="1350" dirty="0">
                  <a:solidFill>
                    <a:srgbClr val="C9EAF0"/>
                  </a:solidFill>
                  <a:latin typeface="+mn-lt"/>
                  <a:ea typeface="+mn-ea"/>
                  <a:cs typeface="+mn-cs"/>
                </a:rPr>
                <a:t>OBSERVED DELTA</a:t>
              </a:r>
            </a:p>
          </p:txBody>
        </p:sp>
        <p:sp>
          <p:nvSpPr>
            <p:cNvPr id="12" name="TextBox 12"/>
            <p:cNvSpPr txBox="1"/>
            <p:nvPr/>
          </p:nvSpPr>
          <p:spPr>
            <a:xfrm>
              <a:off x="9032748" y="2628900"/>
              <a:ext cx="1897837"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Consolas"/>
                  <a:ea typeface="Consolas"/>
                  <a:cs typeface="Consolas"/>
                </a:rPr>
                <a:t>+4.73 pp</a:t>
              </a:r>
            </a:p>
          </p:txBody>
        </p:sp>
        <p:sp>
          <p:nvSpPr>
            <p:cNvPr id="13" name="TextBox 13"/>
            <p:cNvSpPr txBox="1"/>
            <p:nvPr/>
          </p:nvSpPr>
          <p:spPr>
            <a:xfrm>
              <a:off x="9041892" y="3152775"/>
              <a:ext cx="67537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Layer 1</a:t>
              </a:r>
            </a:p>
          </p:txBody>
        </p:sp>
        <p:sp>
          <p:nvSpPr>
            <p:cNvPr id="14" name="Line 14"/>
            <p:cNvSpPr/>
            <p:nvPr/>
          </p:nvSpPr>
          <p:spPr>
            <a:xfrm>
              <a:off x="9048750" y="3714750"/>
              <a:ext cx="1905000" cy="9525"/>
            </a:xfrm>
            <a:custGeom>
              <a:avLst/>
              <a:gdLst/>
              <a:ahLst/>
              <a:cxnLst/>
              <a:rect l="l" t="t" r="r" b="b"/>
              <a:pathLst>
                <a:path w="1905000" h="9525">
                  <a:moveTo>
                    <a:pt x="0" y="0"/>
                  </a:moveTo>
                  <a:lnTo>
                    <a:pt x="1905000" y="0"/>
                  </a:lnTo>
                </a:path>
              </a:pathLst>
            </a:custGeom>
            <a:noFill/>
            <a:ln w="9525">
              <a:solidFill>
                <a:srgbClr val="5B6875"/>
              </a:solidFill>
            </a:ln>
          </p:spPr>
        </p:sp>
        <p:sp>
          <p:nvSpPr>
            <p:cNvPr id="15" name="TextBox 15"/>
            <p:cNvSpPr txBox="1"/>
            <p:nvPr/>
          </p:nvSpPr>
          <p:spPr>
            <a:xfrm>
              <a:off x="9032748" y="4038600"/>
              <a:ext cx="1897837"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Consolas"/>
                  <a:ea typeface="Consolas"/>
                  <a:cs typeface="Consolas"/>
                </a:rPr>
                <a:t>+4.40 pp</a:t>
              </a:r>
            </a:p>
          </p:txBody>
        </p:sp>
        <p:sp>
          <p:nvSpPr>
            <p:cNvPr id="16" name="TextBox 16"/>
            <p:cNvSpPr txBox="1"/>
            <p:nvPr/>
          </p:nvSpPr>
          <p:spPr>
            <a:xfrm>
              <a:off x="9041892" y="4562475"/>
              <a:ext cx="67537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Layer 2</a:t>
              </a:r>
            </a:p>
          </p:txBody>
        </p:sp>
        <p:sp>
          <p:nvSpPr>
            <p:cNvPr id="17" name="TextBox 17"/>
            <p:cNvSpPr txBox="1"/>
            <p:nvPr/>
          </p:nvSpPr>
          <p:spPr>
            <a:xfrm>
              <a:off x="9042654" y="5080000"/>
              <a:ext cx="1776618" cy="234696"/>
            </a:xfrm>
            <a:prstGeom prst="rect">
              <a:avLst/>
            </a:prstGeom>
            <a:noFill/>
            <a:ln>
              <a:noFill/>
            </a:ln>
          </p:spPr>
          <p:txBody>
            <a:bodyPr wrap="none" lIns="0" tIns="0" rIns="0" bIns="0" anchor="t" anchorCtr="0">
              <a:spAutoFit/>
            </a:bodyPr>
            <a:lstStyle/>
            <a:p>
              <a:pPr algn="l"/>
              <a:r>
                <a:rPr lang="en-US" sz="1200" dirty="0">
                  <a:solidFill>
                    <a:srgbClr val="C9EAF0"/>
                  </a:solidFill>
                  <a:latin typeface="+mn-lt"/>
                  <a:ea typeface="+mn-ea"/>
                  <a:cs typeface="+mn-cs"/>
                </a:rPr>
                <a:t>FPR = 0 at both optima</a:t>
              </a:r>
            </a:p>
          </p:txBody>
        </p:sp>
      </p:grpSp>
      <p:grpSp>
        <p:nvGrpSpPr>
          <p:cNvPr id="20" name="takeaway"/>
          <p:cNvGrpSpPr/>
          <p:nvPr/>
        </p:nvGrpSpPr>
        <p:grpSpPr>
          <a:xfrm>
            <a:off x="944118" y="5848350"/>
            <a:ext cx="8129253" cy="322707"/>
            <a:chOff x="944118" y="5848350"/>
            <a:chExt cx="8129253" cy="322707"/>
          </a:xfrm>
        </p:grpSpPr>
        <p:sp>
          <p:nvSpPr>
            <p:cNvPr id="19" name="TextBox 19"/>
            <p:cNvSpPr txBox="1"/>
            <p:nvPr/>
          </p:nvSpPr>
          <p:spPr>
            <a:xfrm>
              <a:off x="944118" y="5848350"/>
              <a:ext cx="8129253"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Improvement holds under the corrected split within the capped sample.</a:t>
              </a:r>
            </a:p>
          </p:txBody>
        </p:sp>
      </p:grpSp>
      <p:grpSp>
        <p:nvGrpSpPr>
          <p:cNvPr id="23" name="footer"/>
          <p:cNvGrpSpPr/>
          <p:nvPr/>
        </p:nvGrpSpPr>
        <p:grpSpPr>
          <a:xfrm>
            <a:off x="947166" y="6369050"/>
            <a:ext cx="10297668" cy="205359"/>
            <a:chOff x="947166" y="6369050"/>
            <a:chExt cx="10297668" cy="205359"/>
          </a:xfrm>
        </p:grpSpPr>
        <p:sp>
          <p:nvSpPr>
            <p:cNvPr id="21" name="TextBox 21"/>
            <p:cNvSpPr txBox="1"/>
            <p:nvPr/>
          </p:nvSpPr>
          <p:spPr>
            <a:xfrm>
              <a:off x="947166" y="6369050"/>
              <a:ext cx="619243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comprehensive metrics manifest; best windows selected independently per model</a:t>
              </a:r>
            </a:p>
          </p:txBody>
        </p:sp>
        <p:sp>
          <p:nvSpPr>
            <p:cNvPr id="22" name="TextBox 22"/>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57150" cy="6000750"/>
          </a:xfrm>
          <a:prstGeom prst="rect">
            <a:avLst/>
          </a:prstGeom>
          <a:solidFill>
            <a:schemeClr val="accent2"/>
          </a:solidFill>
          <a:ln>
            <a:noFill/>
          </a:ln>
        </p:spPr>
      </p:sp>
      <p:grpSp>
        <p:nvGrpSpPr>
          <p:cNvPr id="5" name="heading"/>
          <p:cNvGrpSpPr/>
          <p:nvPr/>
        </p:nvGrpSpPr>
        <p:grpSpPr>
          <a:xfrm>
            <a:off x="941070" y="546100"/>
            <a:ext cx="8652579" cy="871855"/>
            <a:chOff x="941070" y="546100"/>
            <a:chExt cx="8652579" cy="871855"/>
          </a:xfrm>
        </p:grpSpPr>
        <p:sp>
          <p:nvSpPr>
            <p:cNvPr id="3" name="TextBox 3"/>
            <p:cNvSpPr txBox="1"/>
            <p:nvPr/>
          </p:nvSpPr>
          <p:spPr>
            <a:xfrm>
              <a:off x="946404" y="546100"/>
              <a:ext cx="1834286" cy="234696"/>
            </a:xfrm>
            <a:prstGeom prst="rect">
              <a:avLst/>
            </a:prstGeom>
            <a:noFill/>
            <a:ln>
              <a:noFill/>
            </a:ln>
          </p:spPr>
          <p:txBody>
            <a:bodyPr wrap="none" lIns="0" tIns="0" rIns="0" bIns="0" anchor="t" anchorCtr="0">
              <a:spAutoFit/>
            </a:bodyPr>
            <a:lstStyle/>
            <a:p>
              <a:pPr algn="l"/>
              <a:r>
                <a:rPr lang="en-US" sz="1200" spc="150" dirty="0">
                  <a:solidFill>
                    <a:schemeClr val="accent2"/>
                  </a:solidFill>
                  <a:latin typeface="Consolas"/>
                  <a:ea typeface="Consolas"/>
                  <a:cs typeface="Consolas"/>
                </a:rPr>
                <a:t>13 · LIMITATIONS</a:t>
              </a:r>
            </a:p>
          </p:txBody>
        </p:sp>
        <p:sp>
          <p:nvSpPr>
            <p:cNvPr id="4" name="TextBox 4"/>
            <p:cNvSpPr txBox="1"/>
            <p:nvPr/>
          </p:nvSpPr>
          <p:spPr>
            <a:xfrm>
              <a:off x="941070" y="977900"/>
              <a:ext cx="8652579"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What the current evidence does—and does not—establish</a:t>
              </a:r>
            </a:p>
          </p:txBody>
        </p:sp>
      </p:grpSp>
      <p:grpSp>
        <p:nvGrpSpPr>
          <p:cNvPr id="26" name="limitation-grid"/>
          <p:cNvGrpSpPr/>
          <p:nvPr/>
        </p:nvGrpSpPr>
        <p:grpSpPr>
          <a:xfrm>
            <a:off x="952500" y="1752600"/>
            <a:ext cx="10287000" cy="3829050"/>
            <a:chOff x="952500" y="1752600"/>
            <a:chExt cx="10287000" cy="3829050"/>
          </a:xfrm>
        </p:grpSpPr>
        <p:sp>
          <p:nvSpPr>
            <p:cNvPr id="6" name="Rectangle 6"/>
            <p:cNvSpPr/>
            <p:nvPr/>
          </p:nvSpPr>
          <p:spPr>
            <a:xfrm>
              <a:off x="952500" y="1752600"/>
              <a:ext cx="4953000" cy="1771650"/>
            </a:xfrm>
            <a:prstGeom prst="roundRect">
              <a:avLst>
                <a:gd name="adj" fmla="val 5376"/>
              </a:avLst>
            </a:prstGeom>
            <a:solidFill>
              <a:srgbClr val="FFFFFF"/>
            </a:solidFill>
            <a:ln w="19050">
              <a:solidFill>
                <a:schemeClr val="accent6"/>
              </a:solidFill>
            </a:ln>
          </p:spPr>
        </p:sp>
        <p:sp>
          <p:nvSpPr>
            <p:cNvPr id="7" name="TextBox 7"/>
            <p:cNvSpPr txBox="1"/>
            <p:nvPr/>
          </p:nvSpPr>
          <p:spPr>
            <a:xfrm>
              <a:off x="1250442" y="2000250"/>
              <a:ext cx="1566230"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01 · SAMPLE CAP</a:t>
              </a:r>
            </a:p>
          </p:txBody>
        </p:sp>
        <p:sp>
          <p:nvSpPr>
            <p:cNvPr id="8" name="TextBox 8"/>
            <p:cNvSpPr txBox="1"/>
            <p:nvPr/>
          </p:nvSpPr>
          <p:spPr>
            <a:xfrm>
              <a:off x="1248918" y="2362200"/>
              <a:ext cx="239570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25 flows per capture</a:t>
              </a:r>
            </a:p>
          </p:txBody>
        </p:sp>
        <p:sp>
          <p:nvSpPr>
            <p:cNvPr id="9" name="TextBox 9"/>
            <p:cNvSpPr txBox="1"/>
            <p:nvPr/>
          </p:nvSpPr>
          <p:spPr>
            <a:xfrm>
              <a:off x="1250442" y="2743200"/>
              <a:ext cx="423629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Controls runtime; does not prove convergence.</a:t>
              </a:r>
            </a:p>
          </p:txBody>
        </p:sp>
        <p:sp>
          <p:nvSpPr>
            <p:cNvPr id="10" name="TextBox 10"/>
            <p:cNvSpPr txBox="1"/>
            <p:nvPr/>
          </p:nvSpPr>
          <p:spPr>
            <a:xfrm>
              <a:off x="1251204" y="3079750"/>
              <a:ext cx="288560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Next: larger caps + repeated seeds.</a:t>
              </a:r>
            </a:p>
          </p:txBody>
        </p:sp>
        <p:sp>
          <p:nvSpPr>
            <p:cNvPr id="11" name="Rectangle 11"/>
            <p:cNvSpPr/>
            <p:nvPr/>
          </p:nvSpPr>
          <p:spPr>
            <a:xfrm>
              <a:off x="6286500" y="1752600"/>
              <a:ext cx="4953000" cy="1771650"/>
            </a:xfrm>
            <a:prstGeom prst="roundRect">
              <a:avLst>
                <a:gd name="adj" fmla="val 5376"/>
              </a:avLst>
            </a:prstGeom>
            <a:solidFill>
              <a:srgbClr val="FFFFFF"/>
            </a:solidFill>
            <a:ln w="19050">
              <a:solidFill>
                <a:schemeClr val="accent6"/>
              </a:solidFill>
            </a:ln>
          </p:spPr>
        </p:sp>
        <p:sp>
          <p:nvSpPr>
            <p:cNvPr id="12" name="TextBox 12"/>
            <p:cNvSpPr txBox="1"/>
            <p:nvPr/>
          </p:nvSpPr>
          <p:spPr>
            <a:xfrm>
              <a:off x="6584442" y="2000250"/>
              <a:ext cx="2261837"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02 · CLASS AVAILABILITY</a:t>
              </a:r>
            </a:p>
          </p:txBody>
        </p:sp>
        <p:sp>
          <p:nvSpPr>
            <p:cNvPr id="13" name="TextBox 13"/>
            <p:cNvSpPr txBox="1"/>
            <p:nvPr/>
          </p:nvSpPr>
          <p:spPr>
            <a:xfrm>
              <a:off x="6582918" y="2362200"/>
              <a:ext cx="340242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Benign DoH stops at 325 flows</a:t>
              </a:r>
            </a:p>
          </p:txBody>
        </p:sp>
        <p:sp>
          <p:nvSpPr>
            <p:cNvPr id="14" name="TextBox 14"/>
            <p:cNvSpPr txBox="1"/>
            <p:nvPr/>
          </p:nvSpPr>
          <p:spPr>
            <a:xfrm>
              <a:off x="6584442" y="2743200"/>
              <a:ext cx="336359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Requested quotas cannot all be filled.</a:t>
              </a:r>
            </a:p>
          </p:txBody>
        </p:sp>
        <p:sp>
          <p:nvSpPr>
            <p:cNvPr id="15" name="TextBox 15"/>
            <p:cNvSpPr txBox="1"/>
            <p:nvPr/>
          </p:nvSpPr>
          <p:spPr>
            <a:xfrm>
              <a:off x="6585204" y="3079750"/>
              <a:ext cx="2796172"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Next: report confidence intervals.</a:t>
              </a:r>
            </a:p>
          </p:txBody>
        </p:sp>
        <p:sp>
          <p:nvSpPr>
            <p:cNvPr id="16" name="Rectangle 16"/>
            <p:cNvSpPr/>
            <p:nvPr/>
          </p:nvSpPr>
          <p:spPr>
            <a:xfrm>
              <a:off x="952500" y="3810000"/>
              <a:ext cx="4953000" cy="1771650"/>
            </a:xfrm>
            <a:prstGeom prst="roundRect">
              <a:avLst>
                <a:gd name="adj" fmla="val 5376"/>
              </a:avLst>
            </a:prstGeom>
            <a:solidFill>
              <a:srgbClr val="FFFFFF"/>
            </a:solidFill>
            <a:ln w="19050">
              <a:solidFill>
                <a:schemeClr val="accent6"/>
              </a:solidFill>
            </a:ln>
          </p:spPr>
        </p:sp>
        <p:sp>
          <p:nvSpPr>
            <p:cNvPr id="17" name="TextBox 17"/>
            <p:cNvSpPr txBox="1"/>
            <p:nvPr/>
          </p:nvSpPr>
          <p:spPr>
            <a:xfrm>
              <a:off x="1250442" y="4057650"/>
              <a:ext cx="1818262"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03 · DOMAIN SCOPE</a:t>
              </a:r>
            </a:p>
          </p:txBody>
        </p:sp>
        <p:sp>
          <p:nvSpPr>
            <p:cNvPr id="18" name="TextBox 18"/>
            <p:cNvSpPr txBox="1"/>
            <p:nvPr/>
          </p:nvSpPr>
          <p:spPr>
            <a:xfrm>
              <a:off x="1248918" y="4419600"/>
              <a:ext cx="319648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One benchmark environment</a:t>
              </a:r>
            </a:p>
          </p:txBody>
        </p:sp>
        <p:sp>
          <p:nvSpPr>
            <p:cNvPr id="19" name="TextBox 19"/>
            <p:cNvSpPr txBox="1"/>
            <p:nvPr/>
          </p:nvSpPr>
          <p:spPr>
            <a:xfrm>
              <a:off x="1250442" y="4800600"/>
              <a:ext cx="412725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Unknown transfer to new resolvers and tools.</a:t>
              </a:r>
            </a:p>
          </p:txBody>
        </p:sp>
        <p:sp>
          <p:nvSpPr>
            <p:cNvPr id="20" name="TextBox 20"/>
            <p:cNvSpPr txBox="1"/>
            <p:nvPr/>
          </p:nvSpPr>
          <p:spPr>
            <a:xfrm>
              <a:off x="1251204" y="5137150"/>
              <a:ext cx="328890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Next: cross-dataset external validation.</a:t>
              </a:r>
            </a:p>
          </p:txBody>
        </p:sp>
        <p:sp>
          <p:nvSpPr>
            <p:cNvPr id="21" name="Rectangle 21"/>
            <p:cNvSpPr/>
            <p:nvPr/>
          </p:nvSpPr>
          <p:spPr>
            <a:xfrm>
              <a:off x="6286500" y="3810000"/>
              <a:ext cx="4953000" cy="1771650"/>
            </a:xfrm>
            <a:prstGeom prst="roundRect">
              <a:avLst>
                <a:gd name="adj" fmla="val 5376"/>
              </a:avLst>
            </a:prstGeom>
            <a:solidFill>
              <a:srgbClr val="FFFFFF"/>
            </a:solidFill>
            <a:ln w="19050">
              <a:solidFill>
                <a:schemeClr val="accent6"/>
              </a:solidFill>
            </a:ln>
          </p:spPr>
        </p:sp>
        <p:sp>
          <p:nvSpPr>
            <p:cNvPr id="22" name="TextBox 22"/>
            <p:cNvSpPr txBox="1"/>
            <p:nvPr/>
          </p:nvSpPr>
          <p:spPr>
            <a:xfrm>
              <a:off x="6584442" y="4057650"/>
              <a:ext cx="2060212"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04 · OPERATING POINT</a:t>
              </a:r>
            </a:p>
          </p:txBody>
        </p:sp>
        <p:sp>
          <p:nvSpPr>
            <p:cNvPr id="23" name="TextBox 23"/>
            <p:cNvSpPr txBox="1"/>
            <p:nvPr/>
          </p:nvSpPr>
          <p:spPr>
            <a:xfrm>
              <a:off x="6582918" y="4419600"/>
              <a:ext cx="359324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Best window chosen post sweep</a:t>
              </a:r>
            </a:p>
          </p:txBody>
        </p:sp>
        <p:sp>
          <p:nvSpPr>
            <p:cNvPr id="24" name="TextBox 24"/>
            <p:cNvSpPr txBox="1"/>
            <p:nvPr/>
          </p:nvSpPr>
          <p:spPr>
            <a:xfrm>
              <a:off x="6584442" y="4800600"/>
              <a:ext cx="373608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Window selection needs nested validation.</a:t>
              </a:r>
            </a:p>
          </p:txBody>
        </p:sp>
        <p:sp>
          <p:nvSpPr>
            <p:cNvPr id="25" name="TextBox 25"/>
            <p:cNvSpPr txBox="1"/>
            <p:nvPr/>
          </p:nvSpPr>
          <p:spPr>
            <a:xfrm>
              <a:off x="6585204" y="5137150"/>
              <a:ext cx="294147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Next: locked holdout and calibration.</a:t>
              </a:r>
            </a:p>
          </p:txBody>
        </p:sp>
      </p:grpSp>
      <p:grpSp>
        <p:nvGrpSpPr>
          <p:cNvPr id="28" name="takeaway"/>
          <p:cNvGrpSpPr/>
          <p:nvPr/>
        </p:nvGrpSpPr>
        <p:grpSpPr>
          <a:xfrm>
            <a:off x="944118" y="5848350"/>
            <a:ext cx="6904813" cy="322707"/>
            <a:chOff x="944118" y="5848350"/>
            <a:chExt cx="6904813" cy="322707"/>
          </a:xfrm>
        </p:grpSpPr>
        <p:sp>
          <p:nvSpPr>
            <p:cNvPr id="27" name="TextBox 27"/>
            <p:cNvSpPr txBox="1"/>
            <p:nvPr/>
          </p:nvSpPr>
          <p:spPr>
            <a:xfrm>
              <a:off x="944118" y="5848350"/>
              <a:ext cx="6904813"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Claim only the bounded comparison the experiment supports.</a:t>
              </a:r>
            </a:p>
          </p:txBody>
        </p:sp>
      </p:grpSp>
      <p:grpSp>
        <p:nvGrpSpPr>
          <p:cNvPr id="31" name="footer"/>
          <p:cNvGrpSpPr/>
          <p:nvPr/>
        </p:nvGrpSpPr>
        <p:grpSpPr>
          <a:xfrm>
            <a:off x="947166" y="6369050"/>
            <a:ext cx="10297668" cy="205359"/>
            <a:chOff x="947166" y="6369050"/>
            <a:chExt cx="10297668" cy="205359"/>
          </a:xfrm>
        </p:grpSpPr>
        <p:sp>
          <p:nvSpPr>
            <p:cNvPr id="29" name="TextBox 29"/>
            <p:cNvSpPr txBox="1"/>
            <p:nvPr/>
          </p:nvSpPr>
          <p:spPr>
            <a:xfrm>
              <a:off x="947166" y="6369050"/>
              <a:ext cx="5351245"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Interpretation constrained by experiment manifest and provenance taxonomy</a:t>
              </a:r>
            </a:p>
          </p:txBody>
        </p:sp>
        <p:sp>
          <p:nvSpPr>
            <p:cNvPr id="30" name="TextBox 30"/>
            <p:cNvSpPr txBox="1"/>
            <p:nvPr/>
          </p:nvSpPr>
          <p:spPr>
            <a:xfrm>
              <a:off x="110786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edger-rule"/>
          <p:cNvSpPr/>
          <p:nvPr/>
        </p:nvSpPr>
        <p:spPr>
          <a:xfrm>
            <a:off x="609600" y="400050"/>
            <a:ext cx="76200" cy="6000750"/>
          </a:xfrm>
          <a:prstGeom prst="rect">
            <a:avLst/>
          </a:prstGeom>
          <a:solidFill>
            <a:schemeClr val="accent2"/>
          </a:solidFill>
          <a:ln>
            <a:noFill/>
          </a:ln>
        </p:spPr>
      </p:sp>
      <p:grpSp>
        <p:nvGrpSpPr>
          <p:cNvPr id="6" name="heading"/>
          <p:cNvGrpSpPr/>
          <p:nvPr/>
        </p:nvGrpSpPr>
        <p:grpSpPr>
          <a:xfrm>
            <a:off x="974598" y="711200"/>
            <a:ext cx="10525885" cy="1619377"/>
            <a:chOff x="974598" y="711200"/>
            <a:chExt cx="10525885" cy="1619377"/>
          </a:xfrm>
        </p:grpSpPr>
        <p:sp>
          <p:nvSpPr>
            <p:cNvPr id="3" name="TextBox 3"/>
            <p:cNvSpPr txBox="1"/>
            <p:nvPr/>
          </p:nvSpPr>
          <p:spPr>
            <a:xfrm>
              <a:off x="983742" y="711200"/>
              <a:ext cx="1261872" cy="264033"/>
            </a:xfrm>
            <a:prstGeom prst="rect">
              <a:avLst/>
            </a:prstGeom>
            <a:noFill/>
            <a:ln>
              <a:noFill/>
            </a:ln>
          </p:spPr>
          <p:txBody>
            <a:bodyPr wrap="none" lIns="0" tIns="0" rIns="0" bIns="0" anchor="t" anchorCtr="0">
              <a:spAutoFit/>
            </a:bodyPr>
            <a:lstStyle/>
            <a:p>
              <a:pPr algn="l"/>
              <a:r>
                <a:rPr lang="en-US" sz="1350" spc="150" dirty="0">
                  <a:solidFill>
                    <a:schemeClr val="accent2"/>
                  </a:solidFill>
                  <a:latin typeface="Consolas"/>
                  <a:ea typeface="Consolas"/>
                  <a:cs typeface="Consolas"/>
                </a:rPr>
                <a:t>CONCLUSION</a:t>
              </a:r>
            </a:p>
          </p:txBody>
        </p:sp>
        <p:sp>
          <p:nvSpPr>
            <p:cNvPr id="4" name="TextBox 4"/>
            <p:cNvSpPr txBox="1"/>
            <p:nvPr/>
          </p:nvSpPr>
          <p:spPr>
            <a:xfrm>
              <a:off x="974598" y="1143000"/>
              <a:ext cx="4989066"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Preserve the baseline.</a:t>
              </a:r>
            </a:p>
          </p:txBody>
        </p:sp>
        <p:sp>
          <p:nvSpPr>
            <p:cNvPr id="5" name="TextBox 5"/>
            <p:cNvSpPr txBox="1"/>
            <p:nvPr/>
          </p:nvSpPr>
          <p:spPr>
            <a:xfrm>
              <a:off x="974598" y="1714500"/>
              <a:ext cx="10525885"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Fix the evaluation. Improve the sequence model.</a:t>
              </a:r>
            </a:p>
          </p:txBody>
        </p:sp>
      </p:grpSp>
      <p:grpSp>
        <p:nvGrpSpPr>
          <p:cNvPr id="22" name="imperatives"/>
          <p:cNvGrpSpPr/>
          <p:nvPr/>
        </p:nvGrpSpPr>
        <p:grpSpPr>
          <a:xfrm>
            <a:off x="990600" y="2876550"/>
            <a:ext cx="10096500" cy="1943100"/>
            <a:chOff x="990600" y="2876550"/>
            <a:chExt cx="10096500" cy="1943100"/>
          </a:xfrm>
        </p:grpSpPr>
        <p:sp>
          <p:nvSpPr>
            <p:cNvPr id="7" name="Rectangle 7"/>
            <p:cNvSpPr/>
            <p:nvPr/>
          </p:nvSpPr>
          <p:spPr>
            <a:xfrm>
              <a:off x="990600" y="2876550"/>
              <a:ext cx="3048000" cy="1943100"/>
            </a:xfrm>
            <a:prstGeom prst="roundRect">
              <a:avLst>
                <a:gd name="adj" fmla="val 4902"/>
              </a:avLst>
            </a:prstGeom>
            <a:solidFill>
              <a:srgbClr val="FFFFFF"/>
            </a:solidFill>
            <a:ln w="19050">
              <a:solidFill>
                <a:schemeClr val="accent6"/>
              </a:solidFill>
            </a:ln>
          </p:spPr>
        </p:sp>
        <p:sp>
          <p:nvSpPr>
            <p:cNvPr id="8" name="TextBox 8"/>
            <p:cNvSpPr txBox="1"/>
            <p:nvPr/>
          </p:nvSpPr>
          <p:spPr>
            <a:xfrm>
              <a:off x="1288542" y="3168650"/>
              <a:ext cx="213627"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Consolas"/>
                  <a:ea typeface="Consolas"/>
                  <a:cs typeface="Consolas"/>
                </a:rPr>
                <a:t>01</a:t>
              </a:r>
            </a:p>
          </p:txBody>
        </p:sp>
        <p:sp>
          <p:nvSpPr>
            <p:cNvPr id="9" name="TextBox 9"/>
            <p:cNvSpPr txBox="1"/>
            <p:nvPr/>
          </p:nvSpPr>
          <p:spPr>
            <a:xfrm>
              <a:off x="1285494" y="3524250"/>
              <a:ext cx="1392784"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Reproduce</a:t>
              </a:r>
            </a:p>
          </p:txBody>
        </p:sp>
        <p:sp>
          <p:nvSpPr>
            <p:cNvPr id="10" name="TextBox 10"/>
            <p:cNvSpPr txBox="1"/>
            <p:nvPr/>
          </p:nvSpPr>
          <p:spPr>
            <a:xfrm>
              <a:off x="1288542" y="3981450"/>
              <a:ext cx="185043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Statistical and LSTM</a:t>
              </a:r>
            </a:p>
          </p:txBody>
        </p:sp>
        <p:sp>
          <p:nvSpPr>
            <p:cNvPr id="11" name="TextBox 11"/>
            <p:cNvSpPr txBox="1"/>
            <p:nvPr/>
          </p:nvSpPr>
          <p:spPr>
            <a:xfrm>
              <a:off x="1288542" y="4248150"/>
              <a:ext cx="247625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baselines remain traceable.</a:t>
              </a:r>
            </a:p>
          </p:txBody>
        </p:sp>
        <p:sp>
          <p:nvSpPr>
            <p:cNvPr id="12" name="Rectangle 12"/>
            <p:cNvSpPr/>
            <p:nvPr/>
          </p:nvSpPr>
          <p:spPr>
            <a:xfrm>
              <a:off x="4514850" y="2876550"/>
              <a:ext cx="3048000" cy="1943100"/>
            </a:xfrm>
            <a:prstGeom prst="roundRect">
              <a:avLst>
                <a:gd name="adj" fmla="val 4902"/>
              </a:avLst>
            </a:prstGeom>
            <a:solidFill>
              <a:schemeClr val="accent1"/>
            </a:solidFill>
            <a:ln>
              <a:noFill/>
            </a:ln>
          </p:spPr>
        </p:sp>
        <p:sp>
          <p:nvSpPr>
            <p:cNvPr id="13" name="TextBox 13"/>
            <p:cNvSpPr txBox="1"/>
            <p:nvPr/>
          </p:nvSpPr>
          <p:spPr>
            <a:xfrm>
              <a:off x="4812792" y="3168650"/>
              <a:ext cx="213627" cy="264033"/>
            </a:xfrm>
            <a:prstGeom prst="rect">
              <a:avLst/>
            </a:prstGeom>
            <a:noFill/>
            <a:ln>
              <a:noFill/>
            </a:ln>
          </p:spPr>
          <p:txBody>
            <a:bodyPr wrap="none" lIns="0" tIns="0" rIns="0" bIns="0" anchor="t" anchorCtr="0">
              <a:spAutoFit/>
            </a:bodyPr>
            <a:lstStyle/>
            <a:p>
              <a:pPr algn="l"/>
              <a:r>
                <a:rPr lang="en-US" sz="1350" dirty="0">
                  <a:solidFill>
                    <a:srgbClr val="C9EAF0"/>
                  </a:solidFill>
                  <a:latin typeface="Consolas"/>
                  <a:ea typeface="Consolas"/>
                  <a:cs typeface="Consolas"/>
                </a:rPr>
                <a:t>02</a:t>
              </a:r>
            </a:p>
          </p:txBody>
        </p:sp>
        <p:sp>
          <p:nvSpPr>
            <p:cNvPr id="14" name="TextBox 14"/>
            <p:cNvSpPr txBox="1"/>
            <p:nvPr/>
          </p:nvSpPr>
          <p:spPr>
            <a:xfrm>
              <a:off x="4809744" y="3524250"/>
              <a:ext cx="1089586"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n-lt"/>
                  <a:ea typeface="+mn-ea"/>
                  <a:cs typeface="+mn-cs"/>
                </a:rPr>
                <a:t>Correct</a:t>
              </a:r>
            </a:p>
          </p:txBody>
        </p:sp>
        <p:sp>
          <p:nvSpPr>
            <p:cNvPr id="15" name="TextBox 15"/>
            <p:cNvSpPr txBox="1"/>
            <p:nvPr/>
          </p:nvSpPr>
          <p:spPr>
            <a:xfrm>
              <a:off x="4812792" y="3981450"/>
              <a:ext cx="1999989"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Session-disjoint splits</a:t>
              </a:r>
            </a:p>
          </p:txBody>
        </p:sp>
        <p:sp>
          <p:nvSpPr>
            <p:cNvPr id="16" name="TextBox 16"/>
            <p:cNvSpPr txBox="1"/>
            <p:nvPr/>
          </p:nvSpPr>
          <p:spPr>
            <a:xfrm>
              <a:off x="4812792" y="4248150"/>
              <a:ext cx="2239994"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test real generalization.</a:t>
              </a:r>
            </a:p>
          </p:txBody>
        </p:sp>
        <p:sp>
          <p:nvSpPr>
            <p:cNvPr id="17" name="Rectangle 17"/>
            <p:cNvSpPr/>
            <p:nvPr/>
          </p:nvSpPr>
          <p:spPr>
            <a:xfrm>
              <a:off x="8039100" y="2876550"/>
              <a:ext cx="3048000" cy="1943100"/>
            </a:xfrm>
            <a:prstGeom prst="roundRect">
              <a:avLst>
                <a:gd name="adj" fmla="val 4902"/>
              </a:avLst>
            </a:prstGeom>
            <a:solidFill>
              <a:srgbClr val="DDF4F2"/>
            </a:solidFill>
            <a:ln w="19050">
              <a:solidFill>
                <a:schemeClr val="accent2"/>
              </a:solidFill>
            </a:ln>
          </p:spPr>
        </p:sp>
        <p:sp>
          <p:nvSpPr>
            <p:cNvPr id="18" name="TextBox 18"/>
            <p:cNvSpPr txBox="1"/>
            <p:nvPr/>
          </p:nvSpPr>
          <p:spPr>
            <a:xfrm>
              <a:off x="8337042" y="3168650"/>
              <a:ext cx="213627"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Consolas"/>
                  <a:ea typeface="Consolas"/>
                  <a:cs typeface="Consolas"/>
                </a:rPr>
                <a:t>03</a:t>
              </a:r>
            </a:p>
          </p:txBody>
        </p:sp>
        <p:sp>
          <p:nvSpPr>
            <p:cNvPr id="19" name="TextBox 19"/>
            <p:cNvSpPr txBox="1"/>
            <p:nvPr/>
          </p:nvSpPr>
          <p:spPr>
            <a:xfrm>
              <a:off x="8333994" y="3524250"/>
              <a:ext cx="1075693"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Improve</a:t>
              </a:r>
            </a:p>
          </p:txBody>
        </p:sp>
        <p:sp>
          <p:nvSpPr>
            <p:cNvPr id="20" name="TextBox 20"/>
            <p:cNvSpPr txBox="1"/>
            <p:nvPr/>
          </p:nvSpPr>
          <p:spPr>
            <a:xfrm>
              <a:off x="8337042" y="3981450"/>
              <a:ext cx="208117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Mask-aware BiGRU adds</a:t>
              </a:r>
            </a:p>
          </p:txBody>
        </p:sp>
        <p:sp>
          <p:nvSpPr>
            <p:cNvPr id="21" name="TextBox 21"/>
            <p:cNvSpPr txBox="1"/>
            <p:nvPr/>
          </p:nvSpPr>
          <p:spPr>
            <a:xfrm>
              <a:off x="8337042" y="4248150"/>
              <a:ext cx="186537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+4.73 / +4.40 pp F1.</a:t>
              </a:r>
            </a:p>
          </p:txBody>
        </p:sp>
      </p:grpSp>
      <p:grpSp>
        <p:nvGrpSpPr>
          <p:cNvPr id="25" name="closing-proof"/>
          <p:cNvGrpSpPr/>
          <p:nvPr/>
        </p:nvGrpSpPr>
        <p:grpSpPr>
          <a:xfrm>
            <a:off x="979932" y="5454650"/>
            <a:ext cx="6620445" cy="638683"/>
            <a:chOff x="979932" y="5454650"/>
            <a:chExt cx="6620445" cy="638683"/>
          </a:xfrm>
        </p:grpSpPr>
        <p:sp>
          <p:nvSpPr>
            <p:cNvPr id="23" name="TextBox 23"/>
            <p:cNvSpPr txBox="1"/>
            <p:nvPr/>
          </p:nvSpPr>
          <p:spPr>
            <a:xfrm>
              <a:off x="979932" y="5454650"/>
              <a:ext cx="6620445"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Methodological validity is the primary result.</a:t>
              </a:r>
            </a:p>
          </p:txBody>
        </p:sp>
        <p:sp>
          <p:nvSpPr>
            <p:cNvPr id="24" name="TextBox 24"/>
            <p:cNvSpPr txBox="1"/>
            <p:nvPr/>
          </p:nvSpPr>
          <p:spPr>
            <a:xfrm>
              <a:off x="983742" y="5829300"/>
              <a:ext cx="59080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The model gain matters because it survives the stricter protocol.</a:t>
              </a:r>
            </a:p>
          </p:txBody>
        </p:sp>
      </p:grpSp>
      <p:grpSp>
        <p:nvGrpSpPr>
          <p:cNvPr id="28" name="footer"/>
          <p:cNvGrpSpPr/>
          <p:nvPr/>
        </p:nvGrpSpPr>
        <p:grpSpPr>
          <a:xfrm>
            <a:off x="985266" y="6369050"/>
            <a:ext cx="10107168" cy="205359"/>
            <a:chOff x="985266" y="6369050"/>
            <a:chExt cx="10107168" cy="205359"/>
          </a:xfrm>
        </p:grpSpPr>
        <p:sp>
          <p:nvSpPr>
            <p:cNvPr id="26" name="TextBox 26"/>
            <p:cNvSpPr txBox="1"/>
            <p:nvPr/>
          </p:nvSpPr>
          <p:spPr>
            <a:xfrm>
              <a:off x="985266" y="6369050"/>
              <a:ext cx="3707039"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DoH Tunnel Detection · Reproduction and Improvement</a:t>
              </a:r>
            </a:p>
          </p:txBody>
        </p:sp>
        <p:sp>
          <p:nvSpPr>
            <p:cNvPr id="27" name="TextBox 27"/>
            <p:cNvSpPr txBox="1"/>
            <p:nvPr/>
          </p:nvSpPr>
          <p:spPr>
            <a:xfrm>
              <a:off x="10926280" y="6369050"/>
              <a:ext cx="16615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onsolas"/>
                  <a:ea typeface="Consolas"/>
                  <a:cs typeface="Consolas"/>
                </a:rPr>
                <a:t>15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oh_paper_reproduction">
  <a:themeElements>
    <a:clrScheme name="doh_paper_reproduction">
      <a:dk1>
        <a:srgbClr val="172033"/>
      </a:dk1>
      <a:lt1>
        <a:srgbClr val="F7F9FC"/>
      </a:lt1>
      <a:dk2>
        <a:srgbClr val="1F497D"/>
      </a:dk2>
      <a:lt2>
        <a:srgbClr val="EAF0F5"/>
      </a:lt2>
      <a:accent1>
        <a:srgbClr val="14324B"/>
      </a:accent1>
      <a:accent2>
        <a:srgbClr val="0E7490"/>
      </a:accent2>
      <a:accent3>
        <a:srgbClr val="D97706"/>
      </a:accent3>
      <a:accent4>
        <a:srgbClr val="14324B"/>
      </a:accent4>
      <a:accent5>
        <a:srgbClr val="5B6875"/>
      </a:accent5>
      <a:accent6>
        <a:srgbClr val="C9D3DC"/>
      </a:accent6>
      <a:hlink>
        <a:srgbClr val="0E7490"/>
      </a:hlink>
      <a:folHlink>
        <a:srgbClr val="D97706"/>
      </a:folHlink>
    </a:clrScheme>
    <a:fontScheme name="doh_paper_reproduction">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oh_paper_reproduct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oh_paper_reproduction">
  <a:themeElements>
    <a:clrScheme name="doh_paper_reproduction">
      <a:dk1>
        <a:srgbClr val="172033"/>
      </a:dk1>
      <a:lt1>
        <a:srgbClr val="F7F9FC"/>
      </a:lt1>
      <a:dk2>
        <a:srgbClr val="1F497D"/>
      </a:dk2>
      <a:lt2>
        <a:srgbClr val="EAF0F5"/>
      </a:lt2>
      <a:accent1>
        <a:srgbClr val="14324B"/>
      </a:accent1>
      <a:accent2>
        <a:srgbClr val="0E7490"/>
      </a:accent2>
      <a:accent3>
        <a:srgbClr val="D97706"/>
      </a:accent3>
      <a:accent4>
        <a:srgbClr val="14324B"/>
      </a:accent4>
      <a:accent5>
        <a:srgbClr val="5B6875"/>
      </a:accent5>
      <a:accent6>
        <a:srgbClr val="C9D3DC"/>
      </a:accent6>
      <a:hlink>
        <a:srgbClr val="0E7490"/>
      </a:hlink>
      <a:folHlink>
        <a:srgbClr val="D97706"/>
      </a:folHlink>
    </a:clrScheme>
    <a:fontScheme name="doh_paper_reproduction">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oh_paper_reproduct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2026-10-17T07:33:39Z</dcterms:created>
  <dcterms:modified xsi:type="dcterms:W3CDTF">2026-10-17T07:33:39Z</dcterms:modified>
  <cp:category/>
  <cp:contentStatus/>
</cp:coreProperties>
</file>