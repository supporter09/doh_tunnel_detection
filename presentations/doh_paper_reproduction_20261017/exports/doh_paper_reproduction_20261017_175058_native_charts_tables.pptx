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jpg" ContentType="image/jpeg"/>
  <Default Extension="xlsx" ContentType="application/vnd.openxmlformats-officedocument.spreadsheetml.sheet"/>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charts/chart1001.xml" ContentType="application/vnd.openxmlformats-officedocument.drawingml.chart+xml"/>
  <Override PartName="/ppt/charts/chart1301.xml" ContentType="application/vnd.openxmlformats-officedocument.drawingml.chart+xml"/>
  <Override PartName="/ppt/charts/chart701.xml" ContentType="application/vnd.openxmlformats-officedocument.drawingml.chart+xml"/>
  <Override PartName="/ppt/charts/chart801.xml" ContentType="application/vnd.openxmlformats-officedocument.drawingml.chart+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22"/>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2000" cy="6858000" type="screen16x9"/>
  <p:notesSz cx="6858000" cy="9144000"/>
  <p:defaultTextStyle>
    <a:defPPr>
      <a:defRPr lang="en-US"/>
    </a:defPPr>
    <a:lvl1pPr marL="0" algn="l" defTabSz="457200" rtl="0" eaLnBrk="1" latinLnBrk="0" hangingPunct="1">
      <a:defRPr sz="1800" kern="1200" lang="en-US">
        <a:solidFill>
          <a:schemeClr val="tx1"/>
        </a:solidFill>
        <a:latin typeface="+mn-lt"/>
        <a:ea typeface="+mn-ea"/>
        <a:cs typeface="+mn-cs"/>
      </a:defRPr>
    </a:lvl1pPr>
    <a:lvl2pPr marL="457200" algn="l" defTabSz="457200" rtl="0" eaLnBrk="1" latinLnBrk="0" hangingPunct="1">
      <a:defRPr sz="1800" kern="1200" lang="en-US">
        <a:solidFill>
          <a:schemeClr val="tx1"/>
        </a:solidFill>
        <a:latin typeface="+mn-lt"/>
        <a:ea typeface="+mn-ea"/>
        <a:cs typeface="+mn-cs"/>
      </a:defRPr>
    </a:lvl2pPr>
    <a:lvl3pPr marL="914400" algn="l" defTabSz="457200" rtl="0" eaLnBrk="1" latinLnBrk="0" hangingPunct="1">
      <a:defRPr sz="1800" kern="1200" lang="en-US">
        <a:solidFill>
          <a:schemeClr val="tx1"/>
        </a:solidFill>
        <a:latin typeface="+mn-lt"/>
        <a:ea typeface="+mn-ea"/>
        <a:cs typeface="+mn-cs"/>
      </a:defRPr>
    </a:lvl3pPr>
    <a:lvl4pPr marL="1371600" algn="l" defTabSz="457200" rtl="0" eaLnBrk="1" latinLnBrk="0" hangingPunct="1">
      <a:defRPr sz="1800" kern="1200" lang="en-US">
        <a:solidFill>
          <a:schemeClr val="tx1"/>
        </a:solidFill>
        <a:latin typeface="+mn-lt"/>
        <a:ea typeface="+mn-ea"/>
        <a:cs typeface="+mn-cs"/>
      </a:defRPr>
    </a:lvl4pPr>
    <a:lvl5pPr marL="1828800" algn="l" defTabSz="457200" rtl="0" eaLnBrk="1" latinLnBrk="0" hangingPunct="1">
      <a:defRPr sz="1800" kern="1200" lang="en-US">
        <a:solidFill>
          <a:schemeClr val="tx1"/>
        </a:solidFill>
        <a:latin typeface="+mn-lt"/>
        <a:ea typeface="+mn-ea"/>
        <a:cs typeface="+mn-cs"/>
      </a:defRPr>
    </a:lvl5pPr>
    <a:lvl6pPr marL="2286000" algn="l" defTabSz="457200" rtl="0" eaLnBrk="1" latinLnBrk="0" hangingPunct="1">
      <a:defRPr sz="1800" kern="1200" lang="en-US">
        <a:solidFill>
          <a:schemeClr val="tx1"/>
        </a:solidFill>
        <a:latin typeface="+mn-lt"/>
        <a:ea typeface="+mn-ea"/>
        <a:cs typeface="+mn-cs"/>
      </a:defRPr>
    </a:lvl6pPr>
    <a:lvl7pPr marL="2743200" algn="l" defTabSz="457200" rtl="0" eaLnBrk="1" latinLnBrk="0" hangingPunct="1">
      <a:defRPr sz="1800" kern="1200" lang="en-US">
        <a:solidFill>
          <a:schemeClr val="tx1"/>
        </a:solidFill>
        <a:latin typeface="+mn-lt"/>
        <a:ea typeface="+mn-ea"/>
        <a:cs typeface="+mn-cs"/>
      </a:defRPr>
    </a:lvl7pPr>
    <a:lvl8pPr marL="3200400" algn="l" defTabSz="457200" rtl="0" eaLnBrk="1" latinLnBrk="0" hangingPunct="1">
      <a:defRPr sz="1800" kern="1200" lang="en-US">
        <a:solidFill>
          <a:schemeClr val="tx1"/>
        </a:solidFill>
        <a:latin typeface="+mn-lt"/>
        <a:ea typeface="+mn-ea"/>
        <a:cs typeface="+mn-cs"/>
      </a:defRPr>
    </a:lvl8pPr>
    <a:lvl9pPr marL="3657600" algn="l" defTabSz="457200" rtl="0" eaLnBrk="1" latinLnBrk="0" hangingPunct="1">
      <a:defRPr sz="1800" kern="1200" lang="en-US">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  <Relationship Id="rId22" Type="http://schemas.openxmlformats.org/officeDocument/2006/relationships/notesMaster" Target="notesMasters/notesMaster1.xml"/>
</Relationships>
</file>

<file path=ppt/charts/_rels/chart701.xml.rels><?xml version="1.0" encoding="UTF-8" standalone="yes"?>
<Relationships xmlns="http://schemas.openxmlformats.org/package/2006/relationships">
<Relationship Id="rId1" Type="http://schemas.openxmlformats.org/officeDocument/2006/relationships/package" Target="../embeddings/Microsoft_Excel_Sheet701.xlsx"/>
</Relationships>
</file>

<file path=ppt/charts/_rels/chart801.xml.rels><?xml version="1.0" encoding="UTF-8" standalone="yes"?>
<Relationships xmlns="http://schemas.openxmlformats.org/package/2006/relationships">
<Relationship Id="rId1" Type="http://schemas.openxmlformats.org/officeDocument/2006/relationships/package" Target="../embeddings/Microsoft_Excel_Sheet801.xlsx"/>
</Relationships>
</file>

<file path=ppt/charts/_rels/chart1001.xml.rels><?xml version="1.0" encoding="UTF-8" standalone="yes"?>
<Relationships xmlns="http://schemas.openxmlformats.org/package/2006/relationships">
<Relationship Id="rId1" Type="http://schemas.openxmlformats.org/officeDocument/2006/relationships/package" Target="../embeddings/Microsoft_Excel_Sheet1001.xlsx"/>
</Relationships>
</file>

<file path=ppt/charts/_rels/chart1301.xml.rels><?xml version="1.0" encoding="UTF-8" standalone="yes"?>
<Relationships xmlns="http://schemas.openxmlformats.org/package/2006/relationships">
<Relationship Id="rId1" Type="http://schemas.openxmlformats.org/officeDocument/2006/relationships/package" Target="../embeddings/Microsoft_Excel_Sheet1301.xlsx"/>
</Relationships>
</file>

<file path=ppt/charts/chart701.xml><?xml version="1.0" encoding="utf-8"?>
<c:chartSpace xmlns:c="http://schemas.openxmlformats.org/drawingml/2006/chart" xmlns:a="http://schemas.openxmlformats.org/drawingml/2006/main" xmlns:r="http://schemas.openxmlformats.org/officeDocument/2006/relationships">
  <c:date1904 val="0"/>
  <c:lang val="en-US"/>
  <c:chart>
    <c:autoTitleDeleted val="1"/>
    <c:plotArea>
      <c:layout/>
      <c:barChart>
        <c:barDir val="col"/>
        <c:grouping val="clustered"/>
        <c:varyColors val="0"/>
        <c:ser>
          <c:idx val="0"/>
          <c:order val="0"/>
          <c:tx>
            <c:strRef>
              <c:f>Sheet1!$B$1</c:f>
              <c:strCache>
                <c:ptCount val="1"/>
                <c:pt idx="0">
                  <c:v>Paper RF</c:v>
                </c:pt>
              </c:strCache>
            </c:strRef>
          </c:tx>
          <c:spPr>
            <a:solidFill>
              <a:srgbClr val="4472C4"/>
            </a:solidFill>
            <a:ln>
              <a:solidFill>
                <a:srgbClr val="4472C4"/>
              </a:solidFill>
            </a:ln>
          </c:spPr>
          <c:invertIfNegative val="0"/>
          <c:cat>
            <c:strRef>
              <c:f>Sheet1!$A$2:$A$3</c:f>
              <c:strCache>
                <c:ptCount val="2"/>
                <c:pt idx="0">
                  <c:v>Layer 1</c:v>
                </c:pt>
                <c:pt idx="1">
                  <c:v>Layer 2</c:v>
                </c:pt>
              </c:strCache>
            </c:strRef>
          </c:cat>
          <c:val>
            <c:numRef>
              <c:f>Sheet1!$B$2:$B$3</c:f>
              <c:numCache>
                <c:formatCode>General</c:formatCode>
                <c:ptCount val="2"/>
                <c:pt idx="0">
                  <c:v>0.993</c:v>
                </c:pt>
                <c:pt idx="1">
                  <c:v>0.999</c:v>
                </c:pt>
              </c:numCache>
            </c:numRef>
          </c:val>
        </c:ser>
        <c:ser>
          <c:idx val="1"/>
          <c:order val="1"/>
          <c:tx>
            <c:strRef>
              <c:f>Sheet1!$C$1</c:f>
              <c:strCache>
                <c:ptCount val="1"/>
                <c:pt idx="0">
                  <c:v>Project RF</c:v>
                </c:pt>
              </c:strCache>
            </c:strRef>
          </c:tx>
          <c:spPr>
            <a:solidFill>
              <a:srgbClr val="ED7D31"/>
            </a:solidFill>
            <a:ln>
              <a:solidFill>
                <a:srgbClr val="ED7D31"/>
              </a:solidFill>
            </a:ln>
          </c:spPr>
          <c:invertIfNegative val="0"/>
          <c:cat>
            <c:strRef>
              <c:f>Sheet1!$A$2:$A$3</c:f>
              <c:strCache>
                <c:ptCount val="2"/>
                <c:pt idx="0">
                  <c:v>Layer 1</c:v>
                </c:pt>
                <c:pt idx="1">
                  <c:v>Layer 2</c:v>
                </c:pt>
              </c:strCache>
            </c:strRef>
          </c:cat>
          <c:val>
            <c:numRef>
              <c:f>Sheet1!$C$2:$C$3</c:f>
              <c:numCache>
                <c:formatCode>General</c:formatCode>
                <c:ptCount val="2"/>
                <c:pt idx="0">
                  <c:v>0.9965</c:v>
                </c:pt>
                <c:pt idx="1">
                  <c:v>0.9997</c:v>
                </c:pt>
              </c:numCache>
            </c:numRef>
          </c:val>
        </c:ser>
        <c:dLbls>
          <c:numFmt formatCode="0.0000" sourceLinked="0"/>
          <c:txPr>
            <a:bodyPr/>
            <a:lstStyle/>
            <a:p>
              <a:pPr>
                <a:defRPr lang="en-US" sz="1050">
                  <a:solidFill>
                    <a:srgbClr val="172033"/>
                  </a:solidFill>
                  <a:latin typeface="Aptos"/>
                  <a:ea typeface="Microsoft YaHei"/>
                  <a:cs typeface="Aptos"/>
                </a:defRPr>
              </a:pPr>
              <a:endParaRPr lang="en-US"/>
            </a:p>
          </c:txPr>
          <c:dLblPos val="outEnd"/>
          <c:showLegendKey val="0"/>
          <c:showVal val="1"/>
          <c:showCatName val="0"/>
          <c:showSerName val="0"/>
          <c:showPercent val="0"/>
          <c:showBubbleSize val="0"/>
          <c:showLeaderLines val="0"/>
        </c:dLbls>
        <c:gapWidth val="150"/>
        <c:axId val="2068027336"/>
        <c:axId val="2113994440"/>
      </c:barChart>
      <c:catAx>
        <c:axId val="2068027336"/>
        <c:scaling>
          <c:orientation val="minMax"/>
        </c:scaling>
        <c:delete val="0"/>
        <c:axPos val="b"/>
        <c:majorTickMark val="none"/>
        <c:minorTickMark val="none"/>
        <c:tickLblPos val="nextTo"/>
        <c:spPr>
          <a:ln w="9525" cap="flat" cmpd="sng" algn="ctr">
            <a:solidFill>
              <a:schemeClr val="accent1"/>
            </a:solidFill>
            <a:round/>
          </a:ln>
        </c:spPr>
        <c:txPr>
          <a:bodyPr/>
          <a:lstStyle/>
          <a:p>
            <a:pPr>
              <a:defRPr lang="en-US" sz="1050">
                <a:solidFill>
                  <a:srgbClr val="172033"/>
                </a:solidFill>
                <a:latin typeface="Aptos"/>
                <a:ea typeface="Microsoft YaHei"/>
                <a:cs typeface="Aptos"/>
              </a:defRPr>
            </a:pPr>
            <a:endParaRPr lang="en-US"/>
          </a:p>
        </c:txPr>
        <c:crossAx val="2113994440"/>
        <c:crosses val="autoZero"/>
        <c:auto val="1"/>
        <c:lblAlgn val="ctr"/>
        <c:lblOffset val="100"/>
        <c:noMultiLvlLbl val="0"/>
      </c:catAx>
      <c:valAx>
        <c:axId val="2113994440"/>
        <c:scaling>
          <c:orientation val="minMax"/>
          <c:max val="1"/>
          <c:min val="0.98"/>
        </c:scaling>
        <c:delete val="0"/>
        <c:axPos val="l"/>
        <c:majorGridlines>
          <c:spPr>
            <a:ln w="6350" cap="flat" cmpd="sng" algn="ctr">
              <a:solidFill>
                <a:srgbClr val="C9D3DC"/>
              </a:solidFill>
              <a:round/>
            </a:ln>
          </c:spPr>
        </c:majorGridlines>
        <c:majorTickMark val="none"/>
        <c:minorTickMark val="none"/>
        <c:tickLblPos val="nextTo"/>
        <c:spPr>
          <a:ln w="9525" cap="flat" cmpd="sng" algn="ctr">
            <a:solidFill>
              <a:schemeClr val="accent1"/>
            </a:solidFill>
            <a:round/>
          </a:ln>
        </c:spPr>
        <c:txPr>
          <a:bodyPr/>
          <a:lstStyle/>
          <a:p>
            <a:pPr>
              <a:defRPr lang="en-US" sz="1050">
                <a:solidFill>
                  <a:srgbClr val="172033"/>
                </a:solidFill>
                <a:latin typeface="Aptos"/>
                <a:ea typeface="Microsoft YaHei"/>
                <a:cs typeface="Aptos"/>
              </a:defRPr>
            </a:pPr>
            <a:endParaRPr lang="en-US"/>
          </a:p>
        </c:txPr>
        <c:crossAx val="2068027336"/>
        <c:crosses val="autoZero"/>
        <c:crossBetween val="between"/>
        <c:majorUnit val="0.005"/>
      </c:valAx>
      <c:spPr>
        <a:noFill/>
        <a:ln>
          <a:noFill/>
        </a:ln>
      </c:spPr>
    </c:plotArea>
    <c:legend>
      <c:legendPos val="b"/>
      <c:layout/>
      <c:overlay val="0"/>
      <c:txPr>
        <a:bodyPr/>
        <a:lstStyle/>
        <a:p>
          <a:pPr>
            <a:defRPr lang="en-US" sz="1050">
              <a:solidFill>
                <a:srgbClr val="172033"/>
              </a:solidFill>
              <a:latin typeface="Aptos"/>
              <a:ea typeface="Microsoft YaHei"/>
              <a:cs typeface="Aptos"/>
            </a:defRPr>
          </a:pPr>
          <a:endParaRPr lang="en-US"/>
        </a:p>
      </c:txPr>
    </c:legend>
    <c:plotVisOnly val="1"/>
    <c:dispBlanksAs val="gap"/>
  </c:chart>
  <c:spPr>
    <a:solidFill>
      <a:srgbClr val="FFFFFF"/>
    </a:solidFill>
    <a:ln>
      <a:noFill/>
    </a:ln>
  </c:spPr>
  <c:txPr>
    <a:bodyPr/>
    <a:lstStyle/>
    <a:p>
      <a:pPr>
        <a:defRPr lang="en-US" sz="1050">
          <a:solidFill>
            <a:srgbClr val="172033"/>
          </a:solidFill>
          <a:latin typeface="Aptos"/>
          <a:ea typeface="Microsoft YaHei"/>
          <a:cs typeface="Aptos"/>
        </a:defRPr>
      </a:pPr>
      <a:endParaRPr lang="en-US"/>
    </a:p>
  </c:txPr>
  <c:externalData r:id="rId1">
    <c:autoUpdate val="0"/>
  </c:externalData>
</c:chartSpace>
</file>

<file path=ppt/charts/chart801.xml><?xml version="1.0" encoding="utf-8"?>
<c:chartSpace xmlns:c="http://schemas.openxmlformats.org/drawingml/2006/chart" xmlns:a="http://schemas.openxmlformats.org/drawingml/2006/main" xmlns:r="http://schemas.openxmlformats.org/officeDocument/2006/relationships">
  <c:date1904 val="0"/>
  <c:lang val="en-US"/>
  <c:chart>
    <c:autoTitleDeleted val="1"/>
    <c:plotArea>
      <c:layout/>
      <c:lineChart>
        <c:grouping val="standard"/>
        <c:varyColors val="0"/>
        <c:ser>
          <c:idx val="0"/>
          <c:order val="0"/>
          <c:tx>
            <c:strRef>
              <c:f>Sheet1!$B$1</c:f>
              <c:strCache>
                <c:ptCount val="1"/>
                <c:pt idx="0">
                  <c:v>Layer 1</c:v>
                </c:pt>
              </c:strCache>
            </c:strRef>
          </c:tx>
          <c:spPr>
            <a:solidFill>
              <a:schemeClr val="accent1"/>
            </a:solidFill>
            <a:ln>
              <a:solidFill>
                <a:schemeClr val="accent1"/>
              </a:solidFill>
            </a:ln>
          </c:spPr>
          <c:marker>
            <c:symbol val="circle"/>
            <c:spPr>
              <a:solidFill>
                <a:schemeClr val="accent1"/>
              </a:solidFill>
              <a:ln>
                <a:solidFill>
                  <a:schemeClr val="accent1"/>
                </a:solidFill>
              </a:ln>
            </c:spPr>
          </c:marker>
          <c:cat>
            <c:strRef>
              <c:f>Sheet1!$A$2:$A$11</c:f>
              <c:strCache>
                <c:ptCount val="10"/>
                <c:pt idx="0">
                  <c:v>1</c:v>
                </c:pt>
                <c:pt idx="1">
                  <c:v>2</c:v>
                </c:pt>
                <c:pt idx="2">
                  <c:v>3</c:v>
                </c:pt>
                <c:pt idx="3">
                  <c:v>4</c:v>
                </c:pt>
                <c:pt idx="4">
                  <c:v>5</c:v>
                </c:pt>
                <c:pt idx="5">
                  <c:v>6</c:v>
                </c:pt>
                <c:pt idx="6">
                  <c:v>7</c:v>
                </c:pt>
                <c:pt idx="7">
                  <c:v>8</c:v>
                </c:pt>
                <c:pt idx="8">
                  <c:v>9</c:v>
                </c:pt>
                <c:pt idx="9">
                  <c:v>10</c:v>
                </c:pt>
              </c:strCache>
            </c:strRef>
          </c:cat>
          <c:val>
            <c:numRef>
              <c:f>Sheet1!$B$2:$B$11</c:f>
              <c:numCache>
                <c:formatCode>General</c:formatCode>
                <c:ptCount val="10"/>
                <c:pt idx="0">
                  <c:v>0.876</c:v>
                </c:pt>
                <c:pt idx="1">
                  <c:v>0.949</c:v>
                </c:pt>
                <c:pt idx="2">
                  <c:v>0.951</c:v>
                </c:pt>
                <c:pt idx="3">
                  <c:v>0.983</c:v>
                </c:pt>
                <c:pt idx="4">
                  <c:v>0.987</c:v>
                </c:pt>
                <c:pt idx="5">
                  <c:v>0.993</c:v>
                </c:pt>
                <c:pt idx="6">
                  <c:v>0.996</c:v>
                </c:pt>
                <c:pt idx="7">
                  <c:v>0.996</c:v>
                </c:pt>
                <c:pt idx="8">
                  <c:v>0.998</c:v>
                </c:pt>
                <c:pt idx="9">
                  <c:v>0.998</c:v>
                </c:pt>
              </c:numCache>
            </c:numRef>
          </c:val>
          <c:smooth val="0"/>
        </c:ser>
        <c:ser>
          <c:idx val="1"/>
          <c:order val="1"/>
          <c:tx>
            <c:strRef>
              <c:f>Sheet1!$C$1</c:f>
              <c:strCache>
                <c:ptCount val="1"/>
                <c:pt idx="0">
                  <c:v>Layer 2</c:v>
                </c:pt>
              </c:strCache>
            </c:strRef>
          </c:tx>
          <c:spPr>
            <a:solidFill>
              <a:schemeClr val="accent3"/>
            </a:solidFill>
            <a:ln>
              <a:solidFill>
                <a:schemeClr val="accent3"/>
              </a:solidFill>
            </a:ln>
          </c:spPr>
          <c:marker>
            <c:symbol val="circle"/>
            <c:spPr>
              <a:solidFill>
                <a:schemeClr val="accent3"/>
              </a:solidFill>
              <a:ln>
                <a:solidFill>
                  <a:schemeClr val="accent3"/>
                </a:solidFill>
              </a:ln>
            </c:spPr>
          </c:marker>
          <c:cat>
            <c:strRef>
              <c:f>Sheet1!$A$2:$A$11</c:f>
              <c:strCache>
                <c:ptCount val="10"/>
                <c:pt idx="0">
                  <c:v>1</c:v>
                </c:pt>
                <c:pt idx="1">
                  <c:v>2</c:v>
                </c:pt>
                <c:pt idx="2">
                  <c:v>3</c:v>
                </c:pt>
                <c:pt idx="3">
                  <c:v>4</c:v>
                </c:pt>
                <c:pt idx="4">
                  <c:v>5</c:v>
                </c:pt>
                <c:pt idx="5">
                  <c:v>6</c:v>
                </c:pt>
                <c:pt idx="6">
                  <c:v>7</c:v>
                </c:pt>
                <c:pt idx="7">
                  <c:v>8</c:v>
                </c:pt>
                <c:pt idx="8">
                  <c:v>9</c:v>
                </c:pt>
                <c:pt idx="9">
                  <c:v>10</c:v>
                </c:pt>
              </c:strCache>
            </c:strRef>
          </c:cat>
          <c:val>
            <c:numRef>
              <c:f>Sheet1!$C$2:$C$11</c:f>
              <c:numCache>
                <c:formatCode>General</c:formatCode>
                <c:ptCount val="10"/>
                <c:pt idx="0">
                  <c:v>0.782</c:v>
                </c:pt>
                <c:pt idx="1">
                  <c:v>0.985</c:v>
                </c:pt>
                <c:pt idx="2">
                  <c:v>0.991</c:v>
                </c:pt>
                <c:pt idx="3">
                  <c:v>0.995</c:v>
                </c:pt>
                <c:pt idx="4">
                  <c:v>0.997</c:v>
                </c:pt>
                <c:pt idx="5">
                  <c:v>0.998</c:v>
                </c:pt>
                <c:pt idx="6">
                  <c:v>0.997</c:v>
                </c:pt>
                <c:pt idx="7">
                  <c:v>0.999</c:v>
                </c:pt>
                <c:pt idx="8">
                  <c:v>0.999</c:v>
                </c:pt>
                <c:pt idx="9">
                  <c:v>0.999</c:v>
                </c:pt>
              </c:numCache>
            </c:numRef>
          </c:val>
          <c:smooth val="0"/>
        </c:ser>
        <c:marker val="1"/>
        <c:smooth val="0"/>
        <c:axId val="2068027336"/>
        <c:axId val="2113994440"/>
      </c:lineChart>
      <c:catAx>
        <c:axId val="2068027336"/>
        <c:scaling>
          <c:orientation val="minMax"/>
        </c:scaling>
        <c:delete val="0"/>
        <c:axPos val="b"/>
        <c:majorTickMark val="none"/>
        <c:minorTickMark val="none"/>
        <c:tickLblPos val="nextTo"/>
        <c:spPr>
          <a:ln w="9525" cap="flat" cmpd="sng" algn="ctr">
            <a:solidFill>
              <a:schemeClr val="accent1"/>
            </a:solidFill>
            <a:round/>
          </a:ln>
        </c:spPr>
        <c:txPr>
          <a:bodyPr/>
          <a:lstStyle/>
          <a:p>
            <a:pPr>
              <a:defRPr lang="en-US" sz="1050">
                <a:solidFill>
                  <a:srgbClr val="5B6875"/>
                </a:solidFill>
                <a:latin typeface="Aptos"/>
                <a:ea typeface="Microsoft YaHei"/>
                <a:cs typeface="Aptos"/>
              </a:defRPr>
            </a:pPr>
            <a:endParaRPr lang="en-US"/>
          </a:p>
        </c:txPr>
        <c:crossAx val="2113994440"/>
        <c:crosses val="autoZero"/>
        <c:auto val="1"/>
        <c:lblAlgn val="ctr"/>
        <c:lblOffset val="100"/>
        <c:noMultiLvlLbl val="0"/>
      </c:catAx>
      <c:valAx>
        <c:axId val="2113994440"/>
        <c:scaling>
          <c:orientation val="minMax"/>
          <c:max val="1"/>
          <c:min val="0.75"/>
        </c:scaling>
        <c:delete val="0"/>
        <c:axPos val="l"/>
        <c:majorGridlines>
          <c:spPr>
            <a:ln w="6350" cap="flat" cmpd="sng" algn="ctr">
              <a:solidFill>
                <a:srgbClr val="C9D3DC"/>
              </a:solidFill>
              <a:round/>
            </a:ln>
          </c:spPr>
        </c:majorGridlines>
        <c:majorTickMark val="none"/>
        <c:minorTickMark val="none"/>
        <c:tickLblPos val="nextTo"/>
        <c:spPr>
          <a:ln w="9525" cap="flat" cmpd="sng" algn="ctr">
            <a:solidFill>
              <a:schemeClr val="accent1"/>
            </a:solidFill>
            <a:round/>
          </a:ln>
        </c:spPr>
        <c:txPr>
          <a:bodyPr/>
          <a:lstStyle/>
          <a:p>
            <a:pPr>
              <a:defRPr lang="en-US" sz="1050">
                <a:solidFill>
                  <a:srgbClr val="5B6875"/>
                </a:solidFill>
                <a:latin typeface="Aptos"/>
                <a:ea typeface="Microsoft YaHei"/>
                <a:cs typeface="Aptos"/>
              </a:defRPr>
            </a:pPr>
            <a:endParaRPr lang="en-US"/>
          </a:p>
        </c:txPr>
        <c:crossAx val="2068027336"/>
        <c:crosses val="autoZero"/>
        <c:crossBetween val="between"/>
        <c:majorUnit val="0.05"/>
      </c:valAx>
      <c:spPr>
        <a:noFill/>
        <a:ln>
          <a:noFill/>
        </a:ln>
      </c:spPr>
    </c:plotArea>
    <c:legend>
      <c:legendPos val="b"/>
      <c:layout/>
      <c:overlay val="0"/>
      <c:txPr>
        <a:bodyPr/>
        <a:lstStyle/>
        <a:p>
          <a:pPr>
            <a:defRPr lang="en-US" sz="1050">
              <a:solidFill>
                <a:srgbClr val="5B6875"/>
              </a:solidFill>
              <a:latin typeface="Aptos"/>
              <a:ea typeface="Microsoft YaHei"/>
              <a:cs typeface="Aptos"/>
            </a:defRPr>
          </a:pPr>
          <a:endParaRPr lang="en-US"/>
        </a:p>
      </c:txPr>
    </c:legend>
    <c:plotVisOnly val="1"/>
    <c:dispBlanksAs val="gap"/>
  </c:chart>
  <c:spPr>
    <a:solidFill>
      <a:srgbClr val="FFFFFF"/>
    </a:solidFill>
    <a:ln>
      <a:noFill/>
    </a:ln>
  </c:spPr>
  <c:txPr>
    <a:bodyPr/>
    <a:lstStyle/>
    <a:p>
      <a:pPr>
        <a:defRPr lang="en-US" sz="1050">
          <a:solidFill>
            <a:srgbClr val="5B6875"/>
          </a:solidFill>
          <a:latin typeface="Aptos"/>
          <a:ea typeface="Microsoft YaHei"/>
          <a:cs typeface="Aptos"/>
        </a:defRPr>
      </a:pPr>
      <a:endParaRPr lang="en-US"/>
    </a:p>
  </c:txPr>
  <c:externalData r:id="rId1">
    <c:autoUpdate val="0"/>
  </c:externalData>
</c:chartSpace>
</file>

<file path=ppt/charts/chart1001.xml><?xml version="1.0" encoding="utf-8"?>
<c:chartSpace xmlns:c="http://schemas.openxmlformats.org/drawingml/2006/chart" xmlns:a="http://schemas.openxmlformats.org/drawingml/2006/main" xmlns:r="http://schemas.openxmlformats.org/officeDocument/2006/relationships">
  <c:date1904 val="0"/>
  <c:lang val="en-US"/>
  <c:chart>
    <c:autoTitleDeleted val="1"/>
    <c:plotArea>
      <c:layout/>
      <c:barChart>
        <c:barDir val="col"/>
        <c:grouping val="clustered"/>
        <c:varyColors val="0"/>
        <c:ser>
          <c:idx val="0"/>
          <c:order val="0"/>
          <c:tx>
            <c:strRef>
              <c:f>Sheet1!$B$1</c:f>
              <c:strCache>
                <c:ptCount val="1"/>
                <c:pt idx="0">
                  <c:v>Flow-random</c:v>
                </c:pt>
              </c:strCache>
            </c:strRef>
          </c:tx>
          <c:spPr>
            <a:solidFill>
              <a:srgbClr val="4472C4"/>
            </a:solidFill>
            <a:ln>
              <a:solidFill>
                <a:srgbClr val="4472C4"/>
              </a:solidFill>
            </a:ln>
          </c:spPr>
          <c:invertIfNegative val="0"/>
          <c:cat>
            <c:strRef>
              <c:f>Sheet1!$A$2:$A$3</c:f>
              <c:strCache>
                <c:ptCount val="2"/>
                <c:pt idx="0">
                  <c:v>Layer 1 · l=6</c:v>
                </c:pt>
                <c:pt idx="1">
                  <c:v>Layer 2 · l=3</c:v>
                </c:pt>
              </c:strCache>
            </c:strRef>
          </c:cat>
          <c:val>
            <c:numRef>
              <c:f>Sheet1!$B$2:$B$3</c:f>
              <c:numCache>
                <c:formatCode>General</c:formatCode>
                <c:ptCount val="2"/>
                <c:pt idx="0">
                  <c:v>0.9784</c:v>
                </c:pt>
                <c:pt idx="1">
                  <c:v>0.9405</c:v>
                </c:pt>
              </c:numCache>
            </c:numRef>
          </c:val>
        </c:ser>
        <c:ser>
          <c:idx val="1"/>
          <c:order val="1"/>
          <c:tx>
            <c:strRef>
              <c:f>Sheet1!$C$1</c:f>
              <c:strCache>
                <c:ptCount val="1"/>
                <c:pt idx="0">
                  <c:v>Session-disjoint</c:v>
                </c:pt>
              </c:strCache>
            </c:strRef>
          </c:tx>
          <c:spPr>
            <a:solidFill>
              <a:srgbClr val="ED7D31"/>
            </a:solidFill>
            <a:ln>
              <a:solidFill>
                <a:srgbClr val="ED7D31"/>
              </a:solidFill>
            </a:ln>
          </c:spPr>
          <c:invertIfNegative val="0"/>
          <c:cat>
            <c:strRef>
              <c:f>Sheet1!$A$2:$A$3</c:f>
              <c:strCache>
                <c:ptCount val="2"/>
                <c:pt idx="0">
                  <c:v>Layer 1 · l=6</c:v>
                </c:pt>
                <c:pt idx="1">
                  <c:v>Layer 2 · l=3</c:v>
                </c:pt>
              </c:strCache>
            </c:strRef>
          </c:cat>
          <c:val>
            <c:numRef>
              <c:f>Sheet1!$C$2:$C$3</c:f>
              <c:numCache>
                <c:formatCode>General</c:formatCode>
                <c:ptCount val="2"/>
                <c:pt idx="0">
                  <c:v>0</c:v>
                </c:pt>
                <c:pt idx="1">
                  <c:v>0.1324</c:v>
                </c:pt>
              </c:numCache>
            </c:numRef>
          </c:val>
        </c:ser>
        <c:dLbls>
          <c:numFmt formatCode="0.0000" sourceLinked="0"/>
          <c:txPr>
            <a:bodyPr/>
            <a:lstStyle/>
            <a:p>
              <a:pPr>
                <a:defRPr lang="en-US" sz="1050">
                  <a:solidFill>
                    <a:srgbClr val="172033"/>
                  </a:solidFill>
                  <a:latin typeface="Aptos"/>
                  <a:ea typeface="Microsoft YaHei"/>
                  <a:cs typeface="Aptos"/>
                </a:defRPr>
              </a:pPr>
              <a:endParaRPr lang="en-US"/>
            </a:p>
          </c:txPr>
          <c:dLblPos val="outEnd"/>
          <c:showLegendKey val="0"/>
          <c:showVal val="1"/>
          <c:showCatName val="0"/>
          <c:showSerName val="0"/>
          <c:showPercent val="0"/>
          <c:showBubbleSize val="0"/>
          <c:showLeaderLines val="0"/>
        </c:dLbls>
        <c:gapWidth val="150"/>
        <c:axId val="2068027336"/>
        <c:axId val="2113994440"/>
      </c:barChart>
      <c:catAx>
        <c:axId val="2068027336"/>
        <c:scaling>
          <c:orientation val="minMax"/>
        </c:scaling>
        <c:delete val="0"/>
        <c:axPos val="b"/>
        <c:majorTickMark val="none"/>
        <c:minorTickMark val="none"/>
        <c:tickLblPos val="nextTo"/>
        <c:spPr>
          <a:ln w="9525" cap="flat" cmpd="sng" algn="ctr">
            <a:solidFill>
              <a:schemeClr val="accent1"/>
            </a:solidFill>
            <a:round/>
          </a:ln>
        </c:spPr>
        <c:txPr>
          <a:bodyPr/>
          <a:lstStyle/>
          <a:p>
            <a:pPr>
              <a:defRPr lang="en-US" sz="1050">
                <a:solidFill>
                  <a:srgbClr val="172033"/>
                </a:solidFill>
                <a:latin typeface="Aptos"/>
                <a:ea typeface="Microsoft YaHei"/>
                <a:cs typeface="Aptos"/>
              </a:defRPr>
            </a:pPr>
            <a:endParaRPr lang="en-US"/>
          </a:p>
        </c:txPr>
        <c:crossAx val="2113994440"/>
        <c:crosses val="autoZero"/>
        <c:auto val="1"/>
        <c:lblAlgn val="ctr"/>
        <c:lblOffset val="100"/>
        <c:noMultiLvlLbl val="0"/>
      </c:catAx>
      <c:valAx>
        <c:axId val="2113994440"/>
        <c:scaling>
          <c:orientation val="minMax"/>
          <c:max val="1"/>
          <c:min val="0"/>
        </c:scaling>
        <c:delete val="0"/>
        <c:axPos val="l"/>
        <c:majorGridlines>
          <c:spPr>
            <a:ln w="6350" cap="flat" cmpd="sng" algn="ctr">
              <a:solidFill>
                <a:srgbClr val="C9D3DC"/>
              </a:solidFill>
              <a:round/>
            </a:ln>
          </c:spPr>
        </c:majorGridlines>
        <c:majorTickMark val="none"/>
        <c:minorTickMark val="none"/>
        <c:tickLblPos val="nextTo"/>
        <c:spPr>
          <a:ln w="9525" cap="flat" cmpd="sng" algn="ctr">
            <a:solidFill>
              <a:schemeClr val="accent1"/>
            </a:solidFill>
            <a:round/>
          </a:ln>
        </c:spPr>
        <c:txPr>
          <a:bodyPr/>
          <a:lstStyle/>
          <a:p>
            <a:pPr>
              <a:defRPr lang="en-US" sz="1050">
                <a:solidFill>
                  <a:srgbClr val="172033"/>
                </a:solidFill>
                <a:latin typeface="Aptos"/>
                <a:ea typeface="Microsoft YaHei"/>
                <a:cs typeface="Aptos"/>
              </a:defRPr>
            </a:pPr>
            <a:endParaRPr lang="en-US"/>
          </a:p>
        </c:txPr>
        <c:crossAx val="2068027336"/>
        <c:crosses val="autoZero"/>
        <c:crossBetween val="between"/>
        <c:majorUnit val="0.2"/>
      </c:valAx>
      <c:spPr>
        <a:noFill/>
        <a:ln>
          <a:noFill/>
        </a:ln>
      </c:spPr>
    </c:plotArea>
    <c:legend>
      <c:legendPos val="b"/>
      <c:layout/>
      <c:overlay val="0"/>
      <c:txPr>
        <a:bodyPr/>
        <a:lstStyle/>
        <a:p>
          <a:pPr>
            <a:defRPr lang="en-US" sz="1050">
              <a:solidFill>
                <a:srgbClr val="172033"/>
              </a:solidFill>
              <a:latin typeface="Aptos"/>
              <a:ea typeface="Microsoft YaHei"/>
              <a:cs typeface="Aptos"/>
            </a:defRPr>
          </a:pPr>
          <a:endParaRPr lang="en-US"/>
        </a:p>
      </c:txPr>
    </c:legend>
    <c:plotVisOnly val="1"/>
    <c:dispBlanksAs val="gap"/>
  </c:chart>
  <c:spPr>
    <a:solidFill>
      <a:srgbClr val="FFFFFF"/>
    </a:solidFill>
    <a:ln>
      <a:noFill/>
    </a:ln>
  </c:spPr>
  <c:txPr>
    <a:bodyPr/>
    <a:lstStyle/>
    <a:p>
      <a:pPr>
        <a:defRPr lang="en-US" sz="1050">
          <a:solidFill>
            <a:srgbClr val="172033"/>
          </a:solidFill>
          <a:latin typeface="Aptos"/>
          <a:ea typeface="Microsoft YaHei"/>
          <a:cs typeface="Aptos"/>
        </a:defRPr>
      </a:pPr>
      <a:endParaRPr lang="en-US"/>
    </a:p>
  </c:txPr>
  <c:externalData r:id="rId1">
    <c:autoUpdate val="0"/>
  </c:externalData>
</c:chartSpace>
</file>

<file path=ppt/charts/chart1301.xml><?xml version="1.0" encoding="utf-8"?>
<c:chartSpace xmlns:c="http://schemas.openxmlformats.org/drawingml/2006/chart" xmlns:a="http://schemas.openxmlformats.org/drawingml/2006/main" xmlns:r="http://schemas.openxmlformats.org/officeDocument/2006/relationships">
  <c:date1904 val="0"/>
  <c:lang val="en-US"/>
  <c:chart>
    <c:autoTitleDeleted val="1"/>
    <c:plotArea>
      <c:layout/>
      <c:barChart>
        <c:barDir val="col"/>
        <c:grouping val="clustered"/>
        <c:varyColors val="0"/>
        <c:ser>
          <c:idx val="0"/>
          <c:order val="0"/>
          <c:tx>
            <c:strRef>
              <c:f>Sheet1!$B$1</c:f>
              <c:strCache>
                <c:ptCount val="1"/>
                <c:pt idx="0">
                  <c:v>Paper v4</c:v>
                </c:pt>
              </c:strCache>
            </c:strRef>
          </c:tx>
          <c:spPr>
            <a:solidFill>
              <a:srgbClr val="4472C4"/>
            </a:solidFill>
            <a:ln>
              <a:solidFill>
                <a:srgbClr val="4472C4"/>
              </a:solidFill>
            </a:ln>
          </c:spPr>
          <c:invertIfNegative val="0"/>
          <c:cat>
            <c:strRef>
              <c:f>Sheet1!$A$2:$A$3</c:f>
              <c:strCache>
                <c:ptCount val="2"/>
                <c:pt idx="0">
                  <c:v>Layer 1 · best l=5 / 7</c:v>
                </c:pt>
                <c:pt idx="1">
                  <c:v>Layer 2 · best l=9 / 10</c:v>
                </c:pt>
              </c:strCache>
            </c:strRef>
          </c:cat>
          <c:val>
            <c:numRef>
              <c:f>Sheet1!$B$2:$B$3</c:f>
              <c:numCache>
                <c:formatCode>General</c:formatCode>
                <c:ptCount val="2"/>
                <c:pt idx="0">
                  <c:v>0.9178633</c:v>
                </c:pt>
                <c:pt idx="1">
                  <c:v>0.9424572</c:v>
                </c:pt>
              </c:numCache>
            </c:numRef>
          </c:val>
        </c:ser>
        <c:ser>
          <c:idx val="1"/>
          <c:order val="1"/>
          <c:tx>
            <c:strRef>
              <c:f>Sheet1!$C$1</c:f>
              <c:strCache>
                <c:ptCount val="1"/>
                <c:pt idx="0">
                  <c:v>Improved BiGRU</c:v>
                </c:pt>
              </c:strCache>
            </c:strRef>
          </c:tx>
          <c:spPr>
            <a:solidFill>
              <a:srgbClr val="ED7D31"/>
            </a:solidFill>
            <a:ln>
              <a:solidFill>
                <a:srgbClr val="ED7D31"/>
              </a:solidFill>
            </a:ln>
          </c:spPr>
          <c:invertIfNegative val="0"/>
          <c:cat>
            <c:strRef>
              <c:f>Sheet1!$A$2:$A$3</c:f>
              <c:strCache>
                <c:ptCount val="2"/>
                <c:pt idx="0">
                  <c:v>Layer 1 · best l=5 / 7</c:v>
                </c:pt>
                <c:pt idx="1">
                  <c:v>Layer 2 · best l=9 / 10</c:v>
                </c:pt>
              </c:strCache>
            </c:strRef>
          </c:cat>
          <c:val>
            <c:numRef>
              <c:f>Sheet1!$C$2:$C$3</c:f>
              <c:numCache>
                <c:formatCode>General</c:formatCode>
                <c:ptCount val="2"/>
                <c:pt idx="0">
                  <c:v>0.9651163</c:v>
                </c:pt>
                <c:pt idx="1">
                  <c:v>0.986439</c:v>
                </c:pt>
              </c:numCache>
            </c:numRef>
          </c:val>
        </c:ser>
        <c:dLbls>
          <c:numFmt formatCode="0.0000" sourceLinked="0"/>
          <c:txPr>
            <a:bodyPr/>
            <a:lstStyle/>
            <a:p>
              <a:pPr>
                <a:defRPr lang="en-US" sz="1050">
                  <a:solidFill>
                    <a:srgbClr val="172033"/>
                  </a:solidFill>
                  <a:latin typeface="Aptos"/>
                  <a:ea typeface="Microsoft YaHei"/>
                  <a:cs typeface="Aptos"/>
                </a:defRPr>
              </a:pPr>
              <a:endParaRPr lang="en-US"/>
            </a:p>
          </c:txPr>
          <c:dLblPos val="outEnd"/>
          <c:showLegendKey val="0"/>
          <c:showVal val="1"/>
          <c:showCatName val="0"/>
          <c:showSerName val="0"/>
          <c:showPercent val="0"/>
          <c:showBubbleSize val="0"/>
          <c:showLeaderLines val="0"/>
        </c:dLbls>
        <c:gapWidth val="150"/>
        <c:axId val="2068027336"/>
        <c:axId val="2113994440"/>
      </c:barChart>
      <c:catAx>
        <c:axId val="2068027336"/>
        <c:scaling>
          <c:orientation val="minMax"/>
        </c:scaling>
        <c:delete val="0"/>
        <c:axPos val="b"/>
        <c:majorTickMark val="none"/>
        <c:minorTickMark val="none"/>
        <c:tickLblPos val="nextTo"/>
        <c:spPr>
          <a:ln w="9525" cap="flat" cmpd="sng" algn="ctr">
            <a:solidFill>
              <a:schemeClr val="accent1"/>
            </a:solidFill>
            <a:round/>
          </a:ln>
        </c:spPr>
        <c:txPr>
          <a:bodyPr/>
          <a:lstStyle/>
          <a:p>
            <a:pPr>
              <a:defRPr lang="en-US" sz="1050">
                <a:solidFill>
                  <a:srgbClr val="172033"/>
                </a:solidFill>
                <a:latin typeface="Aptos"/>
                <a:ea typeface="Microsoft YaHei"/>
                <a:cs typeface="Aptos"/>
              </a:defRPr>
            </a:pPr>
            <a:endParaRPr lang="en-US"/>
          </a:p>
        </c:txPr>
        <c:crossAx val="2113994440"/>
        <c:crosses val="autoZero"/>
        <c:auto val="1"/>
        <c:lblAlgn val="ctr"/>
        <c:lblOffset val="100"/>
        <c:noMultiLvlLbl val="0"/>
      </c:catAx>
      <c:valAx>
        <c:axId val="2113994440"/>
        <c:scaling>
          <c:orientation val="minMax"/>
          <c:max val="1"/>
          <c:min val="0.88"/>
        </c:scaling>
        <c:delete val="0"/>
        <c:axPos val="l"/>
        <c:majorGridlines>
          <c:spPr>
            <a:ln w="6350" cap="flat" cmpd="sng" algn="ctr">
              <a:solidFill>
                <a:srgbClr val="C9D3DC"/>
              </a:solidFill>
              <a:round/>
            </a:ln>
          </c:spPr>
        </c:majorGridlines>
        <c:majorTickMark val="none"/>
        <c:minorTickMark val="none"/>
        <c:tickLblPos val="nextTo"/>
        <c:spPr>
          <a:ln w="9525" cap="flat" cmpd="sng" algn="ctr">
            <a:solidFill>
              <a:schemeClr val="accent1"/>
            </a:solidFill>
            <a:round/>
          </a:ln>
        </c:spPr>
        <c:txPr>
          <a:bodyPr/>
          <a:lstStyle/>
          <a:p>
            <a:pPr>
              <a:defRPr lang="en-US" sz="1050">
                <a:solidFill>
                  <a:srgbClr val="172033"/>
                </a:solidFill>
                <a:latin typeface="Aptos"/>
                <a:ea typeface="Microsoft YaHei"/>
                <a:cs typeface="Aptos"/>
              </a:defRPr>
            </a:pPr>
            <a:endParaRPr lang="en-US"/>
          </a:p>
        </c:txPr>
        <c:crossAx val="2068027336"/>
        <c:crosses val="autoZero"/>
        <c:crossBetween val="between"/>
        <c:majorUnit val="0.02"/>
      </c:valAx>
      <c:spPr>
        <a:noFill/>
        <a:ln>
          <a:noFill/>
        </a:ln>
      </c:spPr>
    </c:plotArea>
    <c:legend>
      <c:legendPos val="b"/>
      <c:layout/>
      <c:overlay val="0"/>
      <c:txPr>
        <a:bodyPr/>
        <a:lstStyle/>
        <a:p>
          <a:pPr>
            <a:defRPr lang="en-US" sz="1050">
              <a:solidFill>
                <a:srgbClr val="172033"/>
              </a:solidFill>
              <a:latin typeface="Aptos"/>
              <a:ea typeface="Microsoft YaHei"/>
              <a:cs typeface="Aptos"/>
            </a:defRPr>
          </a:pPr>
          <a:endParaRPr lang="en-US"/>
        </a:p>
      </c:txPr>
    </c:legend>
    <c:plotVisOnly val="1"/>
    <c:dispBlanksAs val="gap"/>
  </c:chart>
  <c:spPr>
    <a:solidFill>
      <a:srgbClr val="FFFFFF"/>
    </a:solidFill>
    <a:ln>
      <a:noFill/>
    </a:ln>
  </c:spPr>
  <c:txPr>
    <a:bodyPr/>
    <a:lstStyle/>
    <a:p>
      <a:pPr>
        <a:defRPr lang="en-US" sz="1050">
          <a:solidFill>
            <a:srgbClr val="172033"/>
          </a:solidFill>
          <a:latin typeface="Aptos"/>
          <a:ea typeface="Microsoft YaHei"/>
          <a:cs typeface="Aptos"/>
        </a:defRPr>
      </a:pPr>
      <a:endParaRPr lang="en-US"/>
    </a:p>
  </c:tx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en-US"/>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This project reproduces the two-layer DoH tunnel detector and then evaluates a mask-aware bidirectional GRU under a stricter protocol. In the capped, session-disjoint experiment, best-window F1 improves by 4.73 percentage points on layer one and 4.40 points on layer two. These are bounded comparative results, not a claim of full-dataset convergence.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DNS-over-HTTPS hides domain names, answers, and tunnel content inside TLS. It does not hide packet direction, packet length, timing, or burst structure. The paper’s central hypothesis is that these observable sequences remain discriminative without decrypting payloads.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first layer separates DoH from ordinary HTTPS traffic. Only traffic classified as DoH proceeds to the second layer, which separates benign DoH from malicious tunnels. We reproduce these two decisions independently so that each result has a clear task definition and evidence boundary.</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A packet clump groups consecutive packets moving in the same direction until direction changes or the timeout is exceeded. Each clump preserves direction, packet lengths, and timing, and the first N clumps form a model window. Increasing N adds behavioral context but also delays the decision.</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benchmark contains non-DoH HTTPS, benign DoH, and malicious DoH tunnel traffic. Published CSV features support the statistical replication, while raw PCAP files are required to reconstruct packet-clump sequences. Our evidence path therefore starts with the tabular baseline and then moves to a raw-PCAP session-disjoint experiment.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statistical path waits for a completed flow, derives summary features, and evaluates classical and neural classifiers. The time-series path converts packet streams into directional clumps and sweeps LSTM windows from one through ten. The original work evaluates both paths with an eighty–twenty random split at flow level.</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paper reports random-forest F1 of 0.993 for layer one and 0.999 for layer two. Our project random forest reaches 0.9965 and 0.9997 under the same flow-random paradigm. This reproduces the headline statistical performance, but it also inherits the same cross-session leakage risk.</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paper’s LSTM improves rapidly as the model observes more clumps. Its selected operating points reach 0.993 F1 for layer one at six clumps and 0.991 for layer two at three clumps. The reported mean detection delays are 0.574 and 0.502 seconds, supporting the early-detection argument relative to waiting for full flows.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We corrected the printed clump termination condition and added a bounds check before packet indexing. We also pinned optimizer settings, seeds, manifests, and the source snapshot. Most importantly, we added a session-and-scenario group-disjoint split and a mask-aware BiGRU with attention as the improved sequence model.</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At the paper-selected windows, the replicated paper architecture scores 0.9784 and 0.9405 F1 under flow-random splits. Under session-disjoint evaluation, those values fall to zero and 0.1324. This collapse demonstrates that random flow accuracy cannot be interpreted as unseen-session generalization.</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audit covers 13,754 capture sources, 13,150 session groups, and about 97.1 gigabytes of uncompressed evidence. It processes 201,321 flows and retains 1,325: five hundred non-DoH, 325 benign DoH, and five hundred malicious DoH. The cap of twenty-five flows per capture controls runtime, so these results remain comparative rather than converged full-data estimates.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At the paper’s windows, the improved BiGRU reaches 0.9153 F1 on layer one and 0.5538 on layer two under the corrected split. These values substantially exceed the corrected paper architecture, but layer two is still far below the paper’s flow-random claim at three clumps. The table therefore keeps paper-reported, project-random, corrected-baseline, and improved evidence separate.</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When each model is compared at its own best corrected window, layer-one F1 increases from 0.9179 to 0.9651 and layer-two F1 from 0.9425 to 0.9864. The absolute gains are 4.73 and 4.40 percentage points, with zero observed false-positive rate at both improved optima. This is the project’s positive model result within the capped session-disjoint sample.</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Phase A now separates where detection time is spent. At the best corrected BiGRU windows, Layer 1 reaches F1 0.9651 with 0.871-second median end-to-end delay, while Layer 2 reaches F1 0.9864 with 3.513 seconds. Model inference itself is only 0.132 and 0.168 milliseconds on the ARM CPU; traffic collection dominates. The approximately 30-second p95 tail and the small first-window test-flow counts remain important caveats. Phase B therefore scales caps 25, 50, 100, and 250 on the Windows CUDA machine, with an uncapped run only after split, RAM, metric, and latency gates pass.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reproduction keeps the statistical and four-layer LSTM baselines traceable. The corrected protocol tests transfer to unseen sessions, and the mask-aware BiGRU improves both tasks under that protocol. The primary result is methodological validity; the model gain matters because it survives the stricter evaluation.</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doh_paper_reproduction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doh_paper_reproduction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en-US">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en-US">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en-US">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150" kern="1200" lang="en-US">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800" kern="1200" lang="en-US">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700" kern="1200" lang="en-US">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600" kern="1200" lang="en-US">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450" kern="1200" lang="en-US">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350" kern="1200" lang="en-US">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250" kern="1200" lang="en-US">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100" kern="1200" lang="en-US">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000" kern="1200" lang="en-US">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900" kern="1200" lang="en-US">
          <a:solidFill>
            <a:schemeClr val="tx1"/>
          </a:solidFill>
          <a:latin typeface="+mn-lt"/>
          <a:ea typeface="+mn-ea"/>
          <a:cs typeface="+mn-cs"/>
        </a:defRPr>
      </a:lvl9pPr>
    </p:bodyStyle>
    <p:otherStyle>
      <a:defPPr>
        <a:defRPr lang="en-US"/>
      </a:defPPr>
      <a:lvl1pPr marL="0" algn="l" defTabSz="457200" rtl="0" eaLnBrk="1" latinLnBrk="0" hangingPunct="1">
        <a:defRPr sz="1800" kern="1200" lang="en-US">
          <a:solidFill>
            <a:schemeClr val="tx1"/>
          </a:solidFill>
          <a:latin typeface="+mn-lt"/>
          <a:ea typeface="+mn-ea"/>
          <a:cs typeface="+mn-cs"/>
        </a:defRPr>
      </a:lvl1pPr>
      <a:lvl2pPr marL="457200" algn="l" defTabSz="457200" rtl="0" eaLnBrk="1" latinLnBrk="0" hangingPunct="1">
        <a:defRPr sz="1700" kern="1200" lang="en-US">
          <a:solidFill>
            <a:schemeClr val="tx1"/>
          </a:solidFill>
          <a:latin typeface="+mn-lt"/>
          <a:ea typeface="+mn-ea"/>
          <a:cs typeface="+mn-cs"/>
        </a:defRPr>
      </a:lvl2pPr>
      <a:lvl3pPr marL="914400" algn="l" defTabSz="457200" rtl="0" eaLnBrk="1" latinLnBrk="0" hangingPunct="1">
        <a:defRPr sz="1600" kern="1200" lang="en-US">
          <a:solidFill>
            <a:schemeClr val="tx1"/>
          </a:solidFill>
          <a:latin typeface="+mn-lt"/>
          <a:ea typeface="+mn-ea"/>
          <a:cs typeface="+mn-cs"/>
        </a:defRPr>
      </a:lvl3pPr>
      <a:lvl4pPr marL="1371600" algn="l" defTabSz="457200" rtl="0" eaLnBrk="1" latinLnBrk="0" hangingPunct="1">
        <a:defRPr sz="1450" kern="1200" lang="en-US">
          <a:solidFill>
            <a:schemeClr val="tx1"/>
          </a:solidFill>
          <a:latin typeface="+mn-lt"/>
          <a:ea typeface="+mn-ea"/>
          <a:cs typeface="+mn-cs"/>
        </a:defRPr>
      </a:lvl4pPr>
      <a:lvl5pPr marL="1828800" algn="l" defTabSz="457200" rtl="0" eaLnBrk="1" latinLnBrk="0" hangingPunct="1">
        <a:defRPr sz="1350" kern="1200" lang="en-US">
          <a:solidFill>
            <a:schemeClr val="tx1"/>
          </a:solidFill>
          <a:latin typeface="+mn-lt"/>
          <a:ea typeface="+mn-ea"/>
          <a:cs typeface="+mn-cs"/>
        </a:defRPr>
      </a:lvl5pPr>
      <a:lvl6pPr marL="2286000" algn="l" defTabSz="457200" rtl="0" eaLnBrk="1" latinLnBrk="0" hangingPunct="1">
        <a:defRPr sz="1250" kern="1200" lang="en-US">
          <a:solidFill>
            <a:schemeClr val="tx1"/>
          </a:solidFill>
          <a:latin typeface="+mn-lt"/>
          <a:ea typeface="+mn-ea"/>
          <a:cs typeface="+mn-cs"/>
        </a:defRPr>
      </a:lvl6pPr>
      <a:lvl7pPr marL="2743200" algn="l" defTabSz="457200" rtl="0" eaLnBrk="1" latinLnBrk="0" hangingPunct="1">
        <a:defRPr sz="1100" kern="1200" lang="en-US">
          <a:solidFill>
            <a:schemeClr val="tx1"/>
          </a:solidFill>
          <a:latin typeface="+mn-lt"/>
          <a:ea typeface="+mn-ea"/>
          <a:cs typeface="+mn-cs"/>
        </a:defRPr>
      </a:lvl7pPr>
      <a:lvl8pPr marL="3200400" algn="l" defTabSz="457200" rtl="0" eaLnBrk="1" latinLnBrk="0" hangingPunct="1">
        <a:defRPr sz="1000" kern="1200" lang="en-US">
          <a:solidFill>
            <a:schemeClr val="tx1"/>
          </a:solidFill>
          <a:latin typeface="+mn-lt"/>
          <a:ea typeface="+mn-ea"/>
          <a:cs typeface="+mn-cs"/>
        </a:defRPr>
      </a:lvl8pPr>
      <a:lvl9pPr marL="3657600" algn="l" defTabSz="457200" rtl="0" eaLnBrk="1" latinLnBrk="0" hangingPunct="1">
        <a:defRPr sz="900" kern="1200" lang="en-US">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12e1307b317c127b.jpg"/>
  <Relationship Id="rId3"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345689e9debfba2f.jpg"/>
  <Relationship Id="rId3"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chart" Target="../charts/chart701.xml"/>
  <Relationship Id="rId3"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chart" Target="../charts/chart801.xml"/>
  <Relationship Id="rId3"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chart" Target="../charts/chart1001.xml"/>
  <Relationship Id="rId3"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chart" Target="../charts/chart1301.xml"/>
  <Relationship Id="rId3"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ledger-rule"/>
          <p:cNvSpPr/>
          <p:nvPr/>
        </p:nvSpPr>
        <p:spPr>
          <a:xfrm>
            <a:off x="609600" y="457200"/>
            <a:ext cx="76200" cy="5943600"/>
          </a:xfrm>
          <a:prstGeom prst="rect">
            <a:avLst/>
          </a:prstGeom>
          <a:solidFill>
            <a:schemeClr val="accent2"/>
          </a:solidFill>
          <a:ln>
            <a:noFill/>
          </a:ln>
        </p:spPr>
      </p:sp>
      <p:grpSp>
        <p:nvGrpSpPr>
          <p:cNvPr id="6" name="cover-heading"/>
          <p:cNvGrpSpPr/>
          <p:nvPr/>
        </p:nvGrpSpPr>
        <p:grpSpPr>
          <a:xfrm>
            <a:off x="971550" y="863600"/>
            <a:ext cx="7344274" cy="1641475"/>
            <a:chOff x="971550" y="863600"/>
            <a:chExt cx="7344274" cy="1641475"/>
          </a:xfrm>
        </p:grpSpPr>
        <p:sp>
          <p:nvSpPr>
            <p:cNvPr id="3" name="TextBox 3"/>
            <p:cNvSpPr txBox="1"/>
            <p:nvPr/>
          </p:nvSpPr>
          <p:spPr>
            <a:xfrm>
              <a:off x="983742" y="863600"/>
              <a:ext cx="5197297" cy="264033"/>
            </a:xfrm>
            <a:prstGeom prst="rect">
              <a:avLst/>
            </a:prstGeom>
            <a:noFill/>
            <a:ln>
              <a:noFill/>
            </a:ln>
          </p:spPr>
          <p:txBody>
            <a:bodyPr wrap="none" lIns="0" tIns="0" rIns="0" bIns="0" anchor="t" anchorCtr="0">
              <a:spAutoFit/>
            </a:bodyPr>
            <a:lstStyle/>
            <a:p>
              <a:pPr algn="l"/>
              <a:r>
                <a:rPr lang="en-US" sz="1350" spc="150" dirty="0">
                  <a:solidFill>
                    <a:schemeClr val="accent2"/>
                  </a:solidFill>
                  <a:latin typeface="Consolas"/>
                  <a:ea typeface="Consolas"/>
                  <a:cs typeface="Consolas"/>
                </a:rPr>
                <a:t>PAPER REPRODUCTION · CORRECTED EVALUATION</a:t>
              </a:r>
            </a:p>
          </p:txBody>
        </p:sp>
        <p:sp>
          <p:nvSpPr>
            <p:cNvPr id="4" name="TextBox 4"/>
            <p:cNvSpPr txBox="1"/>
            <p:nvPr/>
          </p:nvSpPr>
          <p:spPr>
            <a:xfrm>
              <a:off x="971550" y="1123950"/>
              <a:ext cx="7344274" cy="790575"/>
            </a:xfrm>
            <a:prstGeom prst="rect">
              <a:avLst/>
            </a:prstGeom>
            <a:noFill/>
            <a:ln>
              <a:noFill/>
            </a:ln>
          </p:spPr>
          <p:txBody>
            <a:bodyPr wrap="none" lIns="0" tIns="0" rIns="0" bIns="0" anchor="t" anchorCtr="0">
              <a:spAutoFit/>
            </a:bodyPr>
            <a:lstStyle/>
            <a:p>
              <a:pPr algn="l"/>
              <a:r>
                <a:rPr lang="en-US" sz="4050" b="1" dirty="0">
                  <a:solidFill>
                    <a:schemeClr val="accent1"/>
                  </a:solidFill>
                  <a:latin typeface="+mj-lt"/>
                  <a:ea typeface="+mj-ea"/>
                  <a:cs typeface="+mj-cs"/>
                </a:rPr>
                <a:t>Reproducing and Improving</a:t>
              </a:r>
            </a:p>
          </p:txBody>
        </p:sp>
        <p:sp>
          <p:nvSpPr>
            <p:cNvPr id="5" name="TextBox 5"/>
            <p:cNvSpPr txBox="1"/>
            <p:nvPr/>
          </p:nvSpPr>
          <p:spPr>
            <a:xfrm>
              <a:off x="971550" y="1714500"/>
              <a:ext cx="5834825" cy="790575"/>
            </a:xfrm>
            <a:prstGeom prst="rect">
              <a:avLst/>
            </a:prstGeom>
            <a:noFill/>
            <a:ln>
              <a:noFill/>
            </a:ln>
          </p:spPr>
          <p:txBody>
            <a:bodyPr wrap="none" lIns="0" tIns="0" rIns="0" bIns="0" anchor="t" anchorCtr="0">
              <a:spAutoFit/>
            </a:bodyPr>
            <a:lstStyle/>
            <a:p>
              <a:pPr algn="l"/>
              <a:r>
                <a:rPr lang="en-US" sz="4050" b="1" dirty="0">
                  <a:solidFill>
                    <a:schemeClr val="accent1"/>
                  </a:solidFill>
                  <a:latin typeface="+mj-lt"/>
                  <a:ea typeface="+mj-ea"/>
                  <a:cs typeface="+mj-cs"/>
                </a:rPr>
                <a:t>DoH Tunnel Detection</a:t>
              </a:r>
            </a:p>
          </p:txBody>
        </p:sp>
      </p:grpSp>
      <p:grpSp>
        <p:nvGrpSpPr>
          <p:cNvPr id="10" name="l1-result"/>
          <p:cNvGrpSpPr/>
          <p:nvPr/>
        </p:nvGrpSpPr>
        <p:grpSpPr>
          <a:xfrm>
            <a:off x="971550" y="3067050"/>
            <a:ext cx="3058973" cy="1426083"/>
            <a:chOff x="971550" y="3067050"/>
            <a:chExt cx="3058973" cy="1426083"/>
          </a:xfrm>
        </p:grpSpPr>
        <p:sp>
          <p:nvSpPr>
            <p:cNvPr id="7" name="TextBox 7"/>
            <p:cNvSpPr txBox="1"/>
            <p:nvPr/>
          </p:nvSpPr>
          <p:spPr>
            <a:xfrm>
              <a:off x="971550" y="3067050"/>
              <a:ext cx="3058973" cy="990600"/>
            </a:xfrm>
            <a:prstGeom prst="rect">
              <a:avLst/>
            </a:prstGeom>
            <a:noFill/>
            <a:ln>
              <a:noFill/>
            </a:ln>
          </p:spPr>
          <p:txBody>
            <a:bodyPr wrap="none" lIns="0" tIns="0" rIns="0" bIns="0" anchor="t" anchorCtr="0">
              <a:spAutoFit/>
            </a:bodyPr>
            <a:lstStyle/>
            <a:p>
              <a:pPr algn="l"/>
              <a:r>
                <a:rPr lang="en-US" sz="5100" b="1" dirty="0">
                  <a:solidFill>
                    <a:schemeClr val="accent2"/>
                  </a:solidFill>
                  <a:latin typeface="Consolas"/>
                  <a:ea typeface="Consolas"/>
                  <a:cs typeface="Consolas"/>
                </a:rPr>
                <a:t>+4.73 pp</a:t>
              </a:r>
            </a:p>
          </p:txBody>
        </p:sp>
        <p:sp>
          <p:nvSpPr>
            <p:cNvPr id="8" name="TextBox 8"/>
            <p:cNvSpPr txBox="1"/>
            <p:nvPr/>
          </p:nvSpPr>
          <p:spPr>
            <a:xfrm>
              <a:off x="1019556" y="3860800"/>
              <a:ext cx="2520772"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n-lt"/>
                  <a:ea typeface="+mn-ea"/>
                  <a:cs typeface="+mn-cs"/>
                </a:rPr>
                <a:t>L1 best corrected F1</a:t>
              </a:r>
            </a:p>
          </p:txBody>
        </p:sp>
        <p:sp>
          <p:nvSpPr>
            <p:cNvPr id="9" name="TextBox 9"/>
            <p:cNvSpPr txBox="1"/>
            <p:nvPr/>
          </p:nvSpPr>
          <p:spPr>
            <a:xfrm>
              <a:off x="1021842" y="4229100"/>
              <a:ext cx="1422178"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0.9179 → 0.9651</a:t>
              </a:r>
            </a:p>
          </p:txBody>
        </p:sp>
      </p:grpSp>
      <p:grpSp>
        <p:nvGrpSpPr>
          <p:cNvPr id="14" name="l2-result"/>
          <p:cNvGrpSpPr/>
          <p:nvPr/>
        </p:nvGrpSpPr>
        <p:grpSpPr>
          <a:xfrm>
            <a:off x="6000750" y="3067050"/>
            <a:ext cx="3058973" cy="1426083"/>
            <a:chOff x="6000750" y="3067050"/>
            <a:chExt cx="3058973" cy="1426083"/>
          </a:xfrm>
        </p:grpSpPr>
        <p:sp>
          <p:nvSpPr>
            <p:cNvPr id="11" name="TextBox 11"/>
            <p:cNvSpPr txBox="1"/>
            <p:nvPr/>
          </p:nvSpPr>
          <p:spPr>
            <a:xfrm>
              <a:off x="6000750" y="3067050"/>
              <a:ext cx="3058973" cy="990600"/>
            </a:xfrm>
            <a:prstGeom prst="rect">
              <a:avLst/>
            </a:prstGeom>
            <a:noFill/>
            <a:ln>
              <a:noFill/>
            </a:ln>
          </p:spPr>
          <p:txBody>
            <a:bodyPr wrap="none" lIns="0" tIns="0" rIns="0" bIns="0" anchor="t" anchorCtr="0">
              <a:spAutoFit/>
            </a:bodyPr>
            <a:lstStyle/>
            <a:p>
              <a:pPr algn="l"/>
              <a:r>
                <a:rPr lang="en-US" sz="5100" b="1" dirty="0">
                  <a:solidFill>
                    <a:schemeClr val="accent2"/>
                  </a:solidFill>
                  <a:latin typeface="Consolas"/>
                  <a:ea typeface="Consolas"/>
                  <a:cs typeface="Consolas"/>
                </a:rPr>
                <a:t>+4.40 pp</a:t>
              </a:r>
            </a:p>
          </p:txBody>
        </p:sp>
        <p:sp>
          <p:nvSpPr>
            <p:cNvPr id="12" name="TextBox 12"/>
            <p:cNvSpPr txBox="1"/>
            <p:nvPr/>
          </p:nvSpPr>
          <p:spPr>
            <a:xfrm>
              <a:off x="6048756" y="3860800"/>
              <a:ext cx="2520772"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n-lt"/>
                  <a:ea typeface="+mn-ea"/>
                  <a:cs typeface="+mn-cs"/>
                </a:rPr>
                <a:t>L2 best corrected F1</a:t>
              </a:r>
            </a:p>
          </p:txBody>
        </p:sp>
        <p:sp>
          <p:nvSpPr>
            <p:cNvPr id="13" name="TextBox 13"/>
            <p:cNvSpPr txBox="1"/>
            <p:nvPr/>
          </p:nvSpPr>
          <p:spPr>
            <a:xfrm>
              <a:off x="6051042" y="4229100"/>
              <a:ext cx="1422178"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0.9425 → 0.9864</a:t>
              </a:r>
            </a:p>
          </p:txBody>
        </p:sp>
      </p:grpSp>
      <p:grpSp>
        <p:nvGrpSpPr>
          <p:cNvPr id="22" name="scope-note"/>
          <p:cNvGrpSpPr/>
          <p:nvPr/>
        </p:nvGrpSpPr>
        <p:grpSpPr>
          <a:xfrm>
            <a:off x="990600" y="5048250"/>
            <a:ext cx="10096500" cy="781050"/>
            <a:chOff x="990600" y="5048250"/>
            <a:chExt cx="10096500" cy="781050"/>
          </a:xfrm>
        </p:grpSpPr>
        <p:sp>
          <p:nvSpPr>
            <p:cNvPr id="15" name="Rectangle 15"/>
            <p:cNvSpPr/>
            <p:nvPr/>
          </p:nvSpPr>
          <p:spPr>
            <a:xfrm>
              <a:off x="990600" y="5048250"/>
              <a:ext cx="10096500" cy="781050"/>
            </a:xfrm>
            <a:prstGeom prst="rect">
              <a:avLst/>
            </a:prstGeom>
            <a:solidFill>
              <a:srgbClr val="FFF7ED"/>
            </a:solidFill>
            <a:ln w="19050">
              <a:solidFill>
                <a:schemeClr val="accent3"/>
              </a:solidFill>
            </a:ln>
          </p:spPr>
        </p:sp>
        <p:grpSp>
          <p:nvGrpSpPr>
            <p:cNvPr id="19" name="Group 19"/>
            <p:cNvGrpSpPr/>
            <p:nvPr/>
          </p:nvGrpSpPr>
          <p:grpSpPr>
            <a:xfrm>
              <a:off x="1243519" y="5301206"/>
              <a:ext cx="256151" cy="220068"/>
              <a:chOff x="1243519" y="5301206"/>
              <a:chExt cx="256151" cy="220068"/>
            </a:xfrm>
          </p:grpSpPr>
          <p:sp>
            <p:nvSpPr>
              <p:cNvPr id="16" name="Freeform 16"/>
              <p:cNvSpPr/>
              <p:nvPr/>
            </p:nvSpPr>
            <p:spPr>
              <a:xfrm>
                <a:off x="1371600" y="5381625"/>
                <a:ext cx="9525" cy="50800"/>
              </a:xfrm>
              <a:custGeom>
                <a:avLst/>
                <a:gdLst/>
                <a:ahLst/>
                <a:cxnLst/>
                <a:rect l="l" t="t" r="r" b="b"/>
                <a:pathLst>
                  <a:path w="9525" h="50800">
                    <a:moveTo>
                      <a:pt x="0" y="0"/>
                    </a:moveTo>
                    <a:lnTo>
                      <a:pt x="0" y="50800"/>
                    </a:lnTo>
                  </a:path>
                </a:pathLst>
              </a:custGeom>
              <a:noFill/>
              <a:ln w="25400">
                <a:solidFill>
                  <a:schemeClr val="accent3"/>
                </a:solidFill>
              </a:ln>
            </p:spPr>
          </p:sp>
          <p:sp>
            <p:nvSpPr>
              <p:cNvPr id="17" name="Freeform 17"/>
              <p:cNvSpPr/>
              <p:nvPr/>
            </p:nvSpPr>
            <p:spPr>
              <a:xfrm>
                <a:off x="1243519" y="5301206"/>
                <a:ext cx="256151" cy="220068"/>
              </a:xfrm>
              <a:custGeom>
                <a:avLst/>
                <a:gdLst/>
                <a:ahLst/>
                <a:cxnLst/>
                <a:rect l="l" t="t" r="r" b="b"/>
                <a:pathLst>
                  <a:path w="256151" h="220068">
                    <a:moveTo>
                      <a:pt x="107291" y="11725"/>
                    </a:moveTo>
                    <a:lnTo>
                      <a:pt x="4345" y="183606"/>
                    </a:lnTo>
                    <a:cubicBezTo>
                      <a:pt x="26" y="191085"/>
                      <a:pt x="0" y="200293"/>
                      <a:pt x="4276" y="207796"/>
                    </a:cubicBezTo>
                    <a:cubicBezTo>
                      <a:pt x="8551" y="215299"/>
                      <a:pt x="16487" y="219971"/>
                      <a:pt x="25122" y="220068"/>
                    </a:cubicBezTo>
                    <a:lnTo>
                      <a:pt x="231039" y="220068"/>
                    </a:lnTo>
                    <a:cubicBezTo>
                      <a:pt x="239671" y="219968"/>
                      <a:pt x="247602" y="215299"/>
                      <a:pt x="251877" y="207800"/>
                    </a:cubicBezTo>
                    <a:cubicBezTo>
                      <a:pt x="256151" y="200300"/>
                      <a:pt x="256128" y="191097"/>
                      <a:pt x="251816" y="183619"/>
                    </a:cubicBezTo>
                    <a:lnTo>
                      <a:pt x="148870" y="11712"/>
                    </a:lnTo>
                    <a:cubicBezTo>
                      <a:pt x="144465" y="4441"/>
                      <a:pt x="136582" y="0"/>
                      <a:pt x="128081" y="0"/>
                    </a:cubicBezTo>
                    <a:cubicBezTo>
                      <a:pt x="119579" y="0"/>
                      <a:pt x="111696" y="4441"/>
                      <a:pt x="107291" y="11712"/>
                    </a:cubicBezTo>
                  </a:path>
                </a:pathLst>
              </a:custGeom>
              <a:noFill/>
              <a:ln w="25400">
                <a:solidFill>
                  <a:schemeClr val="accent3"/>
                </a:solidFill>
              </a:ln>
            </p:spPr>
          </p:sp>
          <p:sp>
            <p:nvSpPr>
              <p:cNvPr id="18" name="Freeform 18"/>
              <p:cNvSpPr/>
              <p:nvPr/>
            </p:nvSpPr>
            <p:spPr>
              <a:xfrm>
                <a:off x="1371600" y="5470524"/>
                <a:ext cx="9525" cy="9525"/>
              </a:xfrm>
              <a:custGeom>
                <a:avLst/>
                <a:gdLst/>
                <a:ahLst/>
                <a:cxnLst/>
                <a:rect l="l" t="t" r="r" b="b"/>
                <a:pathLst>
                  <a:path w="9525" h="9525">
                    <a:moveTo>
                      <a:pt x="0" y="0"/>
                    </a:moveTo>
                    <a:lnTo>
                      <a:pt x="127" y="0"/>
                    </a:lnTo>
                  </a:path>
                </a:pathLst>
              </a:custGeom>
              <a:noFill/>
              <a:ln w="25400">
                <a:solidFill>
                  <a:schemeClr val="accent3"/>
                </a:solidFill>
              </a:ln>
            </p:spPr>
          </p:sp>
        </p:grpSp>
        <p:sp>
          <p:nvSpPr>
            <p:cNvPr id="20" name="TextBox 20"/>
            <p:cNvSpPr txBox="1"/>
            <p:nvPr/>
          </p:nvSpPr>
          <p:spPr>
            <a:xfrm>
              <a:off x="1687068" y="5219700"/>
              <a:ext cx="2088144"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Evidence boundary</a:t>
              </a:r>
            </a:p>
          </p:txBody>
        </p:sp>
        <p:sp>
          <p:nvSpPr>
            <p:cNvPr id="21" name="TextBox 21"/>
            <p:cNvSpPr txBox="1"/>
            <p:nvPr/>
          </p:nvSpPr>
          <p:spPr>
            <a:xfrm>
              <a:off x="1688592" y="5524500"/>
              <a:ext cx="7732723"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Capped, session-disjoint raw-PCAP experiment — not a full-dataset convergence claim.</a:t>
              </a:r>
            </a:p>
          </p:txBody>
        </p:sp>
      </p:grpSp>
      <p:grpSp>
        <p:nvGrpSpPr>
          <p:cNvPr id="25" name="footer"/>
          <p:cNvGrpSpPr/>
          <p:nvPr/>
        </p:nvGrpSpPr>
        <p:grpSpPr>
          <a:xfrm>
            <a:off x="985266" y="6330950"/>
            <a:ext cx="10107168" cy="205359"/>
            <a:chOff x="985266" y="6330950"/>
            <a:chExt cx="10107168" cy="205359"/>
          </a:xfrm>
        </p:grpSpPr>
        <p:sp>
          <p:nvSpPr>
            <p:cNvPr id="23" name="TextBox 23"/>
            <p:cNvSpPr txBox="1"/>
            <p:nvPr/>
          </p:nvSpPr>
          <p:spPr>
            <a:xfrm>
              <a:off x="985266" y="6330950"/>
              <a:ext cx="5922350" cy="205359"/>
            </a:xfrm>
            <a:prstGeom prst="rect">
              <a:avLst/>
            </a:prstGeom>
            <a:noFill/>
            <a:ln>
              <a:noFill/>
            </a:ln>
          </p:spPr>
          <p:txBody>
            <a:bodyPr wrap="none" lIns="0" tIns="0" rIns="0" bIns="0" anchor="t" anchorCtr="0">
              <a:spAutoFit/>
            </a:bodyPr>
            <a:lstStyle/>
            <a:p>
              <a:pPr algn="l"/>
              <a:r>
                <a:rPr lang="en-US" sz="1050" dirty="0">
                  <a:solidFill>
                    <a:schemeClr val="accent5"/>
                  </a:solidFill>
                  <a:latin typeface="+mn-lt"/>
                  <a:ea typeface="+mn-ea"/>
                  <a:cs typeface="+mn-cs"/>
                </a:rPr>
                <a:t>MontazeriShatoori et al. (2020) · CIRA-CIC-DoHBrw-2020 · Project evidence, seed 42</a:t>
              </a:r>
            </a:p>
          </p:txBody>
        </p:sp>
        <p:sp>
          <p:nvSpPr>
            <p:cNvPr id="24" name="TextBox 24"/>
            <p:cNvSpPr txBox="1"/>
            <p:nvPr/>
          </p:nvSpPr>
          <p:spPr>
            <a:xfrm>
              <a:off x="10926280" y="6330950"/>
              <a:ext cx="166154"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Consolas"/>
                  <a:ea typeface="Consolas"/>
                  <a:cs typeface="Consolas"/>
                </a:rPr>
                <a:t>01</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ledger-rule"/>
          <p:cNvSpPr/>
          <p:nvPr/>
        </p:nvSpPr>
        <p:spPr>
          <a:xfrm>
            <a:off x="609600" y="400050"/>
            <a:ext cx="57150" cy="6000750"/>
          </a:xfrm>
          <a:prstGeom prst="rect">
            <a:avLst/>
          </a:prstGeom>
          <a:solidFill>
            <a:schemeClr val="accent2"/>
          </a:solidFill>
          <a:ln>
            <a:noFill/>
          </a:ln>
        </p:spPr>
      </p:sp>
      <p:grpSp>
        <p:nvGrpSpPr>
          <p:cNvPr id="5" name="heading"/>
          <p:cNvGrpSpPr/>
          <p:nvPr/>
        </p:nvGrpSpPr>
        <p:grpSpPr>
          <a:xfrm>
            <a:off x="936498" y="546100"/>
            <a:ext cx="10042501" cy="946277"/>
            <a:chOff x="936498" y="546100"/>
            <a:chExt cx="10042501" cy="946277"/>
          </a:xfrm>
        </p:grpSpPr>
        <p:sp>
          <p:nvSpPr>
            <p:cNvPr id="3" name="TextBox 3"/>
            <p:cNvSpPr txBox="1"/>
            <p:nvPr/>
          </p:nvSpPr>
          <p:spPr>
            <a:xfrm>
              <a:off x="946404" y="546100"/>
              <a:ext cx="1373429" cy="234696"/>
            </a:xfrm>
            <a:prstGeom prst="rect">
              <a:avLst/>
            </a:prstGeom>
            <a:noFill/>
            <a:ln>
              <a:noFill/>
            </a:ln>
          </p:spPr>
          <p:txBody>
            <a:bodyPr wrap="none" lIns="0" tIns="0" rIns="0" bIns="0" anchor="t" anchorCtr="0">
              <a:spAutoFit/>
            </a:bodyPr>
            <a:lstStyle/>
            <a:p>
              <a:pPr algn="l"/>
              <a:r>
                <a:rPr lang="en-US" sz="1200" spc="150" dirty="0">
                  <a:solidFill>
                    <a:schemeClr val="accent2"/>
                  </a:solidFill>
                  <a:latin typeface="Consolas"/>
                  <a:ea typeface="Consolas"/>
                  <a:cs typeface="Consolas"/>
                </a:rPr>
                <a:t>01 · PROBLEM</a:t>
              </a:r>
            </a:p>
          </p:txBody>
        </p:sp>
        <p:sp>
          <p:nvSpPr>
            <p:cNvPr id="4" name="TextBox 4"/>
            <p:cNvSpPr txBox="1"/>
            <p:nvPr/>
          </p:nvSpPr>
          <p:spPr>
            <a:xfrm>
              <a:off x="936498" y="876300"/>
              <a:ext cx="10042501" cy="616077"/>
            </a:xfrm>
            <a:prstGeom prst="rect">
              <a:avLst/>
            </a:prstGeom>
            <a:noFill/>
            <a:ln>
              <a:noFill/>
            </a:ln>
          </p:spPr>
          <p:txBody>
            <a:bodyPr wrap="none" lIns="0" tIns="0" rIns="0" bIns="0" anchor="t" anchorCtr="0">
              <a:spAutoFit/>
            </a:bodyPr>
            <a:lstStyle/>
            <a:p>
              <a:pPr algn="l"/>
              <a:r>
                <a:rPr lang="en-US" sz="3150" b="1" dirty="0">
                  <a:solidFill>
                    <a:schemeClr val="accent1"/>
                  </a:solidFill>
                  <a:latin typeface="+mj-lt"/>
                  <a:ea typeface="+mj-ea"/>
                  <a:cs typeface="+mj-cs"/>
                </a:rPr>
                <a:t>Encryption hides content—not packet behavior</a:t>
              </a:r>
            </a:p>
          </p:txBody>
        </p:sp>
      </p:grpSp>
      <p:grpSp>
        <p:nvGrpSpPr>
          <p:cNvPr id="17" name="hidden-channel"/>
          <p:cNvGrpSpPr/>
          <p:nvPr/>
        </p:nvGrpSpPr>
        <p:grpSpPr>
          <a:xfrm>
            <a:off x="952500" y="1790700"/>
            <a:ext cx="4476750" cy="3333750"/>
            <a:chOff x="952500" y="1790700"/>
            <a:chExt cx="4476750" cy="3333750"/>
          </a:xfrm>
        </p:grpSpPr>
        <p:sp>
          <p:nvSpPr>
            <p:cNvPr id="6" name="Rectangle 6"/>
            <p:cNvSpPr/>
            <p:nvPr/>
          </p:nvSpPr>
          <p:spPr>
            <a:xfrm>
              <a:off x="952500" y="1790700"/>
              <a:ext cx="4476750" cy="3333750"/>
            </a:xfrm>
            <a:prstGeom prst="roundRect">
              <a:avLst>
                <a:gd name="adj" fmla="val 2857"/>
              </a:avLst>
            </a:prstGeom>
            <a:solidFill>
              <a:schemeClr val="lt2"/>
            </a:solidFill>
            <a:ln>
              <a:noFill/>
            </a:ln>
          </p:spPr>
        </p:sp>
        <p:grpSp>
          <p:nvGrpSpPr>
            <p:cNvPr id="10" name="Group 10"/>
            <p:cNvGrpSpPr/>
            <p:nvPr/>
          </p:nvGrpSpPr>
          <p:grpSpPr>
            <a:xfrm>
              <a:off x="1354870" y="2202656"/>
              <a:ext cx="433510" cy="414338"/>
              <a:chOff x="1354870" y="2202656"/>
              <a:chExt cx="433510" cy="414338"/>
            </a:xfrm>
          </p:grpSpPr>
          <p:sp>
            <p:nvSpPr>
              <p:cNvPr id="7" name="Freeform 7"/>
              <p:cNvSpPr/>
              <p:nvPr/>
            </p:nvSpPr>
            <p:spPr>
              <a:xfrm>
                <a:off x="1354870" y="2202656"/>
                <a:ext cx="433510" cy="414338"/>
              </a:xfrm>
              <a:custGeom>
                <a:avLst/>
                <a:gdLst/>
                <a:ahLst/>
                <a:cxnLst/>
                <a:rect l="l" t="t" r="r" b="b"/>
                <a:pathLst>
                  <a:path w="433510" h="414338">
                    <a:moveTo>
                      <a:pt x="216755" y="0"/>
                    </a:moveTo>
                    <a:cubicBezTo>
                      <a:pt x="270523" y="47570"/>
                      <a:pt x="340699" y="72338"/>
                      <a:pt x="412415" y="69056"/>
                    </a:cubicBezTo>
                    <a:cubicBezTo>
                      <a:pt x="433510" y="140818"/>
                      <a:pt x="424601" y="218067"/>
                      <a:pt x="387725" y="283143"/>
                    </a:cubicBezTo>
                    <a:cubicBezTo>
                      <a:pt x="350848" y="348219"/>
                      <a:pt x="289157" y="395558"/>
                      <a:pt x="216755" y="414338"/>
                    </a:cubicBezTo>
                    <a:cubicBezTo>
                      <a:pt x="144353" y="395558"/>
                      <a:pt x="82662" y="348219"/>
                      <a:pt x="45785" y="283143"/>
                    </a:cubicBezTo>
                    <a:cubicBezTo>
                      <a:pt x="8909" y="218067"/>
                      <a:pt x="0" y="140818"/>
                      <a:pt x="21095" y="69056"/>
                    </a:cubicBezTo>
                    <a:cubicBezTo>
                      <a:pt x="92811" y="72338"/>
                      <a:pt x="162987" y="47570"/>
                      <a:pt x="216755" y="0"/>
                    </a:cubicBezTo>
                  </a:path>
                </a:pathLst>
              </a:custGeom>
              <a:noFill/>
              <a:ln w="46038">
                <a:solidFill>
                  <a:schemeClr val="accent1"/>
                </a:solidFill>
              </a:ln>
            </p:spPr>
          </p:sp>
          <p:sp>
            <p:nvSpPr>
              <p:cNvPr id="8" name="Freeform 8"/>
              <p:cNvSpPr/>
              <p:nvPr/>
            </p:nvSpPr>
            <p:spPr>
              <a:xfrm>
                <a:off x="1548607" y="2363788"/>
                <a:ext cx="46038" cy="46038"/>
              </a:xfrm>
              <a:custGeom>
                <a:avLst/>
                <a:gdLst/>
                <a:ahLst/>
                <a:cxnLst/>
                <a:rect l="l" t="t" r="r" b="b"/>
                <a:pathLst>
                  <a:path w="46038" h="46038">
                    <a:moveTo>
                      <a:pt x="0" y="23019"/>
                    </a:moveTo>
                    <a:cubicBezTo>
                      <a:pt x="0" y="35732"/>
                      <a:pt x="10306" y="46038"/>
                      <a:pt x="23019" y="46038"/>
                    </a:cubicBezTo>
                    <a:cubicBezTo>
                      <a:pt x="35732" y="46038"/>
                      <a:pt x="46038" y="35732"/>
                      <a:pt x="46038" y="23019"/>
                    </a:cubicBezTo>
                    <a:cubicBezTo>
                      <a:pt x="46038" y="10306"/>
                      <a:pt x="35732" y="0"/>
                      <a:pt x="23019" y="0"/>
                    </a:cubicBezTo>
                    <a:cubicBezTo>
                      <a:pt x="10306" y="0"/>
                      <a:pt x="0" y="10306"/>
                      <a:pt x="0" y="23019"/>
                    </a:cubicBezTo>
                  </a:path>
                </a:pathLst>
              </a:custGeom>
              <a:noFill/>
              <a:ln w="46038">
                <a:solidFill>
                  <a:schemeClr val="accent1"/>
                </a:solidFill>
              </a:ln>
            </p:spPr>
          </p:sp>
          <p:sp>
            <p:nvSpPr>
              <p:cNvPr id="9" name="Freeform 9"/>
              <p:cNvSpPr/>
              <p:nvPr/>
            </p:nvSpPr>
            <p:spPr>
              <a:xfrm>
                <a:off x="1571625" y="2409825"/>
                <a:ext cx="9525" cy="57547"/>
              </a:xfrm>
              <a:custGeom>
                <a:avLst/>
                <a:gdLst/>
                <a:ahLst/>
                <a:cxnLst/>
                <a:rect l="l" t="t" r="r" b="b"/>
                <a:pathLst>
                  <a:path w="9525" h="57547">
                    <a:moveTo>
                      <a:pt x="0" y="0"/>
                    </a:moveTo>
                    <a:lnTo>
                      <a:pt x="0" y="57547"/>
                    </a:lnTo>
                  </a:path>
                </a:pathLst>
              </a:custGeom>
              <a:noFill/>
              <a:ln w="46038">
                <a:solidFill>
                  <a:schemeClr val="accent1"/>
                </a:solidFill>
              </a:ln>
            </p:spPr>
          </p:sp>
        </p:grpSp>
        <p:sp>
          <p:nvSpPr>
            <p:cNvPr id="11" name="TextBox 11"/>
            <p:cNvSpPr txBox="1"/>
            <p:nvPr/>
          </p:nvSpPr>
          <p:spPr>
            <a:xfrm>
              <a:off x="2065782" y="2139950"/>
              <a:ext cx="2657638" cy="410718"/>
            </a:xfrm>
            <a:prstGeom prst="rect">
              <a:avLst/>
            </a:prstGeom>
            <a:noFill/>
            <a:ln>
              <a:noFill/>
            </a:ln>
          </p:spPr>
          <p:txBody>
            <a:bodyPr wrap="none" lIns="0" tIns="0" rIns="0" bIns="0" anchor="t" anchorCtr="0">
              <a:spAutoFit/>
            </a:bodyPr>
            <a:lstStyle/>
            <a:p>
              <a:pPr algn="l"/>
              <a:r>
                <a:rPr lang="en-US" sz="2100" b="1" dirty="0">
                  <a:solidFill>
                    <a:schemeClr val="accent1"/>
                  </a:solidFill>
                  <a:latin typeface="+mn-lt"/>
                  <a:ea typeface="+mn-ea"/>
                  <a:cs typeface="+mn-cs"/>
                </a:rPr>
                <a:t>Encrypted payload</a:t>
              </a:r>
            </a:p>
          </p:txBody>
        </p:sp>
        <p:sp>
          <p:nvSpPr>
            <p:cNvPr id="12" name="Line 12"/>
            <p:cNvSpPr/>
            <p:nvPr/>
          </p:nvSpPr>
          <p:spPr>
            <a:xfrm>
              <a:off x="1333500" y="2933700"/>
              <a:ext cx="3695700" cy="9525"/>
            </a:xfrm>
            <a:custGeom>
              <a:avLst/>
              <a:gdLst/>
              <a:ahLst/>
              <a:cxnLst/>
              <a:rect l="l" t="t" r="r" b="b"/>
              <a:pathLst>
                <a:path w="3695700" h="9525">
                  <a:moveTo>
                    <a:pt x="0" y="0"/>
                  </a:moveTo>
                  <a:lnTo>
                    <a:pt x="3695700" y="0"/>
                  </a:lnTo>
                </a:path>
              </a:pathLst>
            </a:custGeom>
            <a:noFill/>
            <a:ln w="19050">
              <a:solidFill>
                <a:schemeClr val="accent6"/>
              </a:solidFill>
            </a:ln>
          </p:spPr>
        </p:sp>
        <p:sp>
          <p:nvSpPr>
            <p:cNvPr id="13" name="TextBox 13"/>
            <p:cNvSpPr txBox="1"/>
            <p:nvPr/>
          </p:nvSpPr>
          <p:spPr>
            <a:xfrm>
              <a:off x="1324356" y="3155950"/>
              <a:ext cx="2757830"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n-lt"/>
                  <a:ea typeface="+mn-ea"/>
                  <a:cs typeface="+mn-cs"/>
                </a:rPr>
                <a:t>DNS names and answers</a:t>
              </a:r>
            </a:p>
          </p:txBody>
        </p:sp>
        <p:sp>
          <p:nvSpPr>
            <p:cNvPr id="14" name="TextBox 14"/>
            <p:cNvSpPr txBox="1"/>
            <p:nvPr/>
          </p:nvSpPr>
          <p:spPr>
            <a:xfrm>
              <a:off x="1324356" y="3565525"/>
              <a:ext cx="2569807"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n-lt"/>
                  <a:ea typeface="+mn-ea"/>
                  <a:cs typeface="+mn-cs"/>
                </a:rPr>
                <a:t>Application semantics</a:t>
              </a:r>
            </a:p>
          </p:txBody>
        </p:sp>
        <p:sp>
          <p:nvSpPr>
            <p:cNvPr id="15" name="TextBox 15"/>
            <p:cNvSpPr txBox="1"/>
            <p:nvPr/>
          </p:nvSpPr>
          <p:spPr>
            <a:xfrm>
              <a:off x="1324356" y="3975100"/>
              <a:ext cx="3079699"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n-lt"/>
                  <a:ea typeface="+mn-ea"/>
                  <a:cs typeface="+mn-cs"/>
                </a:rPr>
                <a:t>Tunnel commands and data</a:t>
              </a:r>
            </a:p>
          </p:txBody>
        </p:sp>
        <p:sp>
          <p:nvSpPr>
            <p:cNvPr id="16" name="TextBox 16"/>
            <p:cNvSpPr txBox="1"/>
            <p:nvPr/>
          </p:nvSpPr>
          <p:spPr>
            <a:xfrm>
              <a:off x="1326642" y="4619625"/>
              <a:ext cx="2222155"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Opaque inside HTTPS/TLS</a:t>
              </a:r>
            </a:p>
          </p:txBody>
        </p:sp>
      </p:grpSp>
      <p:grpSp>
        <p:nvGrpSpPr>
          <p:cNvPr id="28" name="visible-channel"/>
          <p:cNvGrpSpPr/>
          <p:nvPr/>
        </p:nvGrpSpPr>
        <p:grpSpPr>
          <a:xfrm>
            <a:off x="6191250" y="1790700"/>
            <a:ext cx="4476750" cy="3333750"/>
            <a:chOff x="6191250" y="1790700"/>
            <a:chExt cx="4476750" cy="3333750"/>
          </a:xfrm>
        </p:grpSpPr>
        <p:sp>
          <p:nvSpPr>
            <p:cNvPr id="18" name="Rectangle 18"/>
            <p:cNvSpPr/>
            <p:nvPr/>
          </p:nvSpPr>
          <p:spPr>
            <a:xfrm>
              <a:off x="6191250" y="1790700"/>
              <a:ext cx="4476750" cy="3333750"/>
            </a:xfrm>
            <a:prstGeom prst="roundRect">
              <a:avLst>
                <a:gd name="adj" fmla="val 2857"/>
              </a:avLst>
            </a:prstGeom>
            <a:solidFill>
              <a:srgbClr val="FFFFFF"/>
            </a:solidFill>
            <a:ln w="28575">
              <a:solidFill>
                <a:schemeClr val="accent2"/>
              </a:solidFill>
            </a:ln>
          </p:spPr>
        </p:sp>
        <p:grpSp>
          <p:nvGrpSpPr>
            <p:cNvPr id="21" name="Group 21"/>
            <p:cNvGrpSpPr/>
            <p:nvPr/>
          </p:nvGrpSpPr>
          <p:grpSpPr>
            <a:xfrm>
              <a:off x="6626225" y="2271713"/>
              <a:ext cx="368301" cy="308769"/>
              <a:chOff x="6626225" y="2271713"/>
              <a:chExt cx="368301" cy="308769"/>
            </a:xfrm>
          </p:grpSpPr>
          <p:sp>
            <p:nvSpPr>
              <p:cNvPr id="19" name="Freeform 19"/>
              <p:cNvSpPr/>
              <p:nvPr/>
            </p:nvSpPr>
            <p:spPr>
              <a:xfrm>
                <a:off x="6626225" y="2570957"/>
                <a:ext cx="368301" cy="9525"/>
              </a:xfrm>
              <a:custGeom>
                <a:avLst/>
                <a:gdLst/>
                <a:ahLst/>
                <a:cxnLst/>
                <a:rect l="l" t="t" r="r" b="b"/>
                <a:pathLst>
                  <a:path w="368301" h="9525">
                    <a:moveTo>
                      <a:pt x="0" y="0"/>
                    </a:moveTo>
                    <a:lnTo>
                      <a:pt x="368301" y="0"/>
                    </a:lnTo>
                  </a:path>
                </a:pathLst>
              </a:custGeom>
              <a:noFill/>
              <a:ln w="46038">
                <a:solidFill>
                  <a:schemeClr val="accent2"/>
                </a:solidFill>
              </a:ln>
            </p:spPr>
          </p:sp>
          <p:sp>
            <p:nvSpPr>
              <p:cNvPr id="20" name="Freeform 20"/>
              <p:cNvSpPr/>
              <p:nvPr/>
            </p:nvSpPr>
            <p:spPr>
              <a:xfrm>
                <a:off x="6626225" y="2271713"/>
                <a:ext cx="368301" cy="207169"/>
              </a:xfrm>
              <a:custGeom>
                <a:avLst/>
                <a:gdLst/>
                <a:ahLst/>
                <a:cxnLst/>
                <a:rect l="l" t="t" r="r" b="b"/>
                <a:pathLst>
                  <a:path w="368301" h="207169">
                    <a:moveTo>
                      <a:pt x="0" y="207169"/>
                    </a:moveTo>
                    <a:lnTo>
                      <a:pt x="92075" y="69056"/>
                    </a:lnTo>
                    <a:lnTo>
                      <a:pt x="184150" y="115094"/>
                    </a:lnTo>
                    <a:lnTo>
                      <a:pt x="276225" y="0"/>
                    </a:lnTo>
                    <a:lnTo>
                      <a:pt x="368301" y="92075"/>
                    </a:lnTo>
                  </a:path>
                </a:pathLst>
              </a:custGeom>
              <a:noFill/>
              <a:ln w="46038">
                <a:solidFill>
                  <a:schemeClr val="accent2"/>
                </a:solidFill>
              </a:ln>
            </p:spPr>
          </p:sp>
        </p:grpSp>
        <p:sp>
          <p:nvSpPr>
            <p:cNvPr id="22" name="TextBox 22"/>
            <p:cNvSpPr txBox="1"/>
            <p:nvPr/>
          </p:nvSpPr>
          <p:spPr>
            <a:xfrm>
              <a:off x="7304532" y="2139950"/>
              <a:ext cx="3043707" cy="410718"/>
            </a:xfrm>
            <a:prstGeom prst="rect">
              <a:avLst/>
            </a:prstGeom>
            <a:noFill/>
            <a:ln>
              <a:noFill/>
            </a:ln>
          </p:spPr>
          <p:txBody>
            <a:bodyPr wrap="none" lIns="0" tIns="0" rIns="0" bIns="0" anchor="t" anchorCtr="0">
              <a:spAutoFit/>
            </a:bodyPr>
            <a:lstStyle/>
            <a:p>
              <a:pPr algn="l"/>
              <a:r>
                <a:rPr lang="en-US" sz="2100" b="1" dirty="0">
                  <a:solidFill>
                    <a:schemeClr val="accent1"/>
                  </a:solidFill>
                  <a:latin typeface="+mn-lt"/>
                  <a:ea typeface="+mn-ea"/>
                  <a:cs typeface="+mn-cs"/>
                </a:rPr>
                <a:t>Observable sequence</a:t>
              </a:r>
            </a:p>
          </p:txBody>
        </p:sp>
        <p:sp>
          <p:nvSpPr>
            <p:cNvPr id="23" name="Line 23"/>
            <p:cNvSpPr/>
            <p:nvPr/>
          </p:nvSpPr>
          <p:spPr>
            <a:xfrm>
              <a:off x="6572250" y="2933700"/>
              <a:ext cx="3695700" cy="9525"/>
            </a:xfrm>
            <a:custGeom>
              <a:avLst/>
              <a:gdLst/>
              <a:ahLst/>
              <a:cxnLst/>
              <a:rect l="l" t="t" r="r" b="b"/>
              <a:pathLst>
                <a:path w="3695700" h="9525">
                  <a:moveTo>
                    <a:pt x="0" y="0"/>
                  </a:moveTo>
                  <a:lnTo>
                    <a:pt x="3695700" y="0"/>
                  </a:lnTo>
                </a:path>
              </a:pathLst>
            </a:custGeom>
            <a:noFill/>
            <a:ln w="19050">
              <a:solidFill>
                <a:schemeClr val="accent6"/>
              </a:solidFill>
            </a:ln>
          </p:spPr>
        </p:sp>
        <p:sp>
          <p:nvSpPr>
            <p:cNvPr id="24" name="TextBox 24"/>
            <p:cNvSpPr txBox="1"/>
            <p:nvPr/>
          </p:nvSpPr>
          <p:spPr>
            <a:xfrm>
              <a:off x="6563106" y="3155950"/>
              <a:ext cx="1976293"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n-lt"/>
                  <a:ea typeface="+mn-ea"/>
                  <a:cs typeface="+mn-cs"/>
                </a:rPr>
                <a:t>Packet direction</a:t>
              </a:r>
            </a:p>
          </p:txBody>
        </p:sp>
        <p:sp>
          <p:nvSpPr>
            <p:cNvPr id="25" name="TextBox 25"/>
            <p:cNvSpPr txBox="1"/>
            <p:nvPr/>
          </p:nvSpPr>
          <p:spPr>
            <a:xfrm>
              <a:off x="6563106" y="3565525"/>
              <a:ext cx="1637290"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n-lt"/>
                  <a:ea typeface="+mn-ea"/>
                  <a:cs typeface="+mn-cs"/>
                </a:rPr>
                <a:t>Packet length</a:t>
              </a:r>
            </a:p>
          </p:txBody>
        </p:sp>
        <p:sp>
          <p:nvSpPr>
            <p:cNvPr id="26" name="TextBox 26"/>
            <p:cNvSpPr txBox="1"/>
            <p:nvPr/>
          </p:nvSpPr>
          <p:spPr>
            <a:xfrm>
              <a:off x="6563106" y="3975100"/>
              <a:ext cx="3236877"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n-lt"/>
                  <a:ea typeface="+mn-ea"/>
                  <a:cs typeface="+mn-cs"/>
                </a:rPr>
                <a:t>Timing and burst structure</a:t>
              </a:r>
            </a:p>
          </p:txBody>
        </p:sp>
        <p:sp>
          <p:nvSpPr>
            <p:cNvPr id="27" name="TextBox 27"/>
            <p:cNvSpPr txBox="1"/>
            <p:nvPr/>
          </p:nvSpPr>
          <p:spPr>
            <a:xfrm>
              <a:off x="6565392" y="4619625"/>
              <a:ext cx="2627320" cy="264033"/>
            </a:xfrm>
            <a:prstGeom prst="rect">
              <a:avLst/>
            </a:prstGeom>
            <a:noFill/>
            <a:ln>
              <a:noFill/>
            </a:ln>
          </p:spPr>
          <p:txBody>
            <a:bodyPr wrap="none" lIns="0" tIns="0" rIns="0" bIns="0" anchor="t" anchorCtr="0">
              <a:spAutoFit/>
            </a:bodyPr>
            <a:lstStyle/>
            <a:p>
              <a:pPr algn="l"/>
              <a:r>
                <a:rPr lang="en-US" sz="1350" dirty="0">
                  <a:solidFill>
                    <a:schemeClr val="accent2"/>
                  </a:solidFill>
                  <a:latin typeface="+mn-lt"/>
                  <a:ea typeface="+mn-ea"/>
                  <a:cs typeface="+mn-cs"/>
                </a:rPr>
                <a:t>Learnable without decryption</a:t>
              </a:r>
            </a:p>
          </p:txBody>
        </p:sp>
      </p:grpSp>
      <p:grpSp>
        <p:nvGrpSpPr>
          <p:cNvPr id="31" name="takeaway"/>
          <p:cNvGrpSpPr/>
          <p:nvPr/>
        </p:nvGrpSpPr>
        <p:grpSpPr>
          <a:xfrm>
            <a:off x="941832" y="5540375"/>
            <a:ext cx="9648521" cy="410718"/>
            <a:chOff x="941832" y="5540375"/>
            <a:chExt cx="9648521" cy="410718"/>
          </a:xfrm>
        </p:grpSpPr>
        <p:sp>
          <p:nvSpPr>
            <p:cNvPr id="29" name="TextBox 29"/>
            <p:cNvSpPr txBox="1"/>
            <p:nvPr/>
          </p:nvSpPr>
          <p:spPr>
            <a:xfrm>
              <a:off x="941832" y="5540375"/>
              <a:ext cx="2495045"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Core hypothesis:</a:t>
              </a:r>
            </a:p>
          </p:txBody>
        </p:sp>
        <p:sp>
          <p:nvSpPr>
            <p:cNvPr id="30" name="TextBox 30"/>
            <p:cNvSpPr txBox="1"/>
            <p:nvPr/>
          </p:nvSpPr>
          <p:spPr>
            <a:xfrm>
              <a:off x="2846832" y="5540375"/>
              <a:ext cx="7743521"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DoH tunneling changes traffic shape enough to classify.</a:t>
              </a:r>
            </a:p>
          </p:txBody>
        </p:sp>
      </p:grpSp>
      <p:grpSp>
        <p:nvGrpSpPr>
          <p:cNvPr id="34" name="footer"/>
          <p:cNvGrpSpPr/>
          <p:nvPr/>
        </p:nvGrpSpPr>
        <p:grpSpPr>
          <a:xfrm>
            <a:off x="947166" y="6369050"/>
            <a:ext cx="10297668" cy="205359"/>
            <a:chOff x="947166" y="6369050"/>
            <a:chExt cx="10297668" cy="205359"/>
          </a:xfrm>
        </p:grpSpPr>
        <p:sp>
          <p:nvSpPr>
            <p:cNvPr id="32" name="TextBox 32"/>
            <p:cNvSpPr txBox="1"/>
            <p:nvPr/>
          </p:nvSpPr>
          <p:spPr>
            <a:xfrm>
              <a:off x="947166" y="6369050"/>
              <a:ext cx="2568570" cy="205359"/>
            </a:xfrm>
            <a:prstGeom prst="rect">
              <a:avLst/>
            </a:prstGeom>
            <a:noFill/>
            <a:ln>
              <a:noFill/>
            </a:ln>
          </p:spPr>
          <p:txBody>
            <a:bodyPr wrap="none" lIns="0" tIns="0" rIns="0" bIns="0" anchor="t" anchorCtr="0">
              <a:spAutoFit/>
            </a:bodyPr>
            <a:lstStyle/>
            <a:p>
              <a:pPr algn="l"/>
              <a:r>
                <a:rPr lang="en-US" sz="1050" dirty="0">
                  <a:solidFill>
                    <a:schemeClr val="accent5"/>
                  </a:solidFill>
                  <a:latin typeface="+mn-lt"/>
                  <a:ea typeface="+mn-ea"/>
                  <a:cs typeface="+mn-cs"/>
                </a:rPr>
                <a:t>Source: original paper, Sections I–III</a:t>
              </a:r>
            </a:p>
          </p:txBody>
        </p:sp>
        <p:sp>
          <p:nvSpPr>
            <p:cNvPr id="33" name="TextBox 33"/>
            <p:cNvSpPr txBox="1"/>
            <p:nvPr/>
          </p:nvSpPr>
          <p:spPr>
            <a:xfrm>
              <a:off x="11078680" y="6369050"/>
              <a:ext cx="166154"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Consolas"/>
                  <a:ea typeface="Consolas"/>
                  <a:cs typeface="Consolas"/>
                </a:rPr>
                <a:t>02</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ledger-rule"/>
          <p:cNvSpPr/>
          <p:nvPr/>
        </p:nvSpPr>
        <p:spPr>
          <a:xfrm>
            <a:off x="609600" y="400050"/>
            <a:ext cx="57150" cy="6000750"/>
          </a:xfrm>
          <a:prstGeom prst="rect">
            <a:avLst/>
          </a:prstGeom>
          <a:solidFill>
            <a:schemeClr val="accent2"/>
          </a:solidFill>
          <a:ln>
            <a:noFill/>
          </a:ln>
        </p:spPr>
      </p:sp>
      <p:grpSp>
        <p:nvGrpSpPr>
          <p:cNvPr id="5" name="heading"/>
          <p:cNvGrpSpPr/>
          <p:nvPr/>
        </p:nvGrpSpPr>
        <p:grpSpPr>
          <a:xfrm>
            <a:off x="936498" y="546100"/>
            <a:ext cx="6169336" cy="946277"/>
            <a:chOff x="936498" y="546100"/>
            <a:chExt cx="6169336" cy="946277"/>
          </a:xfrm>
        </p:grpSpPr>
        <p:sp>
          <p:nvSpPr>
            <p:cNvPr id="3" name="TextBox 3"/>
            <p:cNvSpPr txBox="1"/>
            <p:nvPr/>
          </p:nvSpPr>
          <p:spPr>
            <a:xfrm>
              <a:off x="946404" y="546100"/>
              <a:ext cx="2295144" cy="234696"/>
            </a:xfrm>
            <a:prstGeom prst="rect">
              <a:avLst/>
            </a:prstGeom>
            <a:noFill/>
            <a:ln>
              <a:noFill/>
            </a:ln>
          </p:spPr>
          <p:txBody>
            <a:bodyPr wrap="none" lIns="0" tIns="0" rIns="0" bIns="0" anchor="t" anchorCtr="0">
              <a:spAutoFit/>
            </a:bodyPr>
            <a:lstStyle/>
            <a:p>
              <a:pPr algn="l"/>
              <a:r>
                <a:rPr lang="en-US" sz="1200" spc="150" dirty="0">
                  <a:solidFill>
                    <a:schemeClr val="accent2"/>
                  </a:solidFill>
                  <a:latin typeface="Consolas"/>
                  <a:ea typeface="Consolas"/>
                  <a:cs typeface="Consolas"/>
                </a:rPr>
                <a:t>02 · ORIGINAL METHOD</a:t>
              </a:r>
            </a:p>
          </p:txBody>
        </p:sp>
        <p:sp>
          <p:nvSpPr>
            <p:cNvPr id="4" name="TextBox 4"/>
            <p:cNvSpPr txBox="1"/>
            <p:nvPr/>
          </p:nvSpPr>
          <p:spPr>
            <a:xfrm>
              <a:off x="936498" y="876300"/>
              <a:ext cx="6169336" cy="616077"/>
            </a:xfrm>
            <a:prstGeom prst="rect">
              <a:avLst/>
            </a:prstGeom>
            <a:noFill/>
            <a:ln>
              <a:noFill/>
            </a:ln>
          </p:spPr>
          <p:txBody>
            <a:bodyPr wrap="none" lIns="0" tIns="0" rIns="0" bIns="0" anchor="t" anchorCtr="0">
              <a:spAutoFit/>
            </a:bodyPr>
            <a:lstStyle/>
            <a:p>
              <a:pPr algn="l"/>
              <a:r>
                <a:rPr lang="en-US" sz="3150" b="1" dirty="0">
                  <a:solidFill>
                    <a:schemeClr val="accent1"/>
                  </a:solidFill>
                  <a:latin typeface="+mj-lt"/>
                  <a:ea typeface="+mj-ea"/>
                  <a:cs typeface="+mj-cs"/>
                </a:rPr>
                <a:t>A two-layer decision system</a:t>
              </a:r>
            </a:p>
          </p:txBody>
        </p:sp>
      </p:grpSp>
      <p:grpSp>
        <p:nvGrpSpPr>
          <p:cNvPr id="29" name="pipeline"/>
          <p:cNvGrpSpPr/>
          <p:nvPr/>
        </p:nvGrpSpPr>
        <p:grpSpPr>
          <a:xfrm>
            <a:off x="952500" y="1790700"/>
            <a:ext cx="6096000" cy="3638550"/>
            <a:chOff x="952500" y="1790700"/>
            <a:chExt cx="6096000" cy="3638550"/>
          </a:xfrm>
        </p:grpSpPr>
        <p:sp>
          <p:nvSpPr>
            <p:cNvPr id="6" name="Rectangle 6"/>
            <p:cNvSpPr/>
            <p:nvPr/>
          </p:nvSpPr>
          <p:spPr>
            <a:xfrm>
              <a:off x="952500" y="1790700"/>
              <a:ext cx="6096000" cy="3638550"/>
            </a:xfrm>
            <a:prstGeom prst="roundRect">
              <a:avLst>
                <a:gd name="adj" fmla="val 3141"/>
              </a:avLst>
            </a:prstGeom>
            <a:solidFill>
              <a:srgbClr val="FFFFFF"/>
            </a:solidFill>
            <a:ln w="19050">
              <a:solidFill>
                <a:schemeClr val="accent6"/>
              </a:solidFill>
            </a:ln>
          </p:spPr>
        </p:sp>
        <p:grpSp>
          <p:nvGrpSpPr>
            <p:cNvPr id="15" name="Group 15"/>
            <p:cNvGrpSpPr/>
            <p:nvPr/>
          </p:nvGrpSpPr>
          <p:grpSpPr>
            <a:xfrm>
              <a:off x="1369219" y="2226469"/>
              <a:ext cx="328613" cy="346869"/>
              <a:chOff x="1369219" y="2226469"/>
              <a:chExt cx="328613" cy="346869"/>
            </a:xfrm>
          </p:grpSpPr>
          <p:sp>
            <p:nvSpPr>
              <p:cNvPr id="7" name="Freeform 7"/>
              <p:cNvSpPr/>
              <p:nvPr/>
            </p:nvSpPr>
            <p:spPr>
              <a:xfrm>
                <a:off x="1423988" y="2226469"/>
                <a:ext cx="219075" cy="219075"/>
              </a:xfrm>
              <a:custGeom>
                <a:avLst/>
                <a:gdLst/>
                <a:ahLst/>
                <a:cxnLst/>
                <a:rect l="l" t="t" r="r" b="b"/>
                <a:pathLst>
                  <a:path w="219075" h="219075">
                    <a:moveTo>
                      <a:pt x="0" y="109538"/>
                    </a:moveTo>
                    <a:cubicBezTo>
                      <a:pt x="0" y="170034"/>
                      <a:pt x="49042" y="219075"/>
                      <a:pt x="109538" y="219075"/>
                    </a:cubicBezTo>
                    <a:cubicBezTo>
                      <a:pt x="170034" y="219075"/>
                      <a:pt x="219075" y="170034"/>
                      <a:pt x="219075" y="109538"/>
                    </a:cubicBezTo>
                    <a:cubicBezTo>
                      <a:pt x="219075" y="49042"/>
                      <a:pt x="170034" y="0"/>
                      <a:pt x="109538" y="0"/>
                    </a:cubicBezTo>
                    <a:cubicBezTo>
                      <a:pt x="49042" y="0"/>
                      <a:pt x="0" y="49042"/>
                      <a:pt x="0" y="109538"/>
                    </a:cubicBezTo>
                  </a:path>
                </a:pathLst>
              </a:custGeom>
              <a:noFill/>
              <a:ln w="36513">
                <a:solidFill>
                  <a:schemeClr val="accent2"/>
                </a:solidFill>
              </a:ln>
            </p:spPr>
          </p:sp>
          <p:sp>
            <p:nvSpPr>
              <p:cNvPr id="8" name="Freeform 8"/>
              <p:cNvSpPr/>
              <p:nvPr/>
            </p:nvSpPr>
            <p:spPr>
              <a:xfrm>
                <a:off x="1533525" y="2226469"/>
                <a:ext cx="36513" cy="219075"/>
              </a:xfrm>
              <a:custGeom>
                <a:avLst/>
                <a:gdLst/>
                <a:ahLst/>
                <a:cxnLst/>
                <a:rect l="l" t="t" r="r" b="b"/>
                <a:pathLst>
                  <a:path w="36513" h="219075">
                    <a:moveTo>
                      <a:pt x="0" y="0"/>
                    </a:moveTo>
                    <a:cubicBezTo>
                      <a:pt x="24336" y="6079"/>
                      <a:pt x="36513" y="42592"/>
                      <a:pt x="36513" y="109538"/>
                    </a:cubicBezTo>
                    <a:cubicBezTo>
                      <a:pt x="36513" y="176483"/>
                      <a:pt x="24336" y="212996"/>
                      <a:pt x="0" y="219075"/>
                    </a:cubicBezTo>
                  </a:path>
                </a:pathLst>
              </a:custGeom>
              <a:noFill/>
              <a:ln w="36513">
                <a:solidFill>
                  <a:schemeClr val="accent2"/>
                </a:solidFill>
              </a:ln>
            </p:spPr>
          </p:sp>
          <p:sp>
            <p:nvSpPr>
              <p:cNvPr id="9" name="Freeform 9"/>
              <p:cNvSpPr/>
              <p:nvPr/>
            </p:nvSpPr>
            <p:spPr>
              <a:xfrm>
                <a:off x="1497013" y="2226469"/>
                <a:ext cx="36513" cy="219075"/>
              </a:xfrm>
              <a:custGeom>
                <a:avLst/>
                <a:gdLst/>
                <a:ahLst/>
                <a:cxnLst/>
                <a:rect l="l" t="t" r="r" b="b"/>
                <a:pathLst>
                  <a:path w="36513" h="219075">
                    <a:moveTo>
                      <a:pt x="36513" y="0"/>
                    </a:moveTo>
                    <a:cubicBezTo>
                      <a:pt x="12177" y="6079"/>
                      <a:pt x="0" y="42592"/>
                      <a:pt x="0" y="109538"/>
                    </a:cubicBezTo>
                    <a:cubicBezTo>
                      <a:pt x="0" y="176483"/>
                      <a:pt x="12177" y="212996"/>
                      <a:pt x="36513" y="219075"/>
                    </a:cubicBezTo>
                  </a:path>
                </a:pathLst>
              </a:custGeom>
              <a:noFill/>
              <a:ln w="36513">
                <a:solidFill>
                  <a:schemeClr val="accent2"/>
                </a:solidFill>
              </a:ln>
            </p:spPr>
          </p:sp>
          <p:sp>
            <p:nvSpPr>
              <p:cNvPr id="10" name="Freeform 10"/>
              <p:cNvSpPr/>
              <p:nvPr/>
            </p:nvSpPr>
            <p:spPr>
              <a:xfrm>
                <a:off x="1423988" y="2336007"/>
                <a:ext cx="219075" cy="9525"/>
              </a:xfrm>
              <a:custGeom>
                <a:avLst/>
                <a:gdLst/>
                <a:ahLst/>
                <a:cxnLst/>
                <a:rect l="l" t="t" r="r" b="b"/>
                <a:pathLst>
                  <a:path w="219075" h="9525">
                    <a:moveTo>
                      <a:pt x="0" y="0"/>
                    </a:moveTo>
                    <a:lnTo>
                      <a:pt x="219075" y="0"/>
                    </a:lnTo>
                  </a:path>
                </a:pathLst>
              </a:custGeom>
              <a:noFill/>
              <a:ln w="36513">
                <a:solidFill>
                  <a:schemeClr val="accent2"/>
                </a:solidFill>
              </a:ln>
            </p:spPr>
          </p:sp>
          <p:sp>
            <p:nvSpPr>
              <p:cNvPr id="11" name="Freeform 11"/>
              <p:cNvSpPr/>
              <p:nvPr/>
            </p:nvSpPr>
            <p:spPr>
              <a:xfrm>
                <a:off x="1369219" y="2536826"/>
                <a:ext cx="127794" cy="9525"/>
              </a:xfrm>
              <a:custGeom>
                <a:avLst/>
                <a:gdLst/>
                <a:ahLst/>
                <a:cxnLst/>
                <a:rect l="l" t="t" r="r" b="b"/>
                <a:pathLst>
                  <a:path w="127794" h="9525">
                    <a:moveTo>
                      <a:pt x="0" y="0"/>
                    </a:moveTo>
                    <a:lnTo>
                      <a:pt x="127794" y="0"/>
                    </a:lnTo>
                  </a:path>
                </a:pathLst>
              </a:custGeom>
              <a:noFill/>
              <a:ln w="36513">
                <a:solidFill>
                  <a:schemeClr val="accent2"/>
                </a:solidFill>
              </a:ln>
            </p:spPr>
          </p:sp>
          <p:sp>
            <p:nvSpPr>
              <p:cNvPr id="12" name="Freeform 12"/>
              <p:cNvSpPr/>
              <p:nvPr/>
            </p:nvSpPr>
            <p:spPr>
              <a:xfrm>
                <a:off x="1570038" y="2536826"/>
                <a:ext cx="127794" cy="9525"/>
              </a:xfrm>
              <a:custGeom>
                <a:avLst/>
                <a:gdLst/>
                <a:ahLst/>
                <a:cxnLst/>
                <a:rect l="l" t="t" r="r" b="b"/>
                <a:pathLst>
                  <a:path w="127794" h="9525">
                    <a:moveTo>
                      <a:pt x="0" y="0"/>
                    </a:moveTo>
                    <a:lnTo>
                      <a:pt x="127794" y="0"/>
                    </a:lnTo>
                  </a:path>
                </a:pathLst>
              </a:custGeom>
              <a:noFill/>
              <a:ln w="36513">
                <a:solidFill>
                  <a:schemeClr val="accent2"/>
                </a:solidFill>
              </a:ln>
            </p:spPr>
          </p:sp>
          <p:sp>
            <p:nvSpPr>
              <p:cNvPr id="13" name="Freeform 13"/>
              <p:cNvSpPr/>
              <p:nvPr/>
            </p:nvSpPr>
            <p:spPr>
              <a:xfrm>
                <a:off x="1497013" y="2500313"/>
                <a:ext cx="73025" cy="73025"/>
              </a:xfrm>
              <a:custGeom>
                <a:avLst/>
                <a:gdLst/>
                <a:ahLst/>
                <a:cxnLst/>
                <a:rect l="l" t="t" r="r" b="b"/>
                <a:pathLst>
                  <a:path w="73025" h="73025">
                    <a:moveTo>
                      <a:pt x="0" y="36513"/>
                    </a:moveTo>
                    <a:cubicBezTo>
                      <a:pt x="0" y="56678"/>
                      <a:pt x="16347" y="73025"/>
                      <a:pt x="36513" y="73025"/>
                    </a:cubicBezTo>
                    <a:cubicBezTo>
                      <a:pt x="56678" y="73025"/>
                      <a:pt x="73025" y="56678"/>
                      <a:pt x="73025" y="36513"/>
                    </a:cubicBezTo>
                    <a:cubicBezTo>
                      <a:pt x="73025" y="16347"/>
                      <a:pt x="56678" y="0"/>
                      <a:pt x="36513" y="0"/>
                    </a:cubicBezTo>
                    <a:cubicBezTo>
                      <a:pt x="16347" y="0"/>
                      <a:pt x="0" y="16347"/>
                      <a:pt x="0" y="36513"/>
                    </a:cubicBezTo>
                  </a:path>
                </a:pathLst>
              </a:custGeom>
              <a:noFill/>
              <a:ln w="36513">
                <a:solidFill>
                  <a:schemeClr val="accent2"/>
                </a:solidFill>
              </a:ln>
            </p:spPr>
          </p:sp>
          <p:sp>
            <p:nvSpPr>
              <p:cNvPr id="14" name="Freeform 14"/>
              <p:cNvSpPr/>
              <p:nvPr/>
            </p:nvSpPr>
            <p:spPr>
              <a:xfrm>
                <a:off x="1533525" y="2445544"/>
                <a:ext cx="9525" cy="54769"/>
              </a:xfrm>
              <a:custGeom>
                <a:avLst/>
                <a:gdLst/>
                <a:ahLst/>
                <a:cxnLst/>
                <a:rect l="l" t="t" r="r" b="b"/>
                <a:pathLst>
                  <a:path w="9525" h="54769">
                    <a:moveTo>
                      <a:pt x="0" y="0"/>
                    </a:moveTo>
                    <a:lnTo>
                      <a:pt x="0" y="54769"/>
                    </a:lnTo>
                  </a:path>
                </a:pathLst>
              </a:custGeom>
              <a:noFill/>
              <a:ln w="36513">
                <a:solidFill>
                  <a:schemeClr val="accent2"/>
                </a:solidFill>
              </a:ln>
            </p:spPr>
          </p:sp>
        </p:grpSp>
        <p:sp>
          <p:nvSpPr>
            <p:cNvPr id="16" name="TextBox 16"/>
            <p:cNvSpPr txBox="1"/>
            <p:nvPr/>
          </p:nvSpPr>
          <p:spPr>
            <a:xfrm>
              <a:off x="1933194" y="2228850"/>
              <a:ext cx="3143296" cy="381381"/>
            </a:xfrm>
            <a:prstGeom prst="rect">
              <a:avLst/>
            </a:prstGeom>
            <a:noFill/>
            <a:ln>
              <a:noFill/>
            </a:ln>
          </p:spPr>
          <p:txBody>
            <a:bodyPr wrap="none" lIns="0" tIns="0" rIns="0" bIns="0" anchor="t" anchorCtr="0">
              <a:spAutoFit/>
            </a:bodyPr>
            <a:lstStyle/>
            <a:p>
              <a:pPr algn="l"/>
              <a:r>
                <a:rPr lang="en-US" sz="1950" b="1" dirty="0">
                  <a:solidFill>
                    <a:schemeClr val="accent1"/>
                  </a:solidFill>
                  <a:latin typeface="+mn-lt"/>
                  <a:ea typeface="+mn-ea"/>
                  <a:cs typeface="+mn-cs"/>
                </a:rPr>
                <a:t>Encrypted traffic flow</a:t>
              </a:r>
            </a:p>
          </p:txBody>
        </p:sp>
        <p:sp>
          <p:nvSpPr>
            <p:cNvPr id="17" name="Line 17"/>
            <p:cNvSpPr/>
            <p:nvPr/>
          </p:nvSpPr>
          <p:spPr>
            <a:xfrm>
              <a:off x="2724150" y="2762250"/>
              <a:ext cx="1" cy="419100"/>
            </a:xfrm>
            <a:prstGeom prst="line">
              <a:avLst/>
            </a:prstGeom>
            <a:noFill/>
            <a:ln w="28575">
              <a:solidFill>
                <a:schemeClr val="accent2"/>
              </a:solidFill>
              <a:tailEnd type="triangle" w="lg" len="lg"/>
            </a:ln>
          </p:spPr>
        </p:sp>
        <p:sp>
          <p:nvSpPr>
            <p:cNvPr id="18" name="Rectangle 18"/>
            <p:cNvSpPr/>
            <p:nvPr/>
          </p:nvSpPr>
          <p:spPr>
            <a:xfrm>
              <a:off x="1352550" y="3276600"/>
              <a:ext cx="2743200" cy="723900"/>
            </a:xfrm>
            <a:prstGeom prst="roundRect">
              <a:avLst>
                <a:gd name="adj" fmla="val 10526"/>
              </a:avLst>
            </a:prstGeom>
            <a:solidFill>
              <a:schemeClr val="lt2"/>
            </a:solidFill>
            <a:ln>
              <a:noFill/>
            </a:ln>
          </p:spPr>
        </p:sp>
        <p:sp>
          <p:nvSpPr>
            <p:cNvPr id="19" name="TextBox 19"/>
            <p:cNvSpPr txBox="1"/>
            <p:nvPr/>
          </p:nvSpPr>
          <p:spPr>
            <a:xfrm>
              <a:off x="1574292" y="3419475"/>
              <a:ext cx="705002"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LAYER 1</a:t>
              </a:r>
            </a:p>
          </p:txBody>
        </p:sp>
        <p:sp>
          <p:nvSpPr>
            <p:cNvPr id="20" name="TextBox 20"/>
            <p:cNvSpPr txBox="1"/>
            <p:nvPr/>
          </p:nvSpPr>
          <p:spPr>
            <a:xfrm>
              <a:off x="1572006" y="3641725"/>
              <a:ext cx="1887903"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n-lt"/>
                  <a:ea typeface="+mn-ea"/>
                  <a:cs typeface="+mn-cs"/>
                </a:rPr>
                <a:t>DoH vs non-DoH</a:t>
              </a:r>
            </a:p>
          </p:txBody>
        </p:sp>
        <p:sp>
          <p:nvSpPr>
            <p:cNvPr id="21" name="Line 21"/>
            <p:cNvSpPr/>
            <p:nvPr/>
          </p:nvSpPr>
          <p:spPr>
            <a:xfrm>
              <a:off x="4095750" y="3638550"/>
              <a:ext cx="552450" cy="1"/>
            </a:xfrm>
            <a:prstGeom prst="line">
              <a:avLst/>
            </a:prstGeom>
            <a:noFill/>
            <a:ln w="28575">
              <a:solidFill>
                <a:schemeClr val="accent2"/>
              </a:solidFill>
              <a:tailEnd type="triangle" w="lg" len="lg"/>
            </a:ln>
          </p:spPr>
        </p:sp>
        <p:sp>
          <p:nvSpPr>
            <p:cNvPr id="22" name="Rectangle 22"/>
            <p:cNvSpPr/>
            <p:nvPr/>
          </p:nvSpPr>
          <p:spPr>
            <a:xfrm>
              <a:off x="4762500" y="3276600"/>
              <a:ext cx="1866900" cy="723900"/>
            </a:xfrm>
            <a:prstGeom prst="roundRect">
              <a:avLst>
                <a:gd name="adj" fmla="val 10526"/>
              </a:avLst>
            </a:prstGeom>
            <a:solidFill>
              <a:srgbClr val="DDF4F2"/>
            </a:solidFill>
            <a:ln>
              <a:noFill/>
            </a:ln>
          </p:spPr>
        </p:sp>
        <p:sp>
          <p:nvSpPr>
            <p:cNvPr id="23" name="TextBox 23"/>
            <p:cNvSpPr txBox="1"/>
            <p:nvPr/>
          </p:nvSpPr>
          <p:spPr>
            <a:xfrm>
              <a:off x="4965192" y="3419475"/>
              <a:ext cx="829818" cy="264033"/>
            </a:xfrm>
            <a:prstGeom prst="rect">
              <a:avLst/>
            </a:prstGeom>
            <a:noFill/>
            <a:ln>
              <a:noFill/>
            </a:ln>
          </p:spPr>
          <p:txBody>
            <a:bodyPr wrap="none" lIns="0" tIns="0" rIns="0" bIns="0" anchor="t" anchorCtr="0">
              <a:spAutoFit/>
            </a:bodyPr>
            <a:lstStyle/>
            <a:p>
              <a:pPr algn="l"/>
              <a:r>
                <a:rPr lang="en-US" sz="1350" dirty="0">
                  <a:solidFill>
                    <a:schemeClr val="accent2"/>
                  </a:solidFill>
                  <a:latin typeface="+mn-lt"/>
                  <a:ea typeface="+mn-ea"/>
                  <a:cs typeface="+mn-cs"/>
                </a:rPr>
                <a:t>NON-DOH</a:t>
              </a:r>
            </a:p>
          </p:txBody>
        </p:sp>
        <p:sp>
          <p:nvSpPr>
            <p:cNvPr id="24" name="TextBox 24"/>
            <p:cNvSpPr txBox="1"/>
            <p:nvPr/>
          </p:nvSpPr>
          <p:spPr>
            <a:xfrm>
              <a:off x="4964430" y="3679825"/>
              <a:ext cx="465773"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Stop</a:t>
              </a:r>
            </a:p>
          </p:txBody>
        </p:sp>
        <p:sp>
          <p:nvSpPr>
            <p:cNvPr id="25" name="Line 25"/>
            <p:cNvSpPr/>
            <p:nvPr/>
          </p:nvSpPr>
          <p:spPr>
            <a:xfrm>
              <a:off x="2724150" y="4000500"/>
              <a:ext cx="1" cy="419100"/>
            </a:xfrm>
            <a:prstGeom prst="line">
              <a:avLst/>
            </a:prstGeom>
            <a:noFill/>
            <a:ln w="28575">
              <a:solidFill>
                <a:schemeClr val="accent2"/>
              </a:solidFill>
              <a:tailEnd type="triangle" w="lg" len="lg"/>
            </a:ln>
          </p:spPr>
        </p:sp>
        <p:sp>
          <p:nvSpPr>
            <p:cNvPr id="26" name="Rectangle 26"/>
            <p:cNvSpPr/>
            <p:nvPr/>
          </p:nvSpPr>
          <p:spPr>
            <a:xfrm>
              <a:off x="1352550" y="4533900"/>
              <a:ext cx="2743200" cy="723900"/>
            </a:xfrm>
            <a:prstGeom prst="roundRect">
              <a:avLst>
                <a:gd name="adj" fmla="val 10526"/>
              </a:avLst>
            </a:prstGeom>
            <a:solidFill>
              <a:schemeClr val="accent1"/>
            </a:solidFill>
            <a:ln>
              <a:noFill/>
            </a:ln>
          </p:spPr>
        </p:sp>
        <p:sp>
          <p:nvSpPr>
            <p:cNvPr id="27" name="TextBox 27"/>
            <p:cNvSpPr txBox="1"/>
            <p:nvPr/>
          </p:nvSpPr>
          <p:spPr>
            <a:xfrm>
              <a:off x="1574292" y="4676775"/>
              <a:ext cx="705002" cy="264033"/>
            </a:xfrm>
            <a:prstGeom prst="rect">
              <a:avLst/>
            </a:prstGeom>
            <a:noFill/>
            <a:ln>
              <a:noFill/>
            </a:ln>
          </p:spPr>
          <p:txBody>
            <a:bodyPr wrap="none" lIns="0" tIns="0" rIns="0" bIns="0" anchor="t" anchorCtr="0">
              <a:spAutoFit/>
            </a:bodyPr>
            <a:lstStyle/>
            <a:p>
              <a:pPr algn="l"/>
              <a:r>
                <a:rPr lang="en-US" sz="1350" dirty="0">
                  <a:solidFill>
                    <a:srgbClr val="C9EAF0"/>
                  </a:solidFill>
                  <a:latin typeface="+mn-lt"/>
                  <a:ea typeface="+mn-ea"/>
                  <a:cs typeface="+mn-cs"/>
                </a:rPr>
                <a:t>LAYER 2</a:t>
              </a:r>
            </a:p>
          </p:txBody>
        </p:sp>
        <p:sp>
          <p:nvSpPr>
            <p:cNvPr id="28" name="TextBox 28"/>
            <p:cNvSpPr txBox="1"/>
            <p:nvPr/>
          </p:nvSpPr>
          <p:spPr>
            <a:xfrm>
              <a:off x="1572006" y="4899025"/>
              <a:ext cx="2354091" cy="352044"/>
            </a:xfrm>
            <a:prstGeom prst="rect">
              <a:avLst/>
            </a:prstGeom>
            <a:noFill/>
            <a:ln>
              <a:noFill/>
            </a:ln>
          </p:spPr>
          <p:txBody>
            <a:bodyPr wrap="none" lIns="0" tIns="0" rIns="0" bIns="0" anchor="t" anchorCtr="0">
              <a:spAutoFit/>
            </a:bodyPr>
            <a:lstStyle/>
            <a:p>
              <a:pPr algn="l"/>
              <a:r>
                <a:rPr lang="en-US" sz="1800" b="1" dirty="0">
                  <a:solidFill>
                    <a:srgbClr val="FFFFFF"/>
                  </a:solidFill>
                  <a:latin typeface="+mn-lt"/>
                  <a:ea typeface="+mn-ea"/>
                  <a:cs typeface="+mn-cs"/>
                </a:rPr>
                <a:t>Benign vs malicious</a:t>
              </a:r>
            </a:p>
          </p:txBody>
        </p:sp>
      </p:grpSp>
      <p:grpSp>
        <p:nvGrpSpPr>
          <p:cNvPr id="34" name="paper-figure"/>
          <p:cNvGrpSpPr/>
          <p:nvPr/>
        </p:nvGrpSpPr>
        <p:grpSpPr>
          <a:xfrm>
            <a:off x="7524750" y="1790700"/>
            <a:ext cx="3714750" cy="3638550"/>
            <a:chOff x="7524750" y="1790700"/>
            <a:chExt cx="3714750" cy="3638550"/>
          </a:xfrm>
        </p:grpSpPr>
        <p:sp>
          <p:nvSpPr>
            <p:cNvPr id="30" name="Rectangle 30"/>
            <p:cNvSpPr/>
            <p:nvPr/>
          </p:nvSpPr>
          <p:spPr>
            <a:xfrm>
              <a:off x="7524750" y="1790700"/>
              <a:ext cx="3714750" cy="3638550"/>
            </a:xfrm>
            <a:prstGeom prst="roundRect">
              <a:avLst>
                <a:gd name="adj" fmla="val 3141"/>
              </a:avLst>
            </a:prstGeom>
            <a:solidFill>
              <a:srgbClr val="FFFFFF"/>
            </a:solidFill>
            <a:ln w="19050">
              <a:solidFill>
                <a:schemeClr val="accent6"/>
              </a:solidFill>
            </a:ln>
          </p:spPr>
        </p:sp>
        <p:pic>
          <p:nvPicPr>
            <p:cNvPr id="31" name="Image 31"/>
            <p:cNvPicPr>
              <a:picLocks noChangeAspect="1"/>
            </p:cNvPicPr>
            <p:nvPr/>
          </p:nvPicPr>
          <p:blipFill>
            <a:blip r:embed="rId2"/>
            <a:stretch>
              <a:fillRect/>
            </a:stretch>
          </p:blipFill>
          <p:spPr>
            <a:xfrm>
              <a:off x="7837053" y="2038350"/>
              <a:ext cx="3090144" cy="2705100"/>
            </a:xfrm>
            <a:prstGeom prst="rect">
              <a:avLst/>
            </a:prstGeom>
          </p:spPr>
        </p:pic>
        <p:sp>
          <p:nvSpPr>
            <p:cNvPr id="32" name="TextBox 32"/>
            <p:cNvSpPr txBox="1"/>
            <p:nvPr/>
          </p:nvSpPr>
          <p:spPr>
            <a:xfrm>
              <a:off x="7746492" y="4905375"/>
              <a:ext cx="2605233"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Original paper architecture</a:t>
              </a:r>
            </a:p>
          </p:txBody>
        </p:sp>
        <p:sp>
          <p:nvSpPr>
            <p:cNvPr id="33" name="TextBox 33"/>
            <p:cNvSpPr txBox="1"/>
            <p:nvPr/>
          </p:nvSpPr>
          <p:spPr>
            <a:xfrm>
              <a:off x="7748016" y="5178425"/>
              <a:ext cx="2199119" cy="205359"/>
            </a:xfrm>
            <a:prstGeom prst="rect">
              <a:avLst/>
            </a:prstGeom>
            <a:noFill/>
            <a:ln>
              <a:noFill/>
            </a:ln>
          </p:spPr>
          <p:txBody>
            <a:bodyPr wrap="none" lIns="0" tIns="0" rIns="0" bIns="0" anchor="t" anchorCtr="0">
              <a:spAutoFit/>
            </a:bodyPr>
            <a:lstStyle/>
            <a:p>
              <a:pPr algn="l"/>
              <a:r>
                <a:rPr lang="en-US" sz="1050" dirty="0">
                  <a:solidFill>
                    <a:schemeClr val="accent5"/>
                  </a:solidFill>
                  <a:latin typeface="+mn-lt"/>
                  <a:ea typeface="+mn-ea"/>
                  <a:cs typeface="+mn-cs"/>
                </a:rPr>
                <a:t>Figure reproduced without crop</a:t>
              </a:r>
            </a:p>
          </p:txBody>
        </p:sp>
      </p:grpSp>
      <p:grpSp>
        <p:nvGrpSpPr>
          <p:cNvPr id="36" name="takeaway"/>
          <p:cNvGrpSpPr/>
          <p:nvPr/>
        </p:nvGrpSpPr>
        <p:grpSpPr>
          <a:xfrm>
            <a:off x="943356" y="5803900"/>
            <a:ext cx="9246201" cy="352044"/>
            <a:chOff x="943356" y="5803900"/>
            <a:chExt cx="9246201" cy="352044"/>
          </a:xfrm>
        </p:grpSpPr>
        <p:sp>
          <p:nvSpPr>
            <p:cNvPr id="35" name="TextBox 35"/>
            <p:cNvSpPr txBox="1"/>
            <p:nvPr/>
          </p:nvSpPr>
          <p:spPr>
            <a:xfrm>
              <a:off x="943356" y="5803900"/>
              <a:ext cx="9246201"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n-lt"/>
                  <a:ea typeface="+mn-ea"/>
                  <a:cs typeface="+mn-cs"/>
                </a:rPr>
                <a:t>Each layer is evaluated independently across statistical and sequence models.</a:t>
              </a:r>
            </a:p>
          </p:txBody>
        </p:sp>
      </p:grpSp>
      <p:grpSp>
        <p:nvGrpSpPr>
          <p:cNvPr id="39" name="footer"/>
          <p:cNvGrpSpPr/>
          <p:nvPr/>
        </p:nvGrpSpPr>
        <p:grpSpPr>
          <a:xfrm>
            <a:off x="947166" y="6369050"/>
            <a:ext cx="10297668" cy="205359"/>
            <a:chOff x="947166" y="6369050"/>
            <a:chExt cx="10297668" cy="205359"/>
          </a:xfrm>
        </p:grpSpPr>
        <p:sp>
          <p:nvSpPr>
            <p:cNvPr id="37" name="TextBox 37"/>
            <p:cNvSpPr txBox="1"/>
            <p:nvPr/>
          </p:nvSpPr>
          <p:spPr>
            <a:xfrm>
              <a:off x="947166" y="6369050"/>
              <a:ext cx="3040207" cy="205359"/>
            </a:xfrm>
            <a:prstGeom prst="rect">
              <a:avLst/>
            </a:prstGeom>
            <a:noFill/>
            <a:ln>
              <a:noFill/>
            </a:ln>
          </p:spPr>
          <p:txBody>
            <a:bodyPr wrap="none" lIns="0" tIns="0" rIns="0" bIns="0" anchor="t" anchorCtr="0">
              <a:spAutoFit/>
            </a:bodyPr>
            <a:lstStyle/>
            <a:p>
              <a:pPr algn="l"/>
              <a:r>
                <a:rPr lang="en-US" sz="1050" dirty="0">
                  <a:solidFill>
                    <a:schemeClr val="accent5"/>
                  </a:solidFill>
                  <a:latin typeface="+mn-lt"/>
                  <a:ea typeface="+mn-ea"/>
                  <a:cs typeface="+mn-cs"/>
                </a:rPr>
                <a:t>Source: original paper, architecture figure</a:t>
              </a:r>
            </a:p>
          </p:txBody>
        </p:sp>
        <p:sp>
          <p:nvSpPr>
            <p:cNvPr id="38" name="TextBox 38"/>
            <p:cNvSpPr txBox="1"/>
            <p:nvPr/>
          </p:nvSpPr>
          <p:spPr>
            <a:xfrm>
              <a:off x="11078680" y="6369050"/>
              <a:ext cx="166154"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Consolas"/>
                  <a:ea typeface="Consolas"/>
                  <a:cs typeface="Consolas"/>
                </a:rPr>
                <a:t>03</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ledger-rule"/>
          <p:cNvSpPr/>
          <p:nvPr/>
        </p:nvSpPr>
        <p:spPr>
          <a:xfrm>
            <a:off x="609600" y="400050"/>
            <a:ext cx="57150" cy="6000750"/>
          </a:xfrm>
          <a:prstGeom prst="rect">
            <a:avLst/>
          </a:prstGeom>
          <a:solidFill>
            <a:schemeClr val="accent2"/>
          </a:solidFill>
          <a:ln>
            <a:noFill/>
          </a:ln>
        </p:spPr>
      </p:sp>
      <p:grpSp>
        <p:nvGrpSpPr>
          <p:cNvPr id="5" name="heading"/>
          <p:cNvGrpSpPr/>
          <p:nvPr/>
        </p:nvGrpSpPr>
        <p:grpSpPr>
          <a:xfrm>
            <a:off x="936498" y="546100"/>
            <a:ext cx="10153977" cy="946277"/>
            <a:chOff x="936498" y="546100"/>
            <a:chExt cx="10153977" cy="946277"/>
          </a:xfrm>
        </p:grpSpPr>
        <p:sp>
          <p:nvSpPr>
            <p:cNvPr id="3" name="TextBox 3"/>
            <p:cNvSpPr txBox="1"/>
            <p:nvPr/>
          </p:nvSpPr>
          <p:spPr>
            <a:xfrm>
              <a:off x="946404" y="546100"/>
              <a:ext cx="1949501" cy="234696"/>
            </a:xfrm>
            <a:prstGeom prst="rect">
              <a:avLst/>
            </a:prstGeom>
            <a:noFill/>
            <a:ln>
              <a:noFill/>
            </a:ln>
          </p:spPr>
          <p:txBody>
            <a:bodyPr wrap="none" lIns="0" tIns="0" rIns="0" bIns="0" anchor="t" anchorCtr="0">
              <a:spAutoFit/>
            </a:bodyPr>
            <a:lstStyle/>
            <a:p>
              <a:pPr algn="l"/>
              <a:r>
                <a:rPr lang="en-US" sz="1200" spc="150" dirty="0">
                  <a:solidFill>
                    <a:schemeClr val="accent2"/>
                  </a:solidFill>
                  <a:latin typeface="Consolas"/>
                  <a:ea typeface="Consolas"/>
                  <a:cs typeface="Consolas"/>
                </a:rPr>
                <a:t>03 · CORE CONCEPT</a:t>
              </a:r>
            </a:p>
          </p:txBody>
        </p:sp>
        <p:sp>
          <p:nvSpPr>
            <p:cNvPr id="4" name="TextBox 4"/>
            <p:cNvSpPr txBox="1"/>
            <p:nvPr/>
          </p:nvSpPr>
          <p:spPr>
            <a:xfrm>
              <a:off x="936498" y="876300"/>
              <a:ext cx="10153977" cy="616077"/>
            </a:xfrm>
            <a:prstGeom prst="rect">
              <a:avLst/>
            </a:prstGeom>
            <a:noFill/>
            <a:ln>
              <a:noFill/>
            </a:ln>
          </p:spPr>
          <p:txBody>
            <a:bodyPr wrap="none" lIns="0" tIns="0" rIns="0" bIns="0" anchor="t" anchorCtr="0">
              <a:spAutoFit/>
            </a:bodyPr>
            <a:lstStyle/>
            <a:p>
              <a:pPr algn="l"/>
              <a:r>
                <a:rPr lang="en-US" sz="3150" b="1" dirty="0">
                  <a:solidFill>
                    <a:schemeClr val="accent1"/>
                  </a:solidFill>
                  <a:latin typeface="+mj-lt"/>
                  <a:ea typeface="+mj-ea"/>
                  <a:cs typeface="+mj-cs"/>
                </a:rPr>
                <a:t>Packet clumps convert traffic into a sequence</a:t>
              </a:r>
            </a:p>
          </p:txBody>
        </p:sp>
      </p:grpSp>
      <p:grpSp>
        <p:nvGrpSpPr>
          <p:cNvPr id="24" name="packet-stream"/>
          <p:cNvGrpSpPr/>
          <p:nvPr/>
        </p:nvGrpSpPr>
        <p:grpSpPr>
          <a:xfrm>
            <a:off x="945642" y="1885950"/>
            <a:ext cx="9836658" cy="1288034"/>
            <a:chOff x="945642" y="1885950"/>
            <a:chExt cx="9836658" cy="1288034"/>
          </a:xfrm>
        </p:grpSpPr>
        <p:sp>
          <p:nvSpPr>
            <p:cNvPr id="6" name="TextBox 6"/>
            <p:cNvSpPr txBox="1"/>
            <p:nvPr/>
          </p:nvSpPr>
          <p:spPr>
            <a:xfrm>
              <a:off x="945642" y="1885950"/>
              <a:ext cx="1667043" cy="264033"/>
            </a:xfrm>
            <a:prstGeom prst="rect">
              <a:avLst/>
            </a:prstGeom>
            <a:noFill/>
            <a:ln>
              <a:noFill/>
            </a:ln>
          </p:spPr>
          <p:txBody>
            <a:bodyPr wrap="none" lIns="0" tIns="0" rIns="0" bIns="0" anchor="t" anchorCtr="0">
              <a:spAutoFit/>
            </a:bodyPr>
            <a:lstStyle/>
            <a:p>
              <a:pPr algn="l"/>
              <a:r>
                <a:rPr lang="en-US" sz="1350" b="1" dirty="0">
                  <a:solidFill>
                    <a:schemeClr val="accent5"/>
                  </a:solidFill>
                  <a:latin typeface="+mn-lt"/>
                  <a:ea typeface="+mn-ea"/>
                  <a:cs typeface="+mn-cs"/>
                </a:rPr>
                <a:t>ORDERED PACKETS</a:t>
              </a:r>
            </a:p>
          </p:txBody>
        </p:sp>
        <p:sp>
          <p:nvSpPr>
            <p:cNvPr id="7" name="Line 7"/>
            <p:cNvSpPr/>
            <p:nvPr/>
          </p:nvSpPr>
          <p:spPr>
            <a:xfrm>
              <a:off x="1200150" y="2628900"/>
              <a:ext cx="9582150" cy="1"/>
            </a:xfrm>
            <a:prstGeom prst="line">
              <a:avLst/>
            </a:prstGeom>
            <a:noFill/>
            <a:ln w="28575">
              <a:solidFill>
                <a:schemeClr val="accent2"/>
              </a:solidFill>
              <a:tailEnd type="triangle" w="lg" len="lg"/>
            </a:ln>
          </p:spPr>
        </p:sp>
        <p:grpSp>
          <p:nvGrpSpPr>
            <p:cNvPr id="15" name="Group 15"/>
            <p:cNvGrpSpPr/>
            <p:nvPr/>
          </p:nvGrpSpPr>
          <p:grpSpPr>
            <a:xfrm>
              <a:off x="1447800" y="2333625"/>
              <a:ext cx="7086600" cy="590550"/>
              <a:chOff x="1447800" y="2333625"/>
              <a:chExt cx="7086600" cy="590550"/>
            </a:xfrm>
          </p:grpSpPr>
          <p:sp>
            <p:nvSpPr>
              <p:cNvPr id="8" name="Ellipse 8"/>
              <p:cNvSpPr/>
              <p:nvPr/>
            </p:nvSpPr>
            <p:spPr>
              <a:xfrm>
                <a:off x="1447800" y="2457450"/>
                <a:ext cx="342900" cy="342900"/>
              </a:xfrm>
              <a:prstGeom prst="ellipse">
                <a:avLst/>
              </a:prstGeom>
              <a:solidFill>
                <a:schemeClr val="accent2"/>
              </a:solidFill>
              <a:ln>
                <a:noFill/>
              </a:ln>
            </p:spPr>
          </p:sp>
          <p:sp>
            <p:nvSpPr>
              <p:cNvPr id="9" name="Ellipse 9"/>
              <p:cNvSpPr/>
              <p:nvPr/>
            </p:nvSpPr>
            <p:spPr>
              <a:xfrm>
                <a:off x="1943100" y="2381250"/>
                <a:ext cx="495300" cy="495300"/>
              </a:xfrm>
              <a:prstGeom prst="ellipse">
                <a:avLst/>
              </a:prstGeom>
              <a:solidFill>
                <a:schemeClr val="accent2"/>
              </a:solidFill>
              <a:ln>
                <a:noFill/>
              </a:ln>
            </p:spPr>
          </p:sp>
          <p:sp>
            <p:nvSpPr>
              <p:cNvPr id="10" name="Ellipse 10"/>
              <p:cNvSpPr/>
              <p:nvPr/>
            </p:nvSpPr>
            <p:spPr>
              <a:xfrm>
                <a:off x="2771775" y="2495550"/>
                <a:ext cx="266700" cy="266700"/>
              </a:xfrm>
              <a:prstGeom prst="ellipse">
                <a:avLst/>
              </a:prstGeom>
              <a:solidFill>
                <a:schemeClr val="accent2"/>
              </a:solidFill>
              <a:ln>
                <a:noFill/>
              </a:ln>
            </p:spPr>
          </p:sp>
          <p:sp>
            <p:nvSpPr>
              <p:cNvPr id="11" name="Ellipse 11"/>
              <p:cNvSpPr/>
              <p:nvPr/>
            </p:nvSpPr>
            <p:spPr>
              <a:xfrm>
                <a:off x="4038600" y="2333625"/>
                <a:ext cx="590550" cy="590550"/>
              </a:xfrm>
              <a:prstGeom prst="ellipse">
                <a:avLst/>
              </a:prstGeom>
              <a:solidFill>
                <a:schemeClr val="accent2"/>
              </a:solidFill>
              <a:ln>
                <a:noFill/>
              </a:ln>
            </p:spPr>
          </p:sp>
          <p:sp>
            <p:nvSpPr>
              <p:cNvPr id="12" name="Ellipse 12"/>
              <p:cNvSpPr/>
              <p:nvPr/>
            </p:nvSpPr>
            <p:spPr>
              <a:xfrm>
                <a:off x="4867275" y="2447925"/>
                <a:ext cx="361950" cy="361950"/>
              </a:xfrm>
              <a:prstGeom prst="ellipse">
                <a:avLst/>
              </a:prstGeom>
              <a:solidFill>
                <a:schemeClr val="accent2"/>
              </a:solidFill>
              <a:ln>
                <a:noFill/>
              </a:ln>
            </p:spPr>
          </p:sp>
          <p:sp>
            <p:nvSpPr>
              <p:cNvPr id="13" name="Ellipse 13"/>
              <p:cNvSpPr/>
              <p:nvPr/>
            </p:nvSpPr>
            <p:spPr>
              <a:xfrm>
                <a:off x="7448550" y="2362200"/>
                <a:ext cx="533400" cy="533400"/>
              </a:xfrm>
              <a:prstGeom prst="ellipse">
                <a:avLst/>
              </a:prstGeom>
              <a:solidFill>
                <a:schemeClr val="accent2"/>
              </a:solidFill>
              <a:ln>
                <a:noFill/>
              </a:ln>
            </p:spPr>
          </p:sp>
          <p:sp>
            <p:nvSpPr>
              <p:cNvPr id="14" name="Ellipse 14"/>
              <p:cNvSpPr/>
              <p:nvPr/>
            </p:nvSpPr>
            <p:spPr>
              <a:xfrm>
                <a:off x="8229600" y="2476500"/>
                <a:ext cx="304800" cy="304800"/>
              </a:xfrm>
              <a:prstGeom prst="ellipse">
                <a:avLst/>
              </a:prstGeom>
              <a:solidFill>
                <a:schemeClr val="accent2"/>
              </a:solidFill>
              <a:ln>
                <a:noFill/>
              </a:ln>
            </p:spPr>
          </p:sp>
        </p:grpSp>
        <p:grpSp>
          <p:nvGrpSpPr>
            <p:cNvPr id="21" name="Group 21"/>
            <p:cNvGrpSpPr/>
            <p:nvPr/>
          </p:nvGrpSpPr>
          <p:grpSpPr>
            <a:xfrm>
              <a:off x="3390900" y="2333625"/>
              <a:ext cx="6905625" cy="590550"/>
              <a:chOff x="3390900" y="2333625"/>
              <a:chExt cx="6905625" cy="590550"/>
            </a:xfrm>
          </p:grpSpPr>
          <p:sp>
            <p:nvSpPr>
              <p:cNvPr id="16" name="Ellipse 16"/>
              <p:cNvSpPr/>
              <p:nvPr/>
            </p:nvSpPr>
            <p:spPr>
              <a:xfrm>
                <a:off x="3390900" y="2419350"/>
                <a:ext cx="419100" cy="419100"/>
              </a:xfrm>
              <a:prstGeom prst="ellipse">
                <a:avLst/>
              </a:prstGeom>
              <a:solidFill>
                <a:schemeClr val="accent3"/>
              </a:solidFill>
              <a:ln>
                <a:noFill/>
              </a:ln>
            </p:spPr>
          </p:sp>
          <p:sp>
            <p:nvSpPr>
              <p:cNvPr id="17" name="Ellipse 17"/>
              <p:cNvSpPr/>
              <p:nvPr/>
            </p:nvSpPr>
            <p:spPr>
              <a:xfrm>
                <a:off x="5619750" y="2343150"/>
                <a:ext cx="571500" cy="571500"/>
              </a:xfrm>
              <a:prstGeom prst="ellipse">
                <a:avLst/>
              </a:prstGeom>
              <a:solidFill>
                <a:schemeClr val="accent3"/>
              </a:solidFill>
              <a:ln>
                <a:noFill/>
              </a:ln>
            </p:spPr>
          </p:sp>
          <p:sp>
            <p:nvSpPr>
              <p:cNvPr id="18" name="Ellipse 18"/>
              <p:cNvSpPr/>
              <p:nvPr/>
            </p:nvSpPr>
            <p:spPr>
              <a:xfrm>
                <a:off x="6505575" y="2466975"/>
                <a:ext cx="323850" cy="323850"/>
              </a:xfrm>
              <a:prstGeom prst="ellipse">
                <a:avLst/>
              </a:prstGeom>
              <a:solidFill>
                <a:schemeClr val="accent3"/>
              </a:solidFill>
              <a:ln>
                <a:noFill/>
              </a:ln>
            </p:spPr>
          </p:sp>
          <p:sp>
            <p:nvSpPr>
              <p:cNvPr id="19" name="Ellipse 19"/>
              <p:cNvSpPr/>
              <p:nvPr/>
            </p:nvSpPr>
            <p:spPr>
              <a:xfrm>
                <a:off x="9048750" y="2400300"/>
                <a:ext cx="457200" cy="457200"/>
              </a:xfrm>
              <a:prstGeom prst="ellipse">
                <a:avLst/>
              </a:prstGeom>
              <a:solidFill>
                <a:schemeClr val="accent3"/>
              </a:solidFill>
              <a:ln>
                <a:noFill/>
              </a:ln>
            </p:spPr>
          </p:sp>
          <p:sp>
            <p:nvSpPr>
              <p:cNvPr id="20" name="Ellipse 20"/>
              <p:cNvSpPr/>
              <p:nvPr/>
            </p:nvSpPr>
            <p:spPr>
              <a:xfrm>
                <a:off x="9705975" y="2333625"/>
                <a:ext cx="590550" cy="590550"/>
              </a:xfrm>
              <a:prstGeom prst="ellipse">
                <a:avLst/>
              </a:prstGeom>
              <a:solidFill>
                <a:schemeClr val="accent3"/>
              </a:solidFill>
              <a:ln>
                <a:noFill/>
              </a:ln>
            </p:spPr>
          </p:sp>
        </p:grpSp>
        <p:sp>
          <p:nvSpPr>
            <p:cNvPr id="22" name="TextBox 22"/>
            <p:cNvSpPr txBox="1"/>
            <p:nvPr/>
          </p:nvSpPr>
          <p:spPr>
            <a:xfrm>
              <a:off x="1480566" y="2968625"/>
              <a:ext cx="1155611" cy="205359"/>
            </a:xfrm>
            <a:prstGeom prst="rect">
              <a:avLst/>
            </a:prstGeom>
            <a:noFill/>
            <a:ln>
              <a:noFill/>
            </a:ln>
          </p:spPr>
          <p:txBody>
            <a:bodyPr wrap="none" lIns="0" tIns="0" rIns="0" bIns="0" anchor="t" anchorCtr="0">
              <a:spAutoFit/>
            </a:bodyPr>
            <a:lstStyle/>
            <a:p>
              <a:pPr algn="l"/>
              <a:r>
                <a:rPr lang="en-US" sz="1050" dirty="0">
                  <a:solidFill>
                    <a:schemeClr val="accent2"/>
                  </a:solidFill>
                  <a:latin typeface="+mn-lt"/>
                  <a:ea typeface="+mn-ea"/>
                  <a:cs typeface="+mn-cs"/>
                </a:rPr>
                <a:t>client → resolver</a:t>
              </a:r>
            </a:p>
          </p:txBody>
        </p:sp>
        <p:sp>
          <p:nvSpPr>
            <p:cNvPr id="23" name="TextBox 23"/>
            <p:cNvSpPr txBox="1"/>
            <p:nvPr/>
          </p:nvSpPr>
          <p:spPr>
            <a:xfrm>
              <a:off x="8852916" y="2968625"/>
              <a:ext cx="1155611" cy="205359"/>
            </a:xfrm>
            <a:prstGeom prst="rect">
              <a:avLst/>
            </a:prstGeom>
            <a:noFill/>
            <a:ln>
              <a:noFill/>
            </a:ln>
          </p:spPr>
          <p:txBody>
            <a:bodyPr wrap="none" lIns="0" tIns="0" rIns="0" bIns="0" anchor="t" anchorCtr="0">
              <a:spAutoFit/>
            </a:bodyPr>
            <a:lstStyle/>
            <a:p>
              <a:pPr algn="l"/>
              <a:r>
                <a:rPr lang="en-US" sz="1050" dirty="0">
                  <a:solidFill>
                    <a:schemeClr val="accent3"/>
                  </a:solidFill>
                  <a:latin typeface="+mn-lt"/>
                  <a:ea typeface="+mn-ea"/>
                  <a:cs typeface="+mn-cs"/>
                </a:rPr>
                <a:t>resolver → client</a:t>
              </a:r>
            </a:p>
          </p:txBody>
        </p:sp>
      </p:grpSp>
      <p:grpSp>
        <p:nvGrpSpPr>
          <p:cNvPr id="30" name="clump-rule"/>
          <p:cNvGrpSpPr/>
          <p:nvPr/>
        </p:nvGrpSpPr>
        <p:grpSpPr>
          <a:xfrm>
            <a:off x="952500" y="3429000"/>
            <a:ext cx="4857750" cy="2114550"/>
            <a:chOff x="952500" y="3429000"/>
            <a:chExt cx="4857750" cy="2114550"/>
          </a:xfrm>
        </p:grpSpPr>
        <p:sp>
          <p:nvSpPr>
            <p:cNvPr id="25" name="Rectangle 25"/>
            <p:cNvSpPr/>
            <p:nvPr/>
          </p:nvSpPr>
          <p:spPr>
            <a:xfrm>
              <a:off x="952500" y="3429000"/>
              <a:ext cx="4857750" cy="2114550"/>
            </a:xfrm>
            <a:prstGeom prst="roundRect">
              <a:avLst>
                <a:gd name="adj" fmla="val 4505"/>
              </a:avLst>
            </a:prstGeom>
            <a:solidFill>
              <a:srgbClr val="FFFFFF"/>
            </a:solidFill>
            <a:ln w="19050">
              <a:solidFill>
                <a:schemeClr val="accent6"/>
              </a:solidFill>
            </a:ln>
          </p:spPr>
        </p:sp>
        <p:sp>
          <p:nvSpPr>
            <p:cNvPr id="26" name="TextBox 26"/>
            <p:cNvSpPr txBox="1"/>
            <p:nvPr/>
          </p:nvSpPr>
          <p:spPr>
            <a:xfrm>
              <a:off x="1248156" y="3651250"/>
              <a:ext cx="4453754"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n-lt"/>
                  <a:ea typeface="+mn-ea"/>
                  <a:cs typeface="+mn-cs"/>
                </a:rPr>
                <a:t>A clump groups consecutive packets</a:t>
              </a:r>
            </a:p>
          </p:txBody>
        </p:sp>
        <p:sp>
          <p:nvSpPr>
            <p:cNvPr id="27" name="TextBox 27"/>
            <p:cNvSpPr txBox="1"/>
            <p:nvPr/>
          </p:nvSpPr>
          <p:spPr>
            <a:xfrm>
              <a:off x="1249680" y="4117975"/>
              <a:ext cx="4437507"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same direction · bounded by direction change</a:t>
              </a:r>
            </a:p>
          </p:txBody>
        </p:sp>
        <p:sp>
          <p:nvSpPr>
            <p:cNvPr id="28" name="TextBox 28"/>
            <p:cNvSpPr txBox="1"/>
            <p:nvPr/>
          </p:nvSpPr>
          <p:spPr>
            <a:xfrm>
              <a:off x="1248918" y="4597400"/>
              <a:ext cx="4048296" cy="322707"/>
            </a:xfrm>
            <a:prstGeom prst="rect">
              <a:avLst/>
            </a:prstGeom>
            <a:noFill/>
            <a:ln>
              <a:noFill/>
            </a:ln>
          </p:spPr>
          <p:txBody>
            <a:bodyPr wrap="none" lIns="0" tIns="0" rIns="0" bIns="0" anchor="t" anchorCtr="0">
              <a:spAutoFit/>
            </a:bodyPr>
            <a:lstStyle/>
            <a:p>
              <a:pPr algn="l"/>
              <a:r>
                <a:rPr lang="en-US" sz="1650" dirty="0">
                  <a:solidFill>
                    <a:schemeClr val="accent2"/>
                  </a:solidFill>
                  <a:latin typeface="Consolas"/>
                  <a:ea typeface="Consolas"/>
                  <a:cs typeface="Consolas"/>
                </a:rPr>
                <a:t>cᵢ = (direction, lengths, timing)</a:t>
              </a:r>
            </a:p>
          </p:txBody>
        </p:sp>
        <p:sp>
          <p:nvSpPr>
            <p:cNvPr id="29" name="TextBox 29"/>
            <p:cNvSpPr txBox="1"/>
            <p:nvPr/>
          </p:nvSpPr>
          <p:spPr>
            <a:xfrm>
              <a:off x="1250442" y="5067300"/>
              <a:ext cx="3924584"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The first N clumps define the model window.</a:t>
              </a:r>
            </a:p>
          </p:txBody>
        </p:sp>
      </p:grpSp>
      <p:grpSp>
        <p:nvGrpSpPr>
          <p:cNvPr id="42" name="sequence-model"/>
          <p:cNvGrpSpPr/>
          <p:nvPr/>
        </p:nvGrpSpPr>
        <p:grpSpPr>
          <a:xfrm>
            <a:off x="6191250" y="3429000"/>
            <a:ext cx="5048250" cy="2114550"/>
            <a:chOff x="6191250" y="3429000"/>
            <a:chExt cx="5048250" cy="2114550"/>
          </a:xfrm>
        </p:grpSpPr>
        <p:sp>
          <p:nvSpPr>
            <p:cNvPr id="31" name="Rectangle 31"/>
            <p:cNvSpPr/>
            <p:nvPr/>
          </p:nvSpPr>
          <p:spPr>
            <a:xfrm>
              <a:off x="6191250" y="3429000"/>
              <a:ext cx="5048250" cy="2114550"/>
            </a:xfrm>
            <a:prstGeom prst="roundRect">
              <a:avLst>
                <a:gd name="adj" fmla="val 4505"/>
              </a:avLst>
            </a:prstGeom>
            <a:solidFill>
              <a:schemeClr val="accent1"/>
            </a:solidFill>
            <a:ln>
              <a:noFill/>
            </a:ln>
          </p:spPr>
        </p:sp>
        <p:grpSp>
          <p:nvGrpSpPr>
            <p:cNvPr id="38" name="Group 38"/>
            <p:cNvGrpSpPr/>
            <p:nvPr/>
          </p:nvGrpSpPr>
          <p:grpSpPr>
            <a:xfrm>
              <a:off x="6596063" y="3871913"/>
              <a:ext cx="371475" cy="371475"/>
              <a:chOff x="6596063" y="3871913"/>
              <a:chExt cx="371475" cy="371475"/>
            </a:xfrm>
          </p:grpSpPr>
          <p:sp>
            <p:nvSpPr>
              <p:cNvPr id="32" name="Freeform 32"/>
              <p:cNvSpPr/>
              <p:nvPr/>
            </p:nvSpPr>
            <p:spPr>
              <a:xfrm>
                <a:off x="6781800" y="4078288"/>
                <a:ext cx="144463" cy="165100"/>
              </a:xfrm>
              <a:custGeom>
                <a:avLst/>
                <a:gdLst/>
                <a:ahLst/>
                <a:cxnLst/>
                <a:rect l="l" t="t" r="r" b="b"/>
                <a:pathLst>
                  <a:path w="144463" h="165100">
                    <a:moveTo>
                      <a:pt x="72231" y="0"/>
                    </a:moveTo>
                    <a:cubicBezTo>
                      <a:pt x="32339" y="0"/>
                      <a:pt x="0" y="32339"/>
                      <a:pt x="0" y="72231"/>
                    </a:cubicBezTo>
                    <a:lnTo>
                      <a:pt x="0" y="92869"/>
                    </a:lnTo>
                    <a:cubicBezTo>
                      <a:pt x="0" y="132761"/>
                      <a:pt x="32339" y="165100"/>
                      <a:pt x="72231" y="165100"/>
                    </a:cubicBezTo>
                    <a:cubicBezTo>
                      <a:pt x="112124" y="165100"/>
                      <a:pt x="144463" y="132761"/>
                      <a:pt x="144463" y="92869"/>
                    </a:cubicBezTo>
                    <a:lnTo>
                      <a:pt x="144463" y="55721"/>
                    </a:lnTo>
                  </a:path>
                </a:pathLst>
              </a:custGeom>
              <a:noFill/>
              <a:ln w="41275">
                <a:solidFill>
                  <a:srgbClr val="FFFFFF"/>
                </a:solidFill>
              </a:ln>
            </p:spPr>
          </p:sp>
          <p:sp>
            <p:nvSpPr>
              <p:cNvPr id="33" name="Freeform 33"/>
              <p:cNvSpPr/>
              <p:nvPr/>
            </p:nvSpPr>
            <p:spPr>
              <a:xfrm>
                <a:off x="6637338" y="4078288"/>
                <a:ext cx="144463" cy="165100"/>
              </a:xfrm>
              <a:custGeom>
                <a:avLst/>
                <a:gdLst/>
                <a:ahLst/>
                <a:cxnLst/>
                <a:rect l="l" t="t" r="r" b="b"/>
                <a:pathLst>
                  <a:path w="144463" h="165100">
                    <a:moveTo>
                      <a:pt x="72231" y="0"/>
                    </a:moveTo>
                    <a:cubicBezTo>
                      <a:pt x="112124" y="0"/>
                      <a:pt x="144463" y="32339"/>
                      <a:pt x="144463" y="72231"/>
                    </a:cubicBezTo>
                    <a:lnTo>
                      <a:pt x="144463" y="92869"/>
                    </a:lnTo>
                    <a:cubicBezTo>
                      <a:pt x="144463" y="132761"/>
                      <a:pt x="112124" y="165100"/>
                      <a:pt x="72231" y="165100"/>
                    </a:cubicBezTo>
                    <a:cubicBezTo>
                      <a:pt x="32339" y="165100"/>
                      <a:pt x="0" y="132761"/>
                      <a:pt x="0" y="92869"/>
                    </a:cubicBezTo>
                    <a:lnTo>
                      <a:pt x="0" y="55721"/>
                    </a:lnTo>
                  </a:path>
                </a:pathLst>
              </a:custGeom>
              <a:noFill/>
              <a:ln w="41275">
                <a:solidFill>
                  <a:srgbClr val="FFFFFF"/>
                </a:solidFill>
              </a:ln>
            </p:spPr>
          </p:sp>
          <p:sp>
            <p:nvSpPr>
              <p:cNvPr id="34" name="Freeform 34"/>
              <p:cNvSpPr/>
              <p:nvPr/>
            </p:nvSpPr>
            <p:spPr>
              <a:xfrm>
                <a:off x="6884988" y="3995738"/>
                <a:ext cx="82550" cy="144463"/>
              </a:xfrm>
              <a:custGeom>
                <a:avLst/>
                <a:gdLst/>
                <a:ahLst/>
                <a:cxnLst/>
                <a:rect l="l" t="t" r="r" b="b"/>
                <a:pathLst>
                  <a:path w="82550" h="144463">
                    <a:moveTo>
                      <a:pt x="10319" y="144463"/>
                    </a:moveTo>
                    <a:cubicBezTo>
                      <a:pt x="50211" y="144463"/>
                      <a:pt x="82550" y="112124"/>
                      <a:pt x="82550" y="72231"/>
                    </a:cubicBezTo>
                    <a:cubicBezTo>
                      <a:pt x="82550" y="32339"/>
                      <a:pt x="50211" y="0"/>
                      <a:pt x="10319" y="0"/>
                    </a:cubicBezTo>
                    <a:lnTo>
                      <a:pt x="0" y="0"/>
                    </a:lnTo>
                  </a:path>
                </a:pathLst>
              </a:custGeom>
              <a:noFill/>
              <a:ln w="41275">
                <a:solidFill>
                  <a:srgbClr val="FFFFFF"/>
                </a:solidFill>
              </a:ln>
            </p:spPr>
          </p:sp>
          <p:sp>
            <p:nvSpPr>
              <p:cNvPr id="35" name="Freeform 35"/>
              <p:cNvSpPr/>
              <p:nvPr/>
            </p:nvSpPr>
            <p:spPr>
              <a:xfrm>
                <a:off x="6781800" y="3871913"/>
                <a:ext cx="144463" cy="130016"/>
              </a:xfrm>
              <a:custGeom>
                <a:avLst/>
                <a:gdLst/>
                <a:ahLst/>
                <a:cxnLst/>
                <a:rect l="l" t="t" r="r" b="b"/>
                <a:pathLst>
                  <a:path w="144463" h="130016">
                    <a:moveTo>
                      <a:pt x="144463" y="130016"/>
                    </a:moveTo>
                    <a:lnTo>
                      <a:pt x="144463" y="72231"/>
                    </a:lnTo>
                    <a:cubicBezTo>
                      <a:pt x="144463" y="32339"/>
                      <a:pt x="112124" y="0"/>
                      <a:pt x="72231" y="0"/>
                    </a:cubicBezTo>
                    <a:cubicBezTo>
                      <a:pt x="32339" y="0"/>
                      <a:pt x="0" y="32339"/>
                      <a:pt x="0" y="72231"/>
                    </a:cubicBezTo>
                  </a:path>
                </a:pathLst>
              </a:custGeom>
              <a:noFill/>
              <a:ln w="41275">
                <a:solidFill>
                  <a:srgbClr val="FFFFFF"/>
                </a:solidFill>
              </a:ln>
            </p:spPr>
          </p:sp>
          <p:sp>
            <p:nvSpPr>
              <p:cNvPr id="36" name="Freeform 36"/>
              <p:cNvSpPr/>
              <p:nvPr/>
            </p:nvSpPr>
            <p:spPr>
              <a:xfrm>
                <a:off x="6596063" y="3995738"/>
                <a:ext cx="82550" cy="144463"/>
              </a:xfrm>
              <a:custGeom>
                <a:avLst/>
                <a:gdLst/>
                <a:ahLst/>
                <a:cxnLst/>
                <a:rect l="l" t="t" r="r" b="b"/>
                <a:pathLst>
                  <a:path w="82550" h="144463">
                    <a:moveTo>
                      <a:pt x="72231" y="144463"/>
                    </a:moveTo>
                    <a:cubicBezTo>
                      <a:pt x="32339" y="144463"/>
                      <a:pt x="0" y="112124"/>
                      <a:pt x="0" y="72231"/>
                    </a:cubicBezTo>
                    <a:cubicBezTo>
                      <a:pt x="0" y="32339"/>
                      <a:pt x="32339" y="0"/>
                      <a:pt x="72231" y="0"/>
                    </a:cubicBezTo>
                    <a:lnTo>
                      <a:pt x="82550" y="0"/>
                    </a:lnTo>
                  </a:path>
                </a:pathLst>
              </a:custGeom>
              <a:noFill/>
              <a:ln w="41275">
                <a:solidFill>
                  <a:srgbClr val="FFFFFF"/>
                </a:solidFill>
              </a:ln>
            </p:spPr>
          </p:sp>
          <p:sp>
            <p:nvSpPr>
              <p:cNvPr id="37" name="Freeform 37"/>
              <p:cNvSpPr/>
              <p:nvPr/>
            </p:nvSpPr>
            <p:spPr>
              <a:xfrm>
                <a:off x="6637338" y="3871913"/>
                <a:ext cx="144463" cy="278607"/>
              </a:xfrm>
              <a:custGeom>
                <a:avLst/>
                <a:gdLst/>
                <a:ahLst/>
                <a:cxnLst/>
                <a:rect l="l" t="t" r="r" b="b"/>
                <a:pathLst>
                  <a:path w="144463" h="278607">
                    <a:moveTo>
                      <a:pt x="0" y="130016"/>
                    </a:moveTo>
                    <a:lnTo>
                      <a:pt x="0" y="72231"/>
                    </a:lnTo>
                    <a:cubicBezTo>
                      <a:pt x="0" y="32339"/>
                      <a:pt x="32339" y="0"/>
                      <a:pt x="72231" y="0"/>
                    </a:cubicBezTo>
                    <a:cubicBezTo>
                      <a:pt x="112124" y="0"/>
                      <a:pt x="144463" y="32339"/>
                      <a:pt x="144463" y="72231"/>
                    </a:cubicBezTo>
                    <a:lnTo>
                      <a:pt x="144463" y="278607"/>
                    </a:lnTo>
                  </a:path>
                </a:pathLst>
              </a:custGeom>
              <a:noFill/>
              <a:ln w="41275">
                <a:solidFill>
                  <a:srgbClr val="FFFFFF"/>
                </a:solidFill>
              </a:ln>
            </p:spPr>
          </p:sp>
        </p:grpSp>
        <p:sp>
          <p:nvSpPr>
            <p:cNvPr id="39" name="TextBox 39"/>
            <p:cNvSpPr txBox="1"/>
            <p:nvPr/>
          </p:nvSpPr>
          <p:spPr>
            <a:xfrm>
              <a:off x="7247382" y="3816350"/>
              <a:ext cx="2227495" cy="410718"/>
            </a:xfrm>
            <a:prstGeom prst="rect">
              <a:avLst/>
            </a:prstGeom>
            <a:noFill/>
            <a:ln>
              <a:noFill/>
            </a:ln>
          </p:spPr>
          <p:txBody>
            <a:bodyPr wrap="none" lIns="0" tIns="0" rIns="0" bIns="0" anchor="t" anchorCtr="0">
              <a:spAutoFit/>
            </a:bodyPr>
            <a:lstStyle/>
            <a:p>
              <a:pPr algn="l"/>
              <a:r>
                <a:rPr lang="en-US" sz="2100" b="1" dirty="0">
                  <a:solidFill>
                    <a:srgbClr val="FFFFFF"/>
                  </a:solidFill>
                  <a:latin typeface="+mn-lt"/>
                  <a:ea typeface="+mn-ea"/>
                  <a:cs typeface="+mn-cs"/>
                </a:rPr>
                <a:t>Sequence model</a:t>
              </a:r>
            </a:p>
          </p:txBody>
        </p:sp>
        <p:sp>
          <p:nvSpPr>
            <p:cNvPr id="40" name="TextBox 40"/>
            <p:cNvSpPr txBox="1"/>
            <p:nvPr/>
          </p:nvSpPr>
          <p:spPr>
            <a:xfrm>
              <a:off x="6525006" y="4451350"/>
              <a:ext cx="3083585" cy="352044"/>
            </a:xfrm>
            <a:prstGeom prst="rect">
              <a:avLst/>
            </a:prstGeom>
            <a:noFill/>
            <a:ln>
              <a:noFill/>
            </a:ln>
          </p:spPr>
          <p:txBody>
            <a:bodyPr wrap="none" lIns="0" tIns="0" rIns="0" bIns="0" anchor="t" anchorCtr="0">
              <a:spAutoFit/>
            </a:bodyPr>
            <a:lstStyle/>
            <a:p>
              <a:pPr algn="l"/>
              <a:r>
                <a:rPr lang="en-US" sz="1800" dirty="0">
                  <a:solidFill>
                    <a:srgbClr val="C9EAF0"/>
                  </a:solidFill>
                  <a:latin typeface="Consolas"/>
                  <a:ea typeface="Consolas"/>
                  <a:cs typeface="Consolas"/>
                </a:rPr>
                <a:t>[c₁, c₂, …, cₙ] → label</a:t>
              </a:r>
            </a:p>
          </p:txBody>
        </p:sp>
        <p:sp>
          <p:nvSpPr>
            <p:cNvPr id="41" name="TextBox 41"/>
            <p:cNvSpPr txBox="1"/>
            <p:nvPr/>
          </p:nvSpPr>
          <p:spPr>
            <a:xfrm>
              <a:off x="6527292" y="4972050"/>
              <a:ext cx="3872771" cy="264033"/>
            </a:xfrm>
            <a:prstGeom prst="rect">
              <a:avLst/>
            </a:prstGeom>
            <a:noFill/>
            <a:ln>
              <a:noFill/>
            </a:ln>
          </p:spPr>
          <p:txBody>
            <a:bodyPr wrap="none" lIns="0" tIns="0" rIns="0" bIns="0" anchor="t" anchorCtr="0">
              <a:spAutoFit/>
            </a:bodyPr>
            <a:lstStyle/>
            <a:p>
              <a:pPr algn="l"/>
              <a:r>
                <a:rPr lang="en-US" sz="1350" dirty="0">
                  <a:solidFill>
                    <a:srgbClr val="FFFFFF"/>
                  </a:solidFill>
                  <a:latin typeface="+mn-lt"/>
                  <a:ea typeface="+mn-ea"/>
                  <a:cs typeface="+mn-cs"/>
                </a:rPr>
                <a:t>Longer windows trade latency for context.</a:t>
              </a:r>
            </a:p>
          </p:txBody>
        </p:sp>
      </p:grpSp>
      <p:grpSp>
        <p:nvGrpSpPr>
          <p:cNvPr id="44" name="takeaway"/>
          <p:cNvGrpSpPr/>
          <p:nvPr/>
        </p:nvGrpSpPr>
        <p:grpSpPr>
          <a:xfrm>
            <a:off x="944118" y="5848350"/>
            <a:ext cx="8117204" cy="322707"/>
            <a:chOff x="944118" y="5848350"/>
            <a:chExt cx="8117204" cy="322707"/>
          </a:xfrm>
        </p:grpSpPr>
        <p:sp>
          <p:nvSpPr>
            <p:cNvPr id="43" name="TextBox 43"/>
            <p:cNvSpPr txBox="1"/>
            <p:nvPr/>
          </p:nvSpPr>
          <p:spPr>
            <a:xfrm>
              <a:off x="944118" y="5848350"/>
              <a:ext cx="8117204"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This representation preserves order while avoiding payload inspection.</a:t>
              </a:r>
            </a:p>
          </p:txBody>
        </p:sp>
      </p:grpSp>
      <p:grpSp>
        <p:nvGrpSpPr>
          <p:cNvPr id="47" name="footer"/>
          <p:cNvGrpSpPr/>
          <p:nvPr/>
        </p:nvGrpSpPr>
        <p:grpSpPr>
          <a:xfrm>
            <a:off x="947166" y="6369050"/>
            <a:ext cx="10297668" cy="205359"/>
            <a:chOff x="947166" y="6369050"/>
            <a:chExt cx="10297668" cy="205359"/>
          </a:xfrm>
        </p:grpSpPr>
        <p:sp>
          <p:nvSpPr>
            <p:cNvPr id="45" name="TextBox 45"/>
            <p:cNvSpPr txBox="1"/>
            <p:nvPr/>
          </p:nvSpPr>
          <p:spPr>
            <a:xfrm>
              <a:off x="947166" y="6369050"/>
              <a:ext cx="3485626" cy="205359"/>
            </a:xfrm>
            <a:prstGeom prst="rect">
              <a:avLst/>
            </a:prstGeom>
            <a:noFill/>
            <a:ln>
              <a:noFill/>
            </a:ln>
          </p:spPr>
          <p:txBody>
            <a:bodyPr wrap="none" lIns="0" tIns="0" rIns="0" bIns="0" anchor="t" anchorCtr="0">
              <a:spAutoFit/>
            </a:bodyPr>
            <a:lstStyle/>
            <a:p>
              <a:pPr algn="l"/>
              <a:r>
                <a:rPr lang="en-US" sz="1050" dirty="0">
                  <a:solidFill>
                    <a:schemeClr val="accent5"/>
                  </a:solidFill>
                  <a:latin typeface="+mn-lt"/>
                  <a:ea typeface="+mn-ea"/>
                  <a:cs typeface="+mn-cs"/>
                </a:rPr>
                <a:t>Source: original paper, packet-clump methodology</a:t>
              </a:r>
            </a:p>
          </p:txBody>
        </p:sp>
        <p:sp>
          <p:nvSpPr>
            <p:cNvPr id="46" name="TextBox 46"/>
            <p:cNvSpPr txBox="1"/>
            <p:nvPr/>
          </p:nvSpPr>
          <p:spPr>
            <a:xfrm>
              <a:off x="11078680" y="6369050"/>
              <a:ext cx="166154"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Consolas"/>
                  <a:ea typeface="Consolas"/>
                  <a:cs typeface="Consolas"/>
                </a:rPr>
                <a:t>04</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ledger-rule"/>
          <p:cNvSpPr/>
          <p:nvPr/>
        </p:nvSpPr>
        <p:spPr>
          <a:xfrm>
            <a:off x="609600" y="400050"/>
            <a:ext cx="57150" cy="6000750"/>
          </a:xfrm>
          <a:prstGeom prst="rect">
            <a:avLst/>
          </a:prstGeom>
          <a:solidFill>
            <a:schemeClr val="accent2"/>
          </a:solidFill>
          <a:ln>
            <a:noFill/>
          </a:ln>
        </p:spPr>
      </p:sp>
      <p:grpSp>
        <p:nvGrpSpPr>
          <p:cNvPr id="5" name="heading"/>
          <p:cNvGrpSpPr/>
          <p:nvPr/>
        </p:nvGrpSpPr>
        <p:grpSpPr>
          <a:xfrm>
            <a:off x="938784" y="546100"/>
            <a:ext cx="10512873" cy="909066"/>
            <a:chOff x="938784" y="546100"/>
            <a:chExt cx="10512873" cy="909066"/>
          </a:xfrm>
        </p:grpSpPr>
        <p:sp>
          <p:nvSpPr>
            <p:cNvPr id="3" name="TextBox 3"/>
            <p:cNvSpPr txBox="1"/>
            <p:nvPr/>
          </p:nvSpPr>
          <p:spPr>
            <a:xfrm>
              <a:off x="946404" y="546100"/>
              <a:ext cx="1373429" cy="234696"/>
            </a:xfrm>
            <a:prstGeom prst="rect">
              <a:avLst/>
            </a:prstGeom>
            <a:noFill/>
            <a:ln>
              <a:noFill/>
            </a:ln>
          </p:spPr>
          <p:txBody>
            <a:bodyPr wrap="none" lIns="0" tIns="0" rIns="0" bIns="0" anchor="t" anchorCtr="0">
              <a:spAutoFit/>
            </a:bodyPr>
            <a:lstStyle/>
            <a:p>
              <a:pPr algn="l"/>
              <a:r>
                <a:rPr lang="en-US" sz="1200" spc="150" dirty="0">
                  <a:solidFill>
                    <a:schemeClr val="accent2"/>
                  </a:solidFill>
                  <a:latin typeface="Consolas"/>
                  <a:ea typeface="Consolas"/>
                  <a:cs typeface="Consolas"/>
                </a:rPr>
                <a:t>04 · DATASET</a:t>
              </a:r>
            </a:p>
          </p:txBody>
        </p:sp>
        <p:sp>
          <p:nvSpPr>
            <p:cNvPr id="4" name="TextBox 4"/>
            <p:cNvSpPr txBox="1"/>
            <p:nvPr/>
          </p:nvSpPr>
          <p:spPr>
            <a:xfrm>
              <a:off x="938784" y="927100"/>
              <a:ext cx="10512873" cy="528066"/>
            </a:xfrm>
            <a:prstGeom prst="rect">
              <a:avLst/>
            </a:prstGeom>
            <a:noFill/>
            <a:ln>
              <a:noFill/>
            </a:ln>
          </p:spPr>
          <p:txBody>
            <a:bodyPr wrap="none" lIns="0" tIns="0" rIns="0" bIns="0" anchor="t" anchorCtr="0">
              <a:spAutoFit/>
            </a:bodyPr>
            <a:lstStyle/>
            <a:p>
              <a:pPr algn="l"/>
              <a:r>
                <a:rPr lang="en-US" sz="2700" b="1" dirty="0">
                  <a:solidFill>
                    <a:schemeClr val="accent1"/>
                  </a:solidFill>
                  <a:latin typeface="+mj-lt"/>
                  <a:ea typeface="+mj-ea"/>
                  <a:cs typeface="+mj-cs"/>
                </a:rPr>
                <a:t>CIRA-CIC-DoHBrw-2020 provides both tables and packets</a:t>
              </a:r>
            </a:p>
          </p:txBody>
        </p:sp>
      </p:grpSp>
      <p:grpSp>
        <p:nvGrpSpPr>
          <p:cNvPr id="10" name="capture-image"/>
          <p:cNvGrpSpPr/>
          <p:nvPr/>
        </p:nvGrpSpPr>
        <p:grpSpPr>
          <a:xfrm>
            <a:off x="952500" y="1733550"/>
            <a:ext cx="4953000" cy="3676650"/>
            <a:chOff x="952500" y="1733550"/>
            <a:chExt cx="4953000" cy="3676650"/>
          </a:xfrm>
        </p:grpSpPr>
        <p:sp>
          <p:nvSpPr>
            <p:cNvPr id="6" name="Rectangle 6"/>
            <p:cNvSpPr/>
            <p:nvPr/>
          </p:nvSpPr>
          <p:spPr>
            <a:xfrm>
              <a:off x="952500" y="1733550"/>
              <a:ext cx="4953000" cy="3676650"/>
            </a:xfrm>
            <a:prstGeom prst="roundRect">
              <a:avLst>
                <a:gd name="adj" fmla="val 2591"/>
              </a:avLst>
            </a:prstGeom>
            <a:solidFill>
              <a:srgbClr val="FFFFFF"/>
            </a:solidFill>
            <a:ln w="19050">
              <a:solidFill>
                <a:schemeClr val="accent6"/>
              </a:solidFill>
            </a:ln>
          </p:spPr>
        </p:sp>
        <p:pic>
          <p:nvPicPr>
            <p:cNvPr id="7" name="Image 7"/>
            <p:cNvPicPr>
              <a:picLocks noChangeAspect="1"/>
            </p:cNvPicPr>
            <p:nvPr/>
          </p:nvPicPr>
          <p:blipFill>
            <a:blip r:embed="rId2"/>
            <a:stretch>
              <a:fillRect/>
            </a:stretch>
          </p:blipFill>
          <p:spPr>
            <a:xfrm>
              <a:off x="2938683" y="1943100"/>
              <a:ext cx="980633" cy="2781300"/>
            </a:xfrm>
            <a:prstGeom prst="rect">
              <a:avLst/>
            </a:prstGeom>
          </p:spPr>
        </p:pic>
        <p:sp>
          <p:nvSpPr>
            <p:cNvPr id="8" name="TextBox 8"/>
            <p:cNvSpPr txBox="1"/>
            <p:nvPr/>
          </p:nvSpPr>
          <p:spPr>
            <a:xfrm>
              <a:off x="1155192" y="4895850"/>
              <a:ext cx="2748438"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Original capture environment</a:t>
              </a:r>
            </a:p>
          </p:txBody>
        </p:sp>
        <p:sp>
          <p:nvSpPr>
            <p:cNvPr id="9" name="TextBox 9"/>
            <p:cNvSpPr txBox="1"/>
            <p:nvPr/>
          </p:nvSpPr>
          <p:spPr>
            <a:xfrm>
              <a:off x="1156716" y="5159375"/>
              <a:ext cx="1549433" cy="205359"/>
            </a:xfrm>
            <a:prstGeom prst="rect">
              <a:avLst/>
            </a:prstGeom>
            <a:noFill/>
            <a:ln>
              <a:noFill/>
            </a:ln>
          </p:spPr>
          <p:txBody>
            <a:bodyPr wrap="none" lIns="0" tIns="0" rIns="0" bIns="0" anchor="t" anchorCtr="0">
              <a:spAutoFit/>
            </a:bodyPr>
            <a:lstStyle/>
            <a:p>
              <a:pPr algn="l"/>
              <a:r>
                <a:rPr lang="en-US" sz="1050" dirty="0">
                  <a:solidFill>
                    <a:schemeClr val="accent5"/>
                  </a:solidFill>
                  <a:latin typeface="+mn-lt"/>
                  <a:ea typeface="+mn-ea"/>
                  <a:cs typeface="+mn-cs"/>
                </a:rPr>
                <a:t>Paper figure · no crop</a:t>
              </a:r>
            </a:p>
          </p:txBody>
        </p:sp>
      </p:grpSp>
      <p:grpSp>
        <p:nvGrpSpPr>
          <p:cNvPr id="27" name="dataset-inventory"/>
          <p:cNvGrpSpPr/>
          <p:nvPr/>
        </p:nvGrpSpPr>
        <p:grpSpPr>
          <a:xfrm>
            <a:off x="6324600" y="1733550"/>
            <a:ext cx="4914900" cy="3676650"/>
            <a:chOff x="6324600" y="1733550"/>
            <a:chExt cx="4914900" cy="3676650"/>
          </a:xfrm>
        </p:grpSpPr>
        <p:sp>
          <p:nvSpPr>
            <p:cNvPr id="11" name="Rectangle 11"/>
            <p:cNvSpPr/>
            <p:nvPr/>
          </p:nvSpPr>
          <p:spPr>
            <a:xfrm>
              <a:off x="6324600" y="1733550"/>
              <a:ext cx="4914900" cy="3676650"/>
            </a:xfrm>
            <a:prstGeom prst="roundRect">
              <a:avLst>
                <a:gd name="adj" fmla="val 2591"/>
              </a:avLst>
            </a:prstGeom>
            <a:solidFill>
              <a:schemeClr val="lt2"/>
            </a:solidFill>
            <a:ln>
              <a:noFill/>
            </a:ln>
          </p:spPr>
        </p:sp>
        <p:grpSp>
          <p:nvGrpSpPr>
            <p:cNvPr id="15" name="Group 15"/>
            <p:cNvGrpSpPr/>
            <p:nvPr/>
          </p:nvGrpSpPr>
          <p:grpSpPr>
            <a:xfrm>
              <a:off x="6746875" y="2135981"/>
              <a:ext cx="317499" cy="357187"/>
              <a:chOff x="6746875" y="2135981"/>
              <a:chExt cx="317499" cy="357187"/>
            </a:xfrm>
          </p:grpSpPr>
          <p:sp>
            <p:nvSpPr>
              <p:cNvPr id="12" name="Freeform 12"/>
              <p:cNvSpPr/>
              <p:nvPr/>
            </p:nvSpPr>
            <p:spPr>
              <a:xfrm>
                <a:off x="6746875" y="2135981"/>
                <a:ext cx="317499" cy="119062"/>
              </a:xfrm>
              <a:custGeom>
                <a:avLst/>
                <a:gdLst/>
                <a:ahLst/>
                <a:cxnLst/>
                <a:rect l="l" t="t" r="r" b="b"/>
                <a:pathLst>
                  <a:path w="317499" h="119062">
                    <a:moveTo>
                      <a:pt x="0" y="59531"/>
                    </a:moveTo>
                    <a:cubicBezTo>
                      <a:pt x="0" y="92409"/>
                      <a:pt x="71075" y="119062"/>
                      <a:pt x="158750" y="119062"/>
                    </a:cubicBezTo>
                    <a:cubicBezTo>
                      <a:pt x="246425" y="119062"/>
                      <a:pt x="317499" y="92409"/>
                      <a:pt x="317499" y="59531"/>
                    </a:cubicBezTo>
                    <a:cubicBezTo>
                      <a:pt x="317499" y="26653"/>
                      <a:pt x="246425" y="0"/>
                      <a:pt x="158750" y="0"/>
                    </a:cubicBezTo>
                    <a:cubicBezTo>
                      <a:pt x="71075" y="0"/>
                      <a:pt x="0" y="26653"/>
                      <a:pt x="0" y="59531"/>
                    </a:cubicBezTo>
                  </a:path>
                </a:pathLst>
              </a:custGeom>
              <a:noFill/>
              <a:ln w="39687">
                <a:solidFill>
                  <a:schemeClr val="accent2"/>
                </a:solidFill>
              </a:ln>
            </p:spPr>
          </p:sp>
          <p:sp>
            <p:nvSpPr>
              <p:cNvPr id="13" name="Freeform 13"/>
              <p:cNvSpPr/>
              <p:nvPr/>
            </p:nvSpPr>
            <p:spPr>
              <a:xfrm>
                <a:off x="6746875" y="2195512"/>
                <a:ext cx="317499" cy="178593"/>
              </a:xfrm>
              <a:custGeom>
                <a:avLst/>
                <a:gdLst/>
                <a:ahLst/>
                <a:cxnLst/>
                <a:rect l="l" t="t" r="r" b="b"/>
                <a:pathLst>
                  <a:path w="317499" h="178593">
                    <a:moveTo>
                      <a:pt x="0" y="0"/>
                    </a:moveTo>
                    <a:lnTo>
                      <a:pt x="0" y="119062"/>
                    </a:lnTo>
                    <a:cubicBezTo>
                      <a:pt x="0" y="151940"/>
                      <a:pt x="71075" y="178593"/>
                      <a:pt x="158750" y="178593"/>
                    </a:cubicBezTo>
                    <a:cubicBezTo>
                      <a:pt x="246425" y="178593"/>
                      <a:pt x="317499" y="151940"/>
                      <a:pt x="317499" y="119062"/>
                    </a:cubicBezTo>
                    <a:lnTo>
                      <a:pt x="317499" y="0"/>
                    </a:lnTo>
                  </a:path>
                </a:pathLst>
              </a:custGeom>
              <a:noFill/>
              <a:ln w="39687">
                <a:solidFill>
                  <a:schemeClr val="accent2"/>
                </a:solidFill>
              </a:ln>
            </p:spPr>
          </p:sp>
          <p:sp>
            <p:nvSpPr>
              <p:cNvPr id="14" name="Freeform 14"/>
              <p:cNvSpPr/>
              <p:nvPr/>
            </p:nvSpPr>
            <p:spPr>
              <a:xfrm>
                <a:off x="6746875" y="2314575"/>
                <a:ext cx="317499" cy="178593"/>
              </a:xfrm>
              <a:custGeom>
                <a:avLst/>
                <a:gdLst/>
                <a:ahLst/>
                <a:cxnLst/>
                <a:rect l="l" t="t" r="r" b="b"/>
                <a:pathLst>
                  <a:path w="317499" h="178593">
                    <a:moveTo>
                      <a:pt x="0" y="0"/>
                    </a:moveTo>
                    <a:lnTo>
                      <a:pt x="0" y="119062"/>
                    </a:lnTo>
                    <a:cubicBezTo>
                      <a:pt x="0" y="151940"/>
                      <a:pt x="71075" y="178593"/>
                      <a:pt x="158750" y="178593"/>
                    </a:cubicBezTo>
                    <a:cubicBezTo>
                      <a:pt x="246425" y="178593"/>
                      <a:pt x="317499" y="151940"/>
                      <a:pt x="317499" y="119062"/>
                    </a:cubicBezTo>
                    <a:lnTo>
                      <a:pt x="317499" y="0"/>
                    </a:lnTo>
                  </a:path>
                </a:pathLst>
              </a:custGeom>
              <a:noFill/>
              <a:ln w="39687">
                <a:solidFill>
                  <a:schemeClr val="accent2"/>
                </a:solidFill>
              </a:ln>
            </p:spPr>
          </p:sp>
        </p:grpSp>
        <p:sp>
          <p:nvSpPr>
            <p:cNvPr id="16" name="TextBox 16"/>
            <p:cNvSpPr txBox="1"/>
            <p:nvPr/>
          </p:nvSpPr>
          <p:spPr>
            <a:xfrm>
              <a:off x="7361682" y="2139950"/>
              <a:ext cx="3162297" cy="410718"/>
            </a:xfrm>
            <a:prstGeom prst="rect">
              <a:avLst/>
            </a:prstGeom>
            <a:noFill/>
            <a:ln>
              <a:noFill/>
            </a:ln>
          </p:spPr>
          <p:txBody>
            <a:bodyPr wrap="none" lIns="0" tIns="0" rIns="0" bIns="0" anchor="t" anchorCtr="0">
              <a:spAutoFit/>
            </a:bodyPr>
            <a:lstStyle/>
            <a:p>
              <a:pPr algn="l"/>
              <a:r>
                <a:rPr lang="en-US" sz="2100" b="1" dirty="0">
                  <a:solidFill>
                    <a:schemeClr val="accent1"/>
                  </a:solidFill>
                  <a:latin typeface="+mn-lt"/>
                  <a:ea typeface="+mn-ea"/>
                  <a:cs typeface="+mn-cs"/>
                </a:rPr>
                <a:t>Three traffic classes</a:t>
              </a:r>
            </a:p>
          </p:txBody>
        </p:sp>
        <p:sp>
          <p:nvSpPr>
            <p:cNvPr id="17" name="Rectangle 17"/>
            <p:cNvSpPr/>
            <p:nvPr/>
          </p:nvSpPr>
          <p:spPr>
            <a:xfrm>
              <a:off x="6667500" y="2895600"/>
              <a:ext cx="4229100" cy="552450"/>
            </a:xfrm>
            <a:prstGeom prst="roundRect">
              <a:avLst>
                <a:gd name="adj" fmla="val 10345"/>
              </a:avLst>
            </a:prstGeom>
            <a:solidFill>
              <a:srgbClr val="FFFFFF"/>
            </a:solidFill>
            <a:ln>
              <a:noFill/>
            </a:ln>
          </p:spPr>
        </p:sp>
        <p:sp>
          <p:nvSpPr>
            <p:cNvPr id="18" name="Ellipse 18"/>
            <p:cNvSpPr/>
            <p:nvPr/>
          </p:nvSpPr>
          <p:spPr>
            <a:xfrm>
              <a:off x="6819900" y="3095625"/>
              <a:ext cx="152400" cy="152400"/>
            </a:xfrm>
            <a:prstGeom prst="ellipse">
              <a:avLst/>
            </a:prstGeom>
            <a:solidFill>
              <a:srgbClr val="5B6875"/>
            </a:solidFill>
            <a:ln>
              <a:noFill/>
            </a:ln>
          </p:spPr>
        </p:sp>
        <p:sp>
          <p:nvSpPr>
            <p:cNvPr id="19" name="TextBox 19"/>
            <p:cNvSpPr txBox="1"/>
            <p:nvPr/>
          </p:nvSpPr>
          <p:spPr>
            <a:xfrm>
              <a:off x="7115937" y="3044825"/>
              <a:ext cx="1680966" cy="337376"/>
            </a:xfrm>
            <a:prstGeom prst="rect">
              <a:avLst/>
            </a:prstGeom>
            <a:noFill/>
            <a:ln>
              <a:noFill/>
            </a:ln>
          </p:spPr>
          <p:txBody>
            <a:bodyPr wrap="none" lIns="0" tIns="0" rIns="0" bIns="0" anchor="t" anchorCtr="0">
              <a:spAutoFit/>
            </a:bodyPr>
            <a:lstStyle/>
            <a:p>
              <a:pPr algn="l"/>
              <a:r>
                <a:rPr lang="en-US" sz="1720" dirty="0">
                  <a:solidFill>
                    <a:schemeClr val="dk1"/>
                  </a:solidFill>
                  <a:latin typeface="+mn-lt"/>
                  <a:ea typeface="+mn-ea"/>
                  <a:cs typeface="+mn-cs"/>
                </a:rPr>
                <a:t>Non-DoH HTTPS</a:t>
              </a:r>
            </a:p>
          </p:txBody>
        </p:sp>
        <p:sp>
          <p:nvSpPr>
            <p:cNvPr id="20" name="Rectangle 20"/>
            <p:cNvSpPr/>
            <p:nvPr/>
          </p:nvSpPr>
          <p:spPr>
            <a:xfrm>
              <a:off x="6667500" y="3600450"/>
              <a:ext cx="4229100" cy="552450"/>
            </a:xfrm>
            <a:prstGeom prst="roundRect">
              <a:avLst>
                <a:gd name="adj" fmla="val 10345"/>
              </a:avLst>
            </a:prstGeom>
            <a:solidFill>
              <a:srgbClr val="FFFFFF"/>
            </a:solidFill>
            <a:ln>
              <a:noFill/>
            </a:ln>
          </p:spPr>
        </p:sp>
        <p:sp>
          <p:nvSpPr>
            <p:cNvPr id="21" name="Ellipse 21"/>
            <p:cNvSpPr/>
            <p:nvPr/>
          </p:nvSpPr>
          <p:spPr>
            <a:xfrm>
              <a:off x="6819900" y="3800475"/>
              <a:ext cx="152400" cy="152400"/>
            </a:xfrm>
            <a:prstGeom prst="ellipse">
              <a:avLst/>
            </a:prstGeom>
            <a:solidFill>
              <a:schemeClr val="accent2"/>
            </a:solidFill>
            <a:ln>
              <a:noFill/>
            </a:ln>
          </p:spPr>
        </p:sp>
        <p:sp>
          <p:nvSpPr>
            <p:cNvPr id="22" name="TextBox 22"/>
            <p:cNvSpPr txBox="1"/>
            <p:nvPr/>
          </p:nvSpPr>
          <p:spPr>
            <a:xfrm>
              <a:off x="7115937" y="3749675"/>
              <a:ext cx="1197102" cy="337376"/>
            </a:xfrm>
            <a:prstGeom prst="rect">
              <a:avLst/>
            </a:prstGeom>
            <a:noFill/>
            <a:ln>
              <a:noFill/>
            </a:ln>
          </p:spPr>
          <p:txBody>
            <a:bodyPr wrap="none" lIns="0" tIns="0" rIns="0" bIns="0" anchor="t" anchorCtr="0">
              <a:spAutoFit/>
            </a:bodyPr>
            <a:lstStyle/>
            <a:p>
              <a:pPr algn="l"/>
              <a:r>
                <a:rPr lang="en-US" sz="1720" dirty="0">
                  <a:solidFill>
                    <a:schemeClr val="dk1"/>
                  </a:solidFill>
                  <a:latin typeface="+mn-lt"/>
                  <a:ea typeface="+mn-ea"/>
                  <a:cs typeface="+mn-cs"/>
                </a:rPr>
                <a:t>Benign DoH</a:t>
              </a:r>
            </a:p>
          </p:txBody>
        </p:sp>
        <p:sp>
          <p:nvSpPr>
            <p:cNvPr id="23" name="Rectangle 23"/>
            <p:cNvSpPr/>
            <p:nvPr/>
          </p:nvSpPr>
          <p:spPr>
            <a:xfrm>
              <a:off x="6667500" y="4305300"/>
              <a:ext cx="4229100" cy="552450"/>
            </a:xfrm>
            <a:prstGeom prst="roundRect">
              <a:avLst>
                <a:gd name="adj" fmla="val 10345"/>
              </a:avLst>
            </a:prstGeom>
            <a:solidFill>
              <a:srgbClr val="FFFFFF"/>
            </a:solidFill>
            <a:ln>
              <a:noFill/>
            </a:ln>
          </p:spPr>
        </p:sp>
        <p:sp>
          <p:nvSpPr>
            <p:cNvPr id="24" name="Ellipse 24"/>
            <p:cNvSpPr/>
            <p:nvPr/>
          </p:nvSpPr>
          <p:spPr>
            <a:xfrm>
              <a:off x="6819900" y="4505325"/>
              <a:ext cx="152400" cy="152400"/>
            </a:xfrm>
            <a:prstGeom prst="ellipse">
              <a:avLst/>
            </a:prstGeom>
            <a:solidFill>
              <a:schemeClr val="accent3"/>
            </a:solidFill>
            <a:ln>
              <a:noFill/>
            </a:ln>
          </p:spPr>
        </p:sp>
        <p:sp>
          <p:nvSpPr>
            <p:cNvPr id="25" name="TextBox 25"/>
            <p:cNvSpPr txBox="1"/>
            <p:nvPr/>
          </p:nvSpPr>
          <p:spPr>
            <a:xfrm>
              <a:off x="7115937" y="4454525"/>
              <a:ext cx="2412088" cy="337376"/>
            </a:xfrm>
            <a:prstGeom prst="rect">
              <a:avLst/>
            </a:prstGeom>
            <a:noFill/>
            <a:ln>
              <a:noFill/>
            </a:ln>
          </p:spPr>
          <p:txBody>
            <a:bodyPr wrap="none" lIns="0" tIns="0" rIns="0" bIns="0" anchor="t" anchorCtr="0">
              <a:spAutoFit/>
            </a:bodyPr>
            <a:lstStyle/>
            <a:p>
              <a:pPr algn="l"/>
              <a:r>
                <a:rPr lang="en-US" sz="1720" dirty="0">
                  <a:solidFill>
                    <a:schemeClr val="dk1"/>
                  </a:solidFill>
                  <a:latin typeface="+mn-lt"/>
                  <a:ea typeface="+mn-ea"/>
                  <a:cs typeface="+mn-cs"/>
                </a:rPr>
                <a:t>Malicious DoH tunnels</a:t>
              </a:r>
            </a:p>
          </p:txBody>
        </p:sp>
        <p:sp>
          <p:nvSpPr>
            <p:cNvPr id="26" name="TextBox 26"/>
            <p:cNvSpPr txBox="1"/>
            <p:nvPr/>
          </p:nvSpPr>
          <p:spPr>
            <a:xfrm>
              <a:off x="6661404" y="4940300"/>
              <a:ext cx="2923032" cy="444246"/>
            </a:xfrm>
            <a:prstGeom prst="rect">
              <a:avLst/>
            </a:prstGeom>
            <a:noFill/>
            <a:ln>
              <a:noFill/>
            </a:ln>
          </p:spPr>
          <p:txBody>
            <a:bodyPr wrap="none" lIns="0" tIns="0" rIns="0" bIns="0" anchor="t" anchorCtr="0">
              <a:spAutoFit/>
            </a:bodyPr>
            <a:lstStyle/>
            <a:p>
              <a:pPr algn="l">
                <a:lnSpc>
                  <a:spcPts val="1650"/>
                </a:lnSpc>
              </a:pPr>
              <a:r>
                <a:rPr lang="en-US" sz="1200" dirty="0">
                  <a:solidFill>
                    <a:schemeClr val="accent5"/>
                  </a:solidFill>
                  <a:latin typeface="+mn-lt"/>
                  <a:ea typeface="+mn-ea"/>
                  <a:cs typeface="+mn-cs"/>
                </a:rPr>
                <a:t>CSV supports statistical replication;</a:t>
              </a:r>
              <a:br>
                <a:rPr lang="en-US" sz="1200" dirty="0">
                  <a:solidFill>
                    <a:schemeClr val="accent5"/>
                  </a:solidFill>
                  <a:latin typeface="+mn-lt"/>
                  <a:ea typeface="+mn-ea"/>
                  <a:cs typeface="+mn-cs"/>
                </a:rPr>
              </a:br>
              <a:r>
                <a:rPr lang="en-US" sz="1200" dirty="0">
                  <a:solidFill>
                    <a:schemeClr val="accent5"/>
                  </a:solidFill>
                  <a:latin typeface="+mn-lt"/>
                  <a:ea typeface="+mn-ea"/>
                  <a:cs typeface="+mn-cs"/>
                </a:rPr>
                <a:t>PCAP enables sequence reconstruction.</a:t>
              </a:r>
            </a:p>
          </p:txBody>
        </p:sp>
      </p:grpSp>
      <p:grpSp>
        <p:nvGrpSpPr>
          <p:cNvPr id="30" name="data-path"/>
          <p:cNvGrpSpPr/>
          <p:nvPr/>
        </p:nvGrpSpPr>
        <p:grpSpPr>
          <a:xfrm>
            <a:off x="943356" y="5746750"/>
            <a:ext cx="8498467" cy="352044"/>
            <a:chOff x="943356" y="5746750"/>
            <a:chExt cx="8498467" cy="352044"/>
          </a:xfrm>
        </p:grpSpPr>
        <p:sp>
          <p:nvSpPr>
            <p:cNvPr id="28" name="TextBox 28"/>
            <p:cNvSpPr txBox="1"/>
            <p:nvPr/>
          </p:nvSpPr>
          <p:spPr>
            <a:xfrm>
              <a:off x="943356" y="5746750"/>
              <a:ext cx="1858838"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Evidence path:</a:t>
              </a:r>
            </a:p>
          </p:txBody>
        </p:sp>
        <p:sp>
          <p:nvSpPr>
            <p:cNvPr id="29" name="TextBox 29"/>
            <p:cNvSpPr txBox="1"/>
            <p:nvPr/>
          </p:nvSpPr>
          <p:spPr>
            <a:xfrm>
              <a:off x="2448306" y="5746750"/>
              <a:ext cx="6993517"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n-lt"/>
                  <a:ea typeface="+mn-ea"/>
                  <a:cs typeface="+mn-cs"/>
                </a:rPr>
                <a:t>CSV baseline first → raw PCAP session-disjoint experiment.</a:t>
              </a:r>
            </a:p>
          </p:txBody>
        </p:sp>
      </p:grpSp>
      <p:grpSp>
        <p:nvGrpSpPr>
          <p:cNvPr id="33" name="footer"/>
          <p:cNvGrpSpPr/>
          <p:nvPr/>
        </p:nvGrpSpPr>
        <p:grpSpPr>
          <a:xfrm>
            <a:off x="947166" y="6369050"/>
            <a:ext cx="10297668" cy="205359"/>
            <a:chOff x="947166" y="6369050"/>
            <a:chExt cx="10297668" cy="205359"/>
          </a:xfrm>
        </p:grpSpPr>
        <p:sp>
          <p:nvSpPr>
            <p:cNvPr id="31" name="TextBox 31"/>
            <p:cNvSpPr txBox="1"/>
            <p:nvPr/>
          </p:nvSpPr>
          <p:spPr>
            <a:xfrm>
              <a:off x="947166" y="6369050"/>
              <a:ext cx="5186817" cy="205359"/>
            </a:xfrm>
            <a:prstGeom prst="rect">
              <a:avLst/>
            </a:prstGeom>
            <a:noFill/>
            <a:ln>
              <a:noFill/>
            </a:ln>
          </p:spPr>
          <p:txBody>
            <a:bodyPr wrap="none" lIns="0" tIns="0" rIns="0" bIns="0" anchor="t" anchorCtr="0">
              <a:spAutoFit/>
            </a:bodyPr>
            <a:lstStyle/>
            <a:p>
              <a:pPr algn="l"/>
              <a:r>
                <a:rPr lang="en-US" sz="1050" dirty="0">
                  <a:solidFill>
                    <a:schemeClr val="accent5"/>
                  </a:solidFill>
                  <a:latin typeface="+mn-lt"/>
                  <a:ea typeface="+mn-ea"/>
                  <a:cs typeface="+mn-cs"/>
                </a:rPr>
                <a:t>Sources: original paper; project manifests and raw-PCAP experiment audit</a:t>
              </a:r>
            </a:p>
          </p:txBody>
        </p:sp>
        <p:sp>
          <p:nvSpPr>
            <p:cNvPr id="32" name="TextBox 32"/>
            <p:cNvSpPr txBox="1"/>
            <p:nvPr/>
          </p:nvSpPr>
          <p:spPr>
            <a:xfrm>
              <a:off x="11078680" y="6369050"/>
              <a:ext cx="166154"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Consolas"/>
                  <a:ea typeface="Consolas"/>
                  <a:cs typeface="Consolas"/>
                </a:rPr>
                <a:t>05</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ledger-rule"/>
          <p:cNvSpPr/>
          <p:nvPr/>
        </p:nvSpPr>
        <p:spPr>
          <a:xfrm>
            <a:off x="609600" y="400050"/>
            <a:ext cx="57150" cy="6000750"/>
          </a:xfrm>
          <a:prstGeom prst="rect">
            <a:avLst/>
          </a:prstGeom>
          <a:solidFill>
            <a:schemeClr val="accent2"/>
          </a:solidFill>
          <a:ln>
            <a:noFill/>
          </a:ln>
        </p:spPr>
      </p:sp>
      <p:grpSp>
        <p:nvGrpSpPr>
          <p:cNvPr id="5" name="heading"/>
          <p:cNvGrpSpPr/>
          <p:nvPr/>
        </p:nvGrpSpPr>
        <p:grpSpPr>
          <a:xfrm>
            <a:off x="941070" y="546100"/>
            <a:ext cx="8063465" cy="871855"/>
            <a:chOff x="941070" y="546100"/>
            <a:chExt cx="8063465" cy="871855"/>
          </a:xfrm>
        </p:grpSpPr>
        <p:sp>
          <p:nvSpPr>
            <p:cNvPr id="3" name="TextBox 3"/>
            <p:cNvSpPr txBox="1"/>
            <p:nvPr/>
          </p:nvSpPr>
          <p:spPr>
            <a:xfrm>
              <a:off x="946404" y="546100"/>
              <a:ext cx="2525573" cy="234696"/>
            </a:xfrm>
            <a:prstGeom prst="rect">
              <a:avLst/>
            </a:prstGeom>
            <a:noFill/>
            <a:ln>
              <a:noFill/>
            </a:ln>
          </p:spPr>
          <p:txBody>
            <a:bodyPr wrap="none" lIns="0" tIns="0" rIns="0" bIns="0" anchor="t" anchorCtr="0">
              <a:spAutoFit/>
            </a:bodyPr>
            <a:lstStyle/>
            <a:p>
              <a:pPr algn="l"/>
              <a:r>
                <a:rPr lang="en-US" sz="1200" spc="150" dirty="0">
                  <a:solidFill>
                    <a:schemeClr val="accent2"/>
                  </a:solidFill>
                  <a:latin typeface="Consolas"/>
                  <a:ea typeface="Consolas"/>
                  <a:cs typeface="Consolas"/>
                </a:rPr>
                <a:t>05 · ORIGINAL PIPELINE</a:t>
              </a:r>
            </a:p>
          </p:txBody>
        </p:sp>
        <p:sp>
          <p:nvSpPr>
            <p:cNvPr id="4" name="TextBox 4"/>
            <p:cNvSpPr txBox="1"/>
            <p:nvPr/>
          </p:nvSpPr>
          <p:spPr>
            <a:xfrm>
              <a:off x="941070" y="977900"/>
              <a:ext cx="8063465" cy="440055"/>
            </a:xfrm>
            <a:prstGeom prst="rect">
              <a:avLst/>
            </a:prstGeom>
            <a:noFill/>
            <a:ln>
              <a:noFill/>
            </a:ln>
          </p:spPr>
          <p:txBody>
            <a:bodyPr wrap="none" lIns="0" tIns="0" rIns="0" bIns="0" anchor="t" anchorCtr="0">
              <a:spAutoFit/>
            </a:bodyPr>
            <a:lstStyle/>
            <a:p>
              <a:pPr algn="l"/>
              <a:r>
                <a:rPr lang="en-US" sz="2250" b="1" dirty="0">
                  <a:solidFill>
                    <a:schemeClr val="accent1"/>
                  </a:solidFill>
                  <a:latin typeface="+mj-lt"/>
                  <a:ea typeface="+mj-ea"/>
                  <a:cs typeface="+mj-cs"/>
                </a:rPr>
                <a:t>The paper evaluates two representations in parallel</a:t>
              </a:r>
            </a:p>
          </p:txBody>
        </p:sp>
      </p:grpSp>
      <p:grpSp>
        <p:nvGrpSpPr>
          <p:cNvPr id="16" name="statistical-path"/>
          <p:cNvGrpSpPr/>
          <p:nvPr/>
        </p:nvGrpSpPr>
        <p:grpSpPr>
          <a:xfrm>
            <a:off x="952500" y="1790700"/>
            <a:ext cx="10287000" cy="1562100"/>
            <a:chOff x="952500" y="1790700"/>
            <a:chExt cx="10287000" cy="1562100"/>
          </a:xfrm>
        </p:grpSpPr>
        <p:sp>
          <p:nvSpPr>
            <p:cNvPr id="6" name="Rectangle 6"/>
            <p:cNvSpPr/>
            <p:nvPr/>
          </p:nvSpPr>
          <p:spPr>
            <a:xfrm>
              <a:off x="952500" y="1790700"/>
              <a:ext cx="10287000" cy="1562100"/>
            </a:xfrm>
            <a:prstGeom prst="roundRect">
              <a:avLst>
                <a:gd name="adj" fmla="val 6098"/>
              </a:avLst>
            </a:prstGeom>
            <a:solidFill>
              <a:srgbClr val="FFFFFF"/>
            </a:solidFill>
            <a:ln w="19050">
              <a:solidFill>
                <a:schemeClr val="accent6"/>
              </a:solidFill>
            </a:ln>
          </p:spPr>
        </p:sp>
        <p:sp>
          <p:nvSpPr>
            <p:cNvPr id="7" name="TextBox 7"/>
            <p:cNvSpPr txBox="1"/>
            <p:nvPr/>
          </p:nvSpPr>
          <p:spPr>
            <a:xfrm>
              <a:off x="1212342" y="1962150"/>
              <a:ext cx="1636799" cy="264033"/>
            </a:xfrm>
            <a:prstGeom prst="rect">
              <a:avLst/>
            </a:prstGeom>
            <a:noFill/>
            <a:ln>
              <a:noFill/>
            </a:ln>
          </p:spPr>
          <p:txBody>
            <a:bodyPr wrap="none" lIns="0" tIns="0" rIns="0" bIns="0" anchor="t" anchorCtr="0">
              <a:spAutoFit/>
            </a:bodyPr>
            <a:lstStyle/>
            <a:p>
              <a:pPr algn="l"/>
              <a:r>
                <a:rPr lang="en-US" sz="1350" b="1" dirty="0">
                  <a:solidFill>
                    <a:schemeClr val="accent2"/>
                  </a:solidFill>
                  <a:latin typeface="+mn-lt"/>
                  <a:ea typeface="+mn-ea"/>
                  <a:cs typeface="+mn-cs"/>
                </a:rPr>
                <a:t>STATISTICAL PATH</a:t>
              </a:r>
            </a:p>
          </p:txBody>
        </p:sp>
        <p:sp>
          <p:nvSpPr>
            <p:cNvPr id="8" name="Rectangle 8"/>
            <p:cNvSpPr/>
            <p:nvPr/>
          </p:nvSpPr>
          <p:spPr>
            <a:xfrm>
              <a:off x="1219200" y="2362200"/>
              <a:ext cx="1809750" cy="666750"/>
            </a:xfrm>
            <a:prstGeom prst="roundRect">
              <a:avLst>
                <a:gd name="adj" fmla="val 10000"/>
              </a:avLst>
            </a:prstGeom>
            <a:solidFill>
              <a:schemeClr val="lt2"/>
            </a:solidFill>
            <a:ln>
              <a:noFill/>
            </a:ln>
          </p:spPr>
        </p:sp>
        <p:sp>
          <p:nvSpPr>
            <p:cNvPr id="9" name="TextBox 9"/>
            <p:cNvSpPr txBox="1"/>
            <p:nvPr/>
          </p:nvSpPr>
          <p:spPr>
            <a:xfrm>
              <a:off x="1371131" y="2584450"/>
              <a:ext cx="1505888" cy="293370"/>
            </a:xfrm>
            <a:prstGeom prst="rect">
              <a:avLst/>
            </a:prstGeom>
            <a:noFill/>
            <a:ln>
              <a:noFill/>
            </a:ln>
          </p:spPr>
          <p:txBody>
            <a:bodyPr wrap="none" lIns="0" tIns="0" rIns="0" bIns="0" anchor="t" anchorCtr="0">
              <a:spAutoFit/>
            </a:bodyPr>
            <a:lstStyle/>
            <a:p>
              <a:pPr algn="ctr"/>
              <a:r>
                <a:rPr lang="en-US" sz="1500" dirty="0">
                  <a:solidFill>
                    <a:schemeClr val="accent1"/>
                  </a:solidFill>
                  <a:latin typeface="+mn-lt"/>
                  <a:ea typeface="+mn-ea"/>
                  <a:cs typeface="+mn-cs"/>
                </a:rPr>
                <a:t>Completed flow</a:t>
              </a:r>
            </a:p>
          </p:txBody>
        </p:sp>
        <p:sp>
          <p:nvSpPr>
            <p:cNvPr id="10" name="Line 10"/>
            <p:cNvSpPr/>
            <p:nvPr/>
          </p:nvSpPr>
          <p:spPr>
            <a:xfrm>
              <a:off x="3028950" y="2695575"/>
              <a:ext cx="533400" cy="1"/>
            </a:xfrm>
            <a:prstGeom prst="line">
              <a:avLst/>
            </a:prstGeom>
            <a:noFill/>
            <a:ln w="28575">
              <a:solidFill>
                <a:schemeClr val="accent2"/>
              </a:solidFill>
              <a:tailEnd type="triangle" w="lg" len="lg"/>
            </a:ln>
          </p:spPr>
        </p:sp>
        <p:sp>
          <p:nvSpPr>
            <p:cNvPr id="11" name="Rectangle 11"/>
            <p:cNvSpPr/>
            <p:nvPr/>
          </p:nvSpPr>
          <p:spPr>
            <a:xfrm>
              <a:off x="3676650" y="2362200"/>
              <a:ext cx="2286000" cy="666750"/>
            </a:xfrm>
            <a:prstGeom prst="roundRect">
              <a:avLst>
                <a:gd name="adj" fmla="val 10000"/>
              </a:avLst>
            </a:prstGeom>
            <a:solidFill>
              <a:schemeClr val="lt2"/>
            </a:solidFill>
            <a:ln>
              <a:noFill/>
            </a:ln>
          </p:spPr>
        </p:sp>
        <p:sp>
          <p:nvSpPr>
            <p:cNvPr id="12" name="TextBox 12"/>
            <p:cNvSpPr txBox="1"/>
            <p:nvPr/>
          </p:nvSpPr>
          <p:spPr>
            <a:xfrm>
              <a:off x="3767042" y="2584450"/>
              <a:ext cx="2105216" cy="293370"/>
            </a:xfrm>
            <a:prstGeom prst="rect">
              <a:avLst/>
            </a:prstGeom>
            <a:noFill/>
            <a:ln>
              <a:noFill/>
            </a:ln>
          </p:spPr>
          <p:txBody>
            <a:bodyPr wrap="none" lIns="0" tIns="0" rIns="0" bIns="0" anchor="t" anchorCtr="0">
              <a:spAutoFit/>
            </a:bodyPr>
            <a:lstStyle/>
            <a:p>
              <a:pPr algn="ctr"/>
              <a:r>
                <a:rPr lang="en-US" sz="1500" dirty="0">
                  <a:solidFill>
                    <a:schemeClr val="accent1"/>
                  </a:solidFill>
                  <a:latin typeface="+mn-lt"/>
                  <a:ea typeface="+mn-ea"/>
                  <a:cs typeface="+mn-cs"/>
                </a:rPr>
                <a:t>28 summary features</a:t>
              </a:r>
            </a:p>
          </p:txBody>
        </p:sp>
        <p:sp>
          <p:nvSpPr>
            <p:cNvPr id="13" name="Line 13"/>
            <p:cNvSpPr/>
            <p:nvPr/>
          </p:nvSpPr>
          <p:spPr>
            <a:xfrm>
              <a:off x="5962650" y="2695575"/>
              <a:ext cx="533400" cy="1"/>
            </a:xfrm>
            <a:prstGeom prst="line">
              <a:avLst/>
            </a:prstGeom>
            <a:noFill/>
            <a:ln w="28575">
              <a:solidFill>
                <a:schemeClr val="accent2"/>
              </a:solidFill>
              <a:tailEnd type="triangle" w="lg" len="lg"/>
            </a:ln>
          </p:spPr>
        </p:sp>
        <p:sp>
          <p:nvSpPr>
            <p:cNvPr id="14" name="Rectangle 14"/>
            <p:cNvSpPr/>
            <p:nvPr/>
          </p:nvSpPr>
          <p:spPr>
            <a:xfrm>
              <a:off x="6610350" y="2362200"/>
              <a:ext cx="4171950" cy="666750"/>
            </a:xfrm>
            <a:prstGeom prst="roundRect">
              <a:avLst>
                <a:gd name="adj" fmla="val 10000"/>
              </a:avLst>
            </a:prstGeom>
            <a:solidFill>
              <a:schemeClr val="accent1"/>
            </a:solidFill>
            <a:ln>
              <a:noFill/>
            </a:ln>
          </p:spPr>
        </p:sp>
        <p:sp>
          <p:nvSpPr>
            <p:cNvPr id="15" name="TextBox 15"/>
            <p:cNvSpPr txBox="1"/>
            <p:nvPr/>
          </p:nvSpPr>
          <p:spPr>
            <a:xfrm>
              <a:off x="6907149" y="2584450"/>
              <a:ext cx="3578352" cy="293370"/>
            </a:xfrm>
            <a:prstGeom prst="rect">
              <a:avLst/>
            </a:prstGeom>
            <a:noFill/>
            <a:ln>
              <a:noFill/>
            </a:ln>
          </p:spPr>
          <p:txBody>
            <a:bodyPr wrap="none" lIns="0" tIns="0" rIns="0" bIns="0" anchor="t" anchorCtr="0">
              <a:spAutoFit/>
            </a:bodyPr>
            <a:lstStyle/>
            <a:p>
              <a:pPr algn="ctr"/>
              <a:r>
                <a:rPr lang="en-US" sz="1500" dirty="0">
                  <a:solidFill>
                    <a:srgbClr val="FFFFFF"/>
                  </a:solidFill>
                  <a:latin typeface="+mn-lt"/>
                  <a:ea typeface="+mn-ea"/>
                  <a:cs typeface="+mn-cs"/>
                </a:rPr>
                <a:t>RF · C4.5 · SVM · NB · DNN · 2D CNN</a:t>
              </a:r>
            </a:p>
          </p:txBody>
        </p:sp>
      </p:grpSp>
      <p:grpSp>
        <p:nvGrpSpPr>
          <p:cNvPr id="27" name="sequence-path"/>
          <p:cNvGrpSpPr/>
          <p:nvPr/>
        </p:nvGrpSpPr>
        <p:grpSpPr>
          <a:xfrm>
            <a:off x="952500" y="3638550"/>
            <a:ext cx="10287000" cy="1562100"/>
            <a:chOff x="952500" y="3638550"/>
            <a:chExt cx="10287000" cy="1562100"/>
          </a:xfrm>
        </p:grpSpPr>
        <p:sp>
          <p:nvSpPr>
            <p:cNvPr id="17" name="Rectangle 17"/>
            <p:cNvSpPr/>
            <p:nvPr/>
          </p:nvSpPr>
          <p:spPr>
            <a:xfrm>
              <a:off x="952500" y="3638550"/>
              <a:ext cx="10287000" cy="1562100"/>
            </a:xfrm>
            <a:prstGeom prst="roundRect">
              <a:avLst>
                <a:gd name="adj" fmla="val 6098"/>
              </a:avLst>
            </a:prstGeom>
            <a:solidFill>
              <a:srgbClr val="FFFFFF"/>
            </a:solidFill>
            <a:ln w="19050">
              <a:solidFill>
                <a:schemeClr val="accent6"/>
              </a:solidFill>
            </a:ln>
          </p:spPr>
        </p:sp>
        <p:sp>
          <p:nvSpPr>
            <p:cNvPr id="18" name="TextBox 18"/>
            <p:cNvSpPr txBox="1"/>
            <p:nvPr/>
          </p:nvSpPr>
          <p:spPr>
            <a:xfrm>
              <a:off x="1212342" y="3810000"/>
              <a:ext cx="1677124" cy="264033"/>
            </a:xfrm>
            <a:prstGeom prst="rect">
              <a:avLst/>
            </a:prstGeom>
            <a:noFill/>
            <a:ln>
              <a:noFill/>
            </a:ln>
          </p:spPr>
          <p:txBody>
            <a:bodyPr wrap="none" lIns="0" tIns="0" rIns="0" bIns="0" anchor="t" anchorCtr="0">
              <a:spAutoFit/>
            </a:bodyPr>
            <a:lstStyle/>
            <a:p>
              <a:pPr algn="l"/>
              <a:r>
                <a:rPr lang="en-US" sz="1350" b="1" dirty="0">
                  <a:solidFill>
                    <a:schemeClr val="accent3"/>
                  </a:solidFill>
                  <a:latin typeface="+mn-lt"/>
                  <a:ea typeface="+mn-ea"/>
                  <a:cs typeface="+mn-cs"/>
                </a:rPr>
                <a:t>TIME-SERIES PATH</a:t>
              </a:r>
            </a:p>
          </p:txBody>
        </p:sp>
        <p:sp>
          <p:nvSpPr>
            <p:cNvPr id="19" name="Rectangle 19"/>
            <p:cNvSpPr/>
            <p:nvPr/>
          </p:nvSpPr>
          <p:spPr>
            <a:xfrm>
              <a:off x="1219200" y="4210050"/>
              <a:ext cx="1809750" cy="666750"/>
            </a:xfrm>
            <a:prstGeom prst="roundRect">
              <a:avLst>
                <a:gd name="adj" fmla="val 10000"/>
              </a:avLst>
            </a:prstGeom>
            <a:solidFill>
              <a:srgbClr val="FFF7ED"/>
            </a:solidFill>
            <a:ln>
              <a:noFill/>
            </a:ln>
          </p:spPr>
        </p:sp>
        <p:sp>
          <p:nvSpPr>
            <p:cNvPr id="20" name="TextBox 20"/>
            <p:cNvSpPr txBox="1"/>
            <p:nvPr/>
          </p:nvSpPr>
          <p:spPr>
            <a:xfrm>
              <a:off x="1396222" y="4432300"/>
              <a:ext cx="1455706" cy="293370"/>
            </a:xfrm>
            <a:prstGeom prst="rect">
              <a:avLst/>
            </a:prstGeom>
            <a:noFill/>
            <a:ln>
              <a:noFill/>
            </a:ln>
          </p:spPr>
          <p:txBody>
            <a:bodyPr wrap="none" lIns="0" tIns="0" rIns="0" bIns="0" anchor="t" anchorCtr="0">
              <a:spAutoFit/>
            </a:bodyPr>
            <a:lstStyle/>
            <a:p>
              <a:pPr algn="ctr"/>
              <a:r>
                <a:rPr lang="en-US" sz="1500" dirty="0">
                  <a:solidFill>
                    <a:schemeClr val="accent1"/>
                  </a:solidFill>
                  <a:latin typeface="+mn-lt"/>
                  <a:ea typeface="+mn-ea"/>
                  <a:cs typeface="+mn-cs"/>
                </a:rPr>
                <a:t>Packet stream</a:t>
              </a:r>
            </a:p>
          </p:txBody>
        </p:sp>
        <p:sp>
          <p:nvSpPr>
            <p:cNvPr id="21" name="Line 21"/>
            <p:cNvSpPr/>
            <p:nvPr/>
          </p:nvSpPr>
          <p:spPr>
            <a:xfrm>
              <a:off x="3028950" y="4543425"/>
              <a:ext cx="533400" cy="1"/>
            </a:xfrm>
            <a:prstGeom prst="line">
              <a:avLst/>
            </a:prstGeom>
            <a:noFill/>
            <a:ln w="28575">
              <a:solidFill>
                <a:schemeClr val="accent2"/>
              </a:solidFill>
              <a:tailEnd type="triangle" w="lg" len="lg"/>
            </a:ln>
          </p:spPr>
        </p:sp>
        <p:sp>
          <p:nvSpPr>
            <p:cNvPr id="22" name="Rectangle 22"/>
            <p:cNvSpPr/>
            <p:nvPr/>
          </p:nvSpPr>
          <p:spPr>
            <a:xfrm>
              <a:off x="3676650" y="4210050"/>
              <a:ext cx="2286000" cy="666750"/>
            </a:xfrm>
            <a:prstGeom prst="roundRect">
              <a:avLst>
                <a:gd name="adj" fmla="val 10000"/>
              </a:avLst>
            </a:prstGeom>
            <a:solidFill>
              <a:srgbClr val="FFF7ED"/>
            </a:solidFill>
            <a:ln>
              <a:noFill/>
            </a:ln>
          </p:spPr>
        </p:sp>
        <p:sp>
          <p:nvSpPr>
            <p:cNvPr id="23" name="TextBox 23"/>
            <p:cNvSpPr txBox="1"/>
            <p:nvPr/>
          </p:nvSpPr>
          <p:spPr>
            <a:xfrm>
              <a:off x="3915515" y="4432300"/>
              <a:ext cx="1808271" cy="293370"/>
            </a:xfrm>
            <a:prstGeom prst="rect">
              <a:avLst/>
            </a:prstGeom>
            <a:noFill/>
            <a:ln>
              <a:noFill/>
            </a:ln>
          </p:spPr>
          <p:txBody>
            <a:bodyPr wrap="none" lIns="0" tIns="0" rIns="0" bIns="0" anchor="t" anchorCtr="0">
              <a:spAutoFit/>
            </a:bodyPr>
            <a:lstStyle/>
            <a:p>
              <a:pPr algn="ctr"/>
              <a:r>
                <a:rPr lang="en-US" sz="1500" dirty="0">
                  <a:solidFill>
                    <a:schemeClr val="accent1"/>
                  </a:solidFill>
                  <a:latin typeface="+mn-lt"/>
                  <a:ea typeface="+mn-ea"/>
                  <a:cs typeface="+mn-cs"/>
                </a:rPr>
                <a:t>Directional clumps</a:t>
              </a:r>
            </a:p>
          </p:txBody>
        </p:sp>
        <p:sp>
          <p:nvSpPr>
            <p:cNvPr id="24" name="Line 24"/>
            <p:cNvSpPr/>
            <p:nvPr/>
          </p:nvSpPr>
          <p:spPr>
            <a:xfrm>
              <a:off x="5962650" y="4543425"/>
              <a:ext cx="533400" cy="1"/>
            </a:xfrm>
            <a:prstGeom prst="line">
              <a:avLst/>
            </a:prstGeom>
            <a:noFill/>
            <a:ln w="28575">
              <a:solidFill>
                <a:schemeClr val="accent2"/>
              </a:solidFill>
              <a:tailEnd type="triangle" w="lg" len="lg"/>
            </a:ln>
          </p:spPr>
        </p:sp>
        <p:sp>
          <p:nvSpPr>
            <p:cNvPr id="25" name="Rectangle 25"/>
            <p:cNvSpPr/>
            <p:nvPr/>
          </p:nvSpPr>
          <p:spPr>
            <a:xfrm>
              <a:off x="6610350" y="4210050"/>
              <a:ext cx="4171950" cy="666750"/>
            </a:xfrm>
            <a:prstGeom prst="roundRect">
              <a:avLst>
                <a:gd name="adj" fmla="val 10000"/>
              </a:avLst>
            </a:prstGeom>
            <a:solidFill>
              <a:schemeClr val="accent1"/>
            </a:solidFill>
            <a:ln>
              <a:noFill/>
            </a:ln>
          </p:spPr>
        </p:sp>
        <p:sp>
          <p:nvSpPr>
            <p:cNvPr id="26" name="TextBox 26"/>
            <p:cNvSpPr txBox="1"/>
            <p:nvPr/>
          </p:nvSpPr>
          <p:spPr>
            <a:xfrm>
              <a:off x="7260312" y="4432300"/>
              <a:ext cx="2872026" cy="293370"/>
            </a:xfrm>
            <a:prstGeom prst="rect">
              <a:avLst/>
            </a:prstGeom>
            <a:noFill/>
            <a:ln>
              <a:noFill/>
            </a:ln>
          </p:spPr>
          <p:txBody>
            <a:bodyPr wrap="none" lIns="0" tIns="0" rIns="0" bIns="0" anchor="t" anchorCtr="0">
              <a:spAutoFit/>
            </a:bodyPr>
            <a:lstStyle/>
            <a:p>
              <a:pPr algn="ctr"/>
              <a:r>
                <a:rPr lang="en-US" sz="1500" dirty="0">
                  <a:solidFill>
                    <a:srgbClr val="FFFFFF"/>
                  </a:solidFill>
                  <a:latin typeface="+mn-lt"/>
                  <a:ea typeface="+mn-ea"/>
                  <a:cs typeface="+mn-cs"/>
                </a:rPr>
                <a:t>4-layer LSTM · windows 1…10</a:t>
              </a:r>
            </a:p>
          </p:txBody>
        </p:sp>
      </p:grpSp>
      <p:grpSp>
        <p:nvGrpSpPr>
          <p:cNvPr id="34" name="split-rule"/>
          <p:cNvGrpSpPr/>
          <p:nvPr/>
        </p:nvGrpSpPr>
        <p:grpSpPr>
          <a:xfrm>
            <a:off x="1000125" y="5645150"/>
            <a:ext cx="7484646" cy="344932"/>
            <a:chOff x="1000125" y="5645150"/>
            <a:chExt cx="7484646" cy="344932"/>
          </a:xfrm>
        </p:grpSpPr>
        <p:grpSp>
          <p:nvGrpSpPr>
            <p:cNvPr id="32" name="Group 32"/>
            <p:cNvGrpSpPr/>
            <p:nvPr/>
          </p:nvGrpSpPr>
          <p:grpSpPr>
            <a:xfrm>
              <a:off x="1000125" y="5645150"/>
              <a:ext cx="285751" cy="254000"/>
              <a:chOff x="1000125" y="5645150"/>
              <a:chExt cx="285751" cy="254000"/>
            </a:xfrm>
          </p:grpSpPr>
          <p:sp>
            <p:nvSpPr>
              <p:cNvPr id="28" name="Freeform 28"/>
              <p:cNvSpPr/>
              <p:nvPr/>
            </p:nvSpPr>
            <p:spPr>
              <a:xfrm>
                <a:off x="1000125" y="5772150"/>
                <a:ext cx="285751" cy="79375"/>
              </a:xfrm>
              <a:custGeom>
                <a:avLst/>
                <a:gdLst/>
                <a:ahLst/>
                <a:cxnLst/>
                <a:rect l="l" t="t" r="r" b="b"/>
                <a:pathLst>
                  <a:path w="285751" h="79375">
                    <a:moveTo>
                      <a:pt x="285751" y="79375"/>
                    </a:moveTo>
                    <a:lnTo>
                      <a:pt x="158750" y="79375"/>
                    </a:lnTo>
                    <a:lnTo>
                      <a:pt x="103188" y="0"/>
                    </a:lnTo>
                    <a:lnTo>
                      <a:pt x="0" y="0"/>
                    </a:lnTo>
                  </a:path>
                </a:pathLst>
              </a:custGeom>
              <a:noFill/>
              <a:ln w="31750">
                <a:solidFill>
                  <a:schemeClr val="accent3"/>
                </a:solidFill>
              </a:ln>
            </p:spPr>
          </p:sp>
          <p:sp>
            <p:nvSpPr>
              <p:cNvPr id="29" name="Freeform 29"/>
              <p:cNvSpPr/>
              <p:nvPr/>
            </p:nvSpPr>
            <p:spPr>
              <a:xfrm>
                <a:off x="1103392" y="5692775"/>
                <a:ext cx="182483" cy="79375"/>
              </a:xfrm>
              <a:custGeom>
                <a:avLst/>
                <a:gdLst/>
                <a:ahLst/>
                <a:cxnLst/>
                <a:rect l="l" t="t" r="r" b="b"/>
                <a:pathLst>
                  <a:path w="182483" h="79375">
                    <a:moveTo>
                      <a:pt x="182483" y="0"/>
                    </a:moveTo>
                    <a:lnTo>
                      <a:pt x="55483" y="0"/>
                    </a:lnTo>
                    <a:lnTo>
                      <a:pt x="0" y="79375"/>
                    </a:lnTo>
                  </a:path>
                </a:pathLst>
              </a:custGeom>
              <a:noFill/>
              <a:ln w="31750">
                <a:solidFill>
                  <a:schemeClr val="accent3"/>
                </a:solidFill>
              </a:ln>
            </p:spPr>
          </p:sp>
          <p:sp>
            <p:nvSpPr>
              <p:cNvPr id="30" name="Freeform 30"/>
              <p:cNvSpPr/>
              <p:nvPr/>
            </p:nvSpPr>
            <p:spPr>
              <a:xfrm>
                <a:off x="1238251" y="5645150"/>
                <a:ext cx="47625" cy="95250"/>
              </a:xfrm>
              <a:custGeom>
                <a:avLst/>
                <a:gdLst/>
                <a:ahLst/>
                <a:cxnLst/>
                <a:rect l="l" t="t" r="r" b="b"/>
                <a:pathLst>
                  <a:path w="47625" h="95250">
                    <a:moveTo>
                      <a:pt x="0" y="95250"/>
                    </a:moveTo>
                    <a:lnTo>
                      <a:pt x="47625" y="47625"/>
                    </a:lnTo>
                    <a:lnTo>
                      <a:pt x="0" y="0"/>
                    </a:lnTo>
                  </a:path>
                </a:pathLst>
              </a:custGeom>
              <a:noFill/>
              <a:ln w="31750">
                <a:solidFill>
                  <a:schemeClr val="accent3"/>
                </a:solidFill>
              </a:ln>
            </p:spPr>
          </p:sp>
          <p:sp>
            <p:nvSpPr>
              <p:cNvPr id="31" name="Freeform 31"/>
              <p:cNvSpPr/>
              <p:nvPr/>
            </p:nvSpPr>
            <p:spPr>
              <a:xfrm>
                <a:off x="1238251" y="5803900"/>
                <a:ext cx="47625" cy="95250"/>
              </a:xfrm>
              <a:custGeom>
                <a:avLst/>
                <a:gdLst/>
                <a:ahLst/>
                <a:cxnLst/>
                <a:rect l="l" t="t" r="r" b="b"/>
                <a:pathLst>
                  <a:path w="47625" h="95250">
                    <a:moveTo>
                      <a:pt x="0" y="95250"/>
                    </a:moveTo>
                    <a:lnTo>
                      <a:pt x="47625" y="47625"/>
                    </a:lnTo>
                    <a:lnTo>
                      <a:pt x="0" y="0"/>
                    </a:lnTo>
                  </a:path>
                </a:pathLst>
              </a:custGeom>
              <a:noFill/>
              <a:ln w="31750">
                <a:solidFill>
                  <a:schemeClr val="accent3"/>
                </a:solidFill>
              </a:ln>
            </p:spPr>
          </p:sp>
        </p:grpSp>
        <p:sp>
          <p:nvSpPr>
            <p:cNvPr id="33" name="TextBox 33"/>
            <p:cNvSpPr txBox="1"/>
            <p:nvPr/>
          </p:nvSpPr>
          <p:spPr>
            <a:xfrm>
              <a:off x="1496568" y="5667375"/>
              <a:ext cx="6988203" cy="322707"/>
            </a:xfrm>
            <a:prstGeom prst="rect">
              <a:avLst/>
            </a:prstGeom>
            <a:noFill/>
            <a:ln>
              <a:noFill/>
            </a:ln>
          </p:spPr>
          <p:txBody>
            <a:bodyPr wrap="none" lIns="0" tIns="0" rIns="0" bIns="0" anchor="t" anchorCtr="0">
              <a:spAutoFit/>
            </a:bodyPr>
            <a:lstStyle/>
            <a:p>
              <a:pPr algn="l"/>
              <a:r>
                <a:rPr lang="en-US" sz="1650" dirty="0">
                  <a:solidFill>
                    <a:schemeClr val="dk1"/>
                  </a:solidFill>
                  <a:latin typeface="+mn-lt"/>
                  <a:ea typeface="+mn-ea"/>
                  <a:cs typeface="+mn-cs"/>
                </a:rPr>
                <a:t>Original evaluation: stratified 80/20 random split at flow level.</a:t>
              </a:r>
            </a:p>
          </p:txBody>
        </p:sp>
      </p:grpSp>
      <p:grpSp>
        <p:nvGrpSpPr>
          <p:cNvPr id="37" name="footer"/>
          <p:cNvGrpSpPr/>
          <p:nvPr/>
        </p:nvGrpSpPr>
        <p:grpSpPr>
          <a:xfrm>
            <a:off x="947166" y="6369050"/>
            <a:ext cx="10297668" cy="205359"/>
            <a:chOff x="947166" y="6369050"/>
            <a:chExt cx="10297668" cy="205359"/>
          </a:xfrm>
        </p:grpSpPr>
        <p:sp>
          <p:nvSpPr>
            <p:cNvPr id="35" name="TextBox 35"/>
            <p:cNvSpPr txBox="1"/>
            <p:nvPr/>
          </p:nvSpPr>
          <p:spPr>
            <a:xfrm>
              <a:off x="947166" y="6369050"/>
              <a:ext cx="2593257" cy="205359"/>
            </a:xfrm>
            <a:prstGeom prst="rect">
              <a:avLst/>
            </a:prstGeom>
            <a:noFill/>
            <a:ln>
              <a:noFill/>
            </a:ln>
          </p:spPr>
          <p:txBody>
            <a:bodyPr wrap="none" lIns="0" tIns="0" rIns="0" bIns="0" anchor="t" anchorCtr="0">
              <a:spAutoFit/>
            </a:bodyPr>
            <a:lstStyle/>
            <a:p>
              <a:pPr algn="l"/>
              <a:r>
                <a:rPr lang="en-US" sz="1050" dirty="0">
                  <a:solidFill>
                    <a:schemeClr val="accent5"/>
                  </a:solidFill>
                  <a:latin typeface="+mn-lt"/>
                  <a:ea typeface="+mn-ea"/>
                  <a:cs typeface="+mn-cs"/>
                </a:rPr>
                <a:t>Source: original paper, Sections IV–V</a:t>
              </a:r>
            </a:p>
          </p:txBody>
        </p:sp>
        <p:sp>
          <p:nvSpPr>
            <p:cNvPr id="36" name="TextBox 36"/>
            <p:cNvSpPr txBox="1"/>
            <p:nvPr/>
          </p:nvSpPr>
          <p:spPr>
            <a:xfrm>
              <a:off x="11078680" y="6369050"/>
              <a:ext cx="166154"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Consolas"/>
                  <a:ea typeface="Consolas"/>
                  <a:cs typeface="Consolas"/>
                </a:rPr>
                <a:t>06</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ledger-rule"/>
          <p:cNvSpPr/>
          <p:nvPr/>
        </p:nvSpPr>
        <p:spPr>
          <a:xfrm>
            <a:off x="609600" y="400050"/>
            <a:ext cx="57150" cy="6000750"/>
          </a:xfrm>
          <a:prstGeom prst="rect">
            <a:avLst/>
          </a:prstGeom>
          <a:solidFill>
            <a:schemeClr val="accent2"/>
          </a:solidFill>
          <a:ln>
            <a:noFill/>
          </a:ln>
        </p:spPr>
      </p:sp>
      <p:grpSp>
        <p:nvGrpSpPr>
          <p:cNvPr id="5" name="heading"/>
          <p:cNvGrpSpPr/>
          <p:nvPr/>
        </p:nvGrpSpPr>
        <p:grpSpPr>
          <a:xfrm>
            <a:off x="936498" y="546100"/>
            <a:ext cx="10772304" cy="946277"/>
            <a:chOff x="936498" y="546100"/>
            <a:chExt cx="10772304" cy="946277"/>
          </a:xfrm>
        </p:grpSpPr>
        <p:sp>
          <p:nvSpPr>
            <p:cNvPr id="3" name="TextBox 3"/>
            <p:cNvSpPr txBox="1"/>
            <p:nvPr/>
          </p:nvSpPr>
          <p:spPr>
            <a:xfrm>
              <a:off x="946404" y="546100"/>
              <a:ext cx="2756002" cy="234696"/>
            </a:xfrm>
            <a:prstGeom prst="rect">
              <a:avLst/>
            </a:prstGeom>
            <a:noFill/>
            <a:ln>
              <a:noFill/>
            </a:ln>
          </p:spPr>
          <p:txBody>
            <a:bodyPr wrap="none" lIns="0" tIns="0" rIns="0" bIns="0" anchor="t" anchorCtr="0">
              <a:spAutoFit/>
            </a:bodyPr>
            <a:lstStyle/>
            <a:p>
              <a:pPr algn="l"/>
              <a:r>
                <a:rPr lang="en-US" sz="1200" spc="150" dirty="0">
                  <a:solidFill>
                    <a:schemeClr val="accent2"/>
                  </a:solidFill>
                  <a:latin typeface="Consolas"/>
                  <a:ea typeface="Consolas"/>
                  <a:cs typeface="Consolas"/>
                </a:rPr>
                <a:t>06 · STATISTICAL RESULTS</a:t>
              </a:r>
            </a:p>
          </p:txBody>
        </p:sp>
        <p:sp>
          <p:nvSpPr>
            <p:cNvPr id="4" name="TextBox 4"/>
            <p:cNvSpPr txBox="1"/>
            <p:nvPr/>
          </p:nvSpPr>
          <p:spPr>
            <a:xfrm>
              <a:off x="936498" y="876300"/>
              <a:ext cx="10772304" cy="616077"/>
            </a:xfrm>
            <a:prstGeom prst="rect">
              <a:avLst/>
            </a:prstGeom>
            <a:noFill/>
            <a:ln>
              <a:noFill/>
            </a:ln>
          </p:spPr>
          <p:txBody>
            <a:bodyPr wrap="none" lIns="0" tIns="0" rIns="0" bIns="0" anchor="t" anchorCtr="0">
              <a:spAutoFit/>
            </a:bodyPr>
            <a:lstStyle/>
            <a:p>
              <a:pPr algn="l"/>
              <a:r>
                <a:rPr lang="en-US" sz="3150" b="1" dirty="0">
                  <a:solidFill>
                    <a:schemeClr val="accent1"/>
                  </a:solidFill>
                  <a:latin typeface="+mj-lt"/>
                  <a:ea typeface="+mj-ea"/>
                  <a:cs typeface="+mj-cs"/>
                </a:rPr>
                <a:t>Flow-summary models reproduce near-perfect F1</a:t>
              </a:r>
            </a:p>
          </p:txBody>
        </p:sp>
      </p:grpSp>
      <p:grpSp>
        <p:nvGrpSpPr>
          <p:cNvPr id="11" name="statistical-f1"/>
          <p:cNvGrpSpPr/>
          <p:nvPr/>
        </p:nvGrpSpPr>
        <p:grpSpPr>
          <a:xfrm>
            <a:off x="-5810250" y="1790700"/>
            <a:ext cx="14306550" cy="3714750"/>
            <a:chOff x="-5810250" y="1790700"/>
            <a:chExt cx="14306550" cy="3714750"/>
          </a:xfrm>
        </p:grpSpPr>
        <p:graphicFrame>
          <p:nvGraphicFramePr>
            <p:cNvPr id="6" name="statistical-f1"/>
            <p:cNvGraphicFramePr>
              <a:graphicFrameLocks noGrp="1"/>
            </p:cNvGraphicFramePr>
            <p:nvPr/>
          </p:nvGraphicFramePr>
          <p:xfrm>
            <a:off x="952500" y="1790700"/>
            <a:ext cx="7239000" cy="3714750"/>
          </p:xfrm>
          <a:graphic>
            <a:graphicData uri="http://schemas.openxmlformats.org/drawingml/2006/chart">
              <c:chart xmlns:c="http://schemas.openxmlformats.org/drawingml/2006/chart" r:id="rId2"/>
            </a:graphicData>
          </a:graphic>
        </p:graphicFrame>
        <p:sp>
          <p:nvSpPr>
            <p:cNvPr id="7" name="Chart Note 7"/>
            <p:cNvSpPr txBox="1"/>
            <p:nvPr/>
          </p:nvSpPr>
          <p:spPr>
            <a:xfrm>
              <a:off x="1257300" y="1953578"/>
              <a:ext cx="7239000" cy="213360"/>
            </a:xfrm>
            <a:prstGeom prst="rect">
              <a:avLst/>
            </a:prstGeom>
            <a:noFill/>
            <a:ln>
              <a:noFill/>
            </a:ln>
          </p:spPr>
          <p:txBody>
            <a:bodyPr wrap="square" lIns="0" tIns="0" rIns="0" bIns="0" anchor="b" anchorCtr="0"/>
            <a:lstStyle/>
            <a:p>
              <a:pPr algn="l"/>
              <a:r>
                <a:rPr lang="en-US" sz="1050">
                  <a:solidFill>
                    <a:srgbClr val="172033"/>
                  </a:solidFill>
                  <a:latin typeface="Aptos"/>
                  <a:ea typeface="Microsoft YaHei"/>
                  <a:cs typeface="Aptos"/>
                </a:rPr>
                <a:t>F1 score · higher is better</a:t>
              </a:r>
            </a:p>
          </p:txBody>
        </p:sp>
        <p:sp>
          <p:nvSpPr>
            <p:cNvPr id="8" name="Chart Note 8"/>
            <p:cNvSpPr txBox="1"/>
            <p:nvPr/>
          </p:nvSpPr>
          <p:spPr>
            <a:xfrm>
              <a:off x="-5810250" y="2334578"/>
              <a:ext cx="7239000" cy="213360"/>
            </a:xfrm>
            <a:prstGeom prst="rect">
              <a:avLst/>
            </a:prstGeom>
            <a:noFill/>
            <a:ln>
              <a:noFill/>
            </a:ln>
          </p:spPr>
          <p:txBody>
            <a:bodyPr wrap="square" lIns="0" tIns="0" rIns="0" bIns="0" anchor="b" anchorCtr="0"/>
            <a:lstStyle/>
            <a:p>
              <a:pPr algn="r"/>
              <a:r>
                <a:rPr lang="en-US" sz="1050">
                  <a:solidFill>
                    <a:srgbClr val="172033"/>
                  </a:solidFill>
                  <a:latin typeface="Aptos"/>
                  <a:ea typeface="Microsoft YaHei"/>
                  <a:cs typeface="Aptos"/>
                </a:rPr>
                <a:t>1.000</a:t>
              </a:r>
            </a:p>
          </p:txBody>
        </p:sp>
        <p:sp>
          <p:nvSpPr>
            <p:cNvPr id="9" name="Chart Note 9"/>
            <p:cNvSpPr txBox="1"/>
            <p:nvPr/>
          </p:nvSpPr>
          <p:spPr>
            <a:xfrm>
              <a:off x="-5810250" y="3306128"/>
              <a:ext cx="7239000" cy="213360"/>
            </a:xfrm>
            <a:prstGeom prst="rect">
              <a:avLst/>
            </a:prstGeom>
            <a:noFill/>
            <a:ln>
              <a:noFill/>
            </a:ln>
          </p:spPr>
          <p:txBody>
            <a:bodyPr wrap="square" lIns="0" tIns="0" rIns="0" bIns="0" anchor="b" anchorCtr="0"/>
            <a:lstStyle/>
            <a:p>
              <a:pPr algn="r"/>
              <a:r>
                <a:rPr lang="en-US" sz="1050">
                  <a:solidFill>
                    <a:srgbClr val="172033"/>
                  </a:solidFill>
                  <a:latin typeface="Aptos"/>
                  <a:ea typeface="Microsoft YaHei"/>
                  <a:cs typeface="Aptos"/>
                </a:rPr>
                <a:t>0.990</a:t>
              </a:r>
            </a:p>
          </p:txBody>
        </p:sp>
        <p:sp>
          <p:nvSpPr>
            <p:cNvPr id="10" name="Chart Note 10"/>
            <p:cNvSpPr txBox="1"/>
            <p:nvPr/>
          </p:nvSpPr>
          <p:spPr>
            <a:xfrm>
              <a:off x="-5810250" y="4811078"/>
              <a:ext cx="7239000" cy="213360"/>
            </a:xfrm>
            <a:prstGeom prst="rect">
              <a:avLst/>
            </a:prstGeom>
            <a:noFill/>
            <a:ln>
              <a:noFill/>
            </a:ln>
          </p:spPr>
          <p:txBody>
            <a:bodyPr wrap="square" lIns="0" tIns="0" rIns="0" bIns="0" anchor="b" anchorCtr="0"/>
            <a:lstStyle/>
            <a:p>
              <a:pPr algn="r"/>
              <a:r>
                <a:rPr lang="en-US" sz="1050">
                  <a:solidFill>
                    <a:srgbClr val="172033"/>
                  </a:solidFill>
                  <a:latin typeface="Aptos"/>
                  <a:ea typeface="Microsoft YaHei"/>
                  <a:cs typeface="Aptos"/>
                </a:rPr>
                <a:t>0.980</a:t>
              </a:r>
            </a:p>
          </p:txBody>
        </p:sp>
      </p:grpSp>
      <p:grpSp>
        <p:nvGrpSpPr>
          <p:cNvPr id="21" name="interpretation"/>
          <p:cNvGrpSpPr/>
          <p:nvPr/>
        </p:nvGrpSpPr>
        <p:grpSpPr>
          <a:xfrm>
            <a:off x="8572500" y="1790700"/>
            <a:ext cx="2667000" cy="3714750"/>
            <a:chOff x="8572500" y="1790700"/>
            <a:chExt cx="2667000" cy="3714750"/>
          </a:xfrm>
        </p:grpSpPr>
        <p:sp>
          <p:nvSpPr>
            <p:cNvPr id="12" name="Rectangle 12"/>
            <p:cNvSpPr/>
            <p:nvPr/>
          </p:nvSpPr>
          <p:spPr>
            <a:xfrm>
              <a:off x="8572500" y="1790700"/>
              <a:ext cx="2667000" cy="3714750"/>
            </a:xfrm>
            <a:prstGeom prst="roundRect">
              <a:avLst>
                <a:gd name="adj" fmla="val 3571"/>
              </a:avLst>
            </a:prstGeom>
            <a:solidFill>
              <a:schemeClr val="accent1"/>
            </a:solidFill>
            <a:ln>
              <a:noFill/>
            </a:ln>
          </p:spPr>
        </p:sp>
        <p:sp>
          <p:nvSpPr>
            <p:cNvPr id="13" name="TextBox 13"/>
            <p:cNvSpPr txBox="1"/>
            <p:nvPr/>
          </p:nvSpPr>
          <p:spPr>
            <a:xfrm>
              <a:off x="8851392" y="2114550"/>
              <a:ext cx="1060247" cy="264033"/>
            </a:xfrm>
            <a:prstGeom prst="rect">
              <a:avLst/>
            </a:prstGeom>
            <a:noFill/>
            <a:ln>
              <a:noFill/>
            </a:ln>
          </p:spPr>
          <p:txBody>
            <a:bodyPr wrap="none" lIns="0" tIns="0" rIns="0" bIns="0" anchor="t" anchorCtr="0">
              <a:spAutoFit/>
            </a:bodyPr>
            <a:lstStyle/>
            <a:p>
              <a:pPr algn="l"/>
              <a:r>
                <a:rPr lang="en-US" sz="1350" dirty="0">
                  <a:solidFill>
                    <a:srgbClr val="C9EAF0"/>
                  </a:solidFill>
                  <a:latin typeface="+mn-lt"/>
                  <a:ea typeface="+mn-ea"/>
                  <a:cs typeface="+mn-cs"/>
                </a:rPr>
                <a:t>PROJECT RF</a:t>
              </a:r>
            </a:p>
          </p:txBody>
        </p:sp>
        <p:sp>
          <p:nvSpPr>
            <p:cNvPr id="14" name="TextBox 14"/>
            <p:cNvSpPr txBox="1"/>
            <p:nvPr/>
          </p:nvSpPr>
          <p:spPr>
            <a:xfrm>
              <a:off x="8842248" y="2533650"/>
              <a:ext cx="1431379" cy="616077"/>
            </a:xfrm>
            <a:prstGeom prst="rect">
              <a:avLst/>
            </a:prstGeom>
            <a:noFill/>
            <a:ln>
              <a:noFill/>
            </a:ln>
          </p:spPr>
          <p:txBody>
            <a:bodyPr wrap="none" lIns="0" tIns="0" rIns="0" bIns="0" anchor="t" anchorCtr="0">
              <a:spAutoFit/>
            </a:bodyPr>
            <a:lstStyle/>
            <a:p>
              <a:pPr algn="l"/>
              <a:r>
                <a:rPr lang="en-US" sz="3150" b="1" dirty="0">
                  <a:solidFill>
                    <a:srgbClr val="FFFFFF"/>
                  </a:solidFill>
                  <a:latin typeface="Consolas"/>
                  <a:ea typeface="Consolas"/>
                  <a:cs typeface="Consolas"/>
                </a:rPr>
                <a:t>0.9965</a:t>
              </a:r>
            </a:p>
          </p:txBody>
        </p:sp>
        <p:sp>
          <p:nvSpPr>
            <p:cNvPr id="15" name="TextBox 15"/>
            <p:cNvSpPr txBox="1"/>
            <p:nvPr/>
          </p:nvSpPr>
          <p:spPr>
            <a:xfrm>
              <a:off x="8851392" y="3048000"/>
              <a:ext cx="939546" cy="264033"/>
            </a:xfrm>
            <a:prstGeom prst="rect">
              <a:avLst/>
            </a:prstGeom>
            <a:noFill/>
            <a:ln>
              <a:noFill/>
            </a:ln>
          </p:spPr>
          <p:txBody>
            <a:bodyPr wrap="none" lIns="0" tIns="0" rIns="0" bIns="0" anchor="t" anchorCtr="0">
              <a:spAutoFit/>
            </a:bodyPr>
            <a:lstStyle/>
            <a:p>
              <a:pPr algn="l"/>
              <a:r>
                <a:rPr lang="en-US" sz="1350" dirty="0">
                  <a:solidFill>
                    <a:srgbClr val="FFFFFF"/>
                  </a:solidFill>
                  <a:latin typeface="+mn-lt"/>
                  <a:ea typeface="+mn-ea"/>
                  <a:cs typeface="+mn-cs"/>
                </a:rPr>
                <a:t>Layer 1 F1</a:t>
              </a:r>
            </a:p>
          </p:txBody>
        </p:sp>
        <p:sp>
          <p:nvSpPr>
            <p:cNvPr id="16" name="TextBox 16"/>
            <p:cNvSpPr txBox="1"/>
            <p:nvPr/>
          </p:nvSpPr>
          <p:spPr>
            <a:xfrm>
              <a:off x="8842248" y="3562350"/>
              <a:ext cx="1431379" cy="616077"/>
            </a:xfrm>
            <a:prstGeom prst="rect">
              <a:avLst/>
            </a:prstGeom>
            <a:noFill/>
            <a:ln>
              <a:noFill/>
            </a:ln>
          </p:spPr>
          <p:txBody>
            <a:bodyPr wrap="none" lIns="0" tIns="0" rIns="0" bIns="0" anchor="t" anchorCtr="0">
              <a:spAutoFit/>
            </a:bodyPr>
            <a:lstStyle/>
            <a:p>
              <a:pPr algn="l"/>
              <a:r>
                <a:rPr lang="en-US" sz="3150" b="1" dirty="0">
                  <a:solidFill>
                    <a:srgbClr val="FFFFFF"/>
                  </a:solidFill>
                  <a:latin typeface="Consolas"/>
                  <a:ea typeface="Consolas"/>
                  <a:cs typeface="Consolas"/>
                </a:rPr>
                <a:t>0.9997</a:t>
              </a:r>
            </a:p>
          </p:txBody>
        </p:sp>
        <p:sp>
          <p:nvSpPr>
            <p:cNvPr id="17" name="TextBox 17"/>
            <p:cNvSpPr txBox="1"/>
            <p:nvPr/>
          </p:nvSpPr>
          <p:spPr>
            <a:xfrm>
              <a:off x="8851392" y="4076700"/>
              <a:ext cx="939546" cy="264033"/>
            </a:xfrm>
            <a:prstGeom prst="rect">
              <a:avLst/>
            </a:prstGeom>
            <a:noFill/>
            <a:ln>
              <a:noFill/>
            </a:ln>
          </p:spPr>
          <p:txBody>
            <a:bodyPr wrap="none" lIns="0" tIns="0" rIns="0" bIns="0" anchor="t" anchorCtr="0">
              <a:spAutoFit/>
            </a:bodyPr>
            <a:lstStyle/>
            <a:p>
              <a:pPr algn="l"/>
              <a:r>
                <a:rPr lang="en-US" sz="1350" dirty="0">
                  <a:solidFill>
                    <a:srgbClr val="FFFFFF"/>
                  </a:solidFill>
                  <a:latin typeface="+mn-lt"/>
                  <a:ea typeface="+mn-ea"/>
                  <a:cs typeface="+mn-cs"/>
                </a:rPr>
                <a:t>Layer 2 F1</a:t>
              </a:r>
            </a:p>
          </p:txBody>
        </p:sp>
        <p:sp>
          <p:nvSpPr>
            <p:cNvPr id="18" name="Line 18"/>
            <p:cNvSpPr/>
            <p:nvPr/>
          </p:nvSpPr>
          <p:spPr>
            <a:xfrm>
              <a:off x="8858250" y="4572000"/>
              <a:ext cx="2095500" cy="9525"/>
            </a:xfrm>
            <a:custGeom>
              <a:avLst/>
              <a:gdLst/>
              <a:ahLst/>
              <a:cxnLst/>
              <a:rect l="l" t="t" r="r" b="b"/>
              <a:pathLst>
                <a:path w="2095500" h="9525">
                  <a:moveTo>
                    <a:pt x="0" y="0"/>
                  </a:moveTo>
                  <a:lnTo>
                    <a:pt x="2095500" y="0"/>
                  </a:lnTo>
                </a:path>
              </a:pathLst>
            </a:custGeom>
            <a:noFill/>
            <a:ln w="9525">
              <a:solidFill>
                <a:srgbClr val="5B6875"/>
              </a:solidFill>
            </a:ln>
          </p:spPr>
        </p:sp>
        <p:sp>
          <p:nvSpPr>
            <p:cNvPr id="19" name="TextBox 19"/>
            <p:cNvSpPr txBox="1"/>
            <p:nvPr/>
          </p:nvSpPr>
          <p:spPr>
            <a:xfrm>
              <a:off x="8852154" y="4794250"/>
              <a:ext cx="2174353" cy="234696"/>
            </a:xfrm>
            <a:prstGeom prst="rect">
              <a:avLst/>
            </a:prstGeom>
            <a:noFill/>
            <a:ln>
              <a:noFill/>
            </a:ln>
          </p:spPr>
          <p:txBody>
            <a:bodyPr wrap="none" lIns="0" tIns="0" rIns="0" bIns="0" anchor="t" anchorCtr="0">
              <a:spAutoFit/>
            </a:bodyPr>
            <a:lstStyle/>
            <a:p>
              <a:pPr algn="l"/>
              <a:r>
                <a:rPr lang="en-US" sz="1200" dirty="0">
                  <a:solidFill>
                    <a:srgbClr val="C9EAF0"/>
                  </a:solidFill>
                  <a:latin typeface="+mn-lt"/>
                  <a:ea typeface="+mn-ea"/>
                  <a:cs typeface="+mn-cs"/>
                </a:rPr>
                <a:t>Same flow-random protocol</a:t>
              </a:r>
            </a:p>
          </p:txBody>
        </p:sp>
        <p:sp>
          <p:nvSpPr>
            <p:cNvPr id="20" name="TextBox 20"/>
            <p:cNvSpPr txBox="1"/>
            <p:nvPr/>
          </p:nvSpPr>
          <p:spPr>
            <a:xfrm>
              <a:off x="8852154" y="5041900"/>
              <a:ext cx="1616803" cy="234696"/>
            </a:xfrm>
            <a:prstGeom prst="rect">
              <a:avLst/>
            </a:prstGeom>
            <a:noFill/>
            <a:ln>
              <a:noFill/>
            </a:ln>
          </p:spPr>
          <p:txBody>
            <a:bodyPr wrap="none" lIns="0" tIns="0" rIns="0" bIns="0" anchor="t" anchorCtr="0">
              <a:spAutoFit/>
            </a:bodyPr>
            <a:lstStyle/>
            <a:p>
              <a:pPr algn="l"/>
              <a:r>
                <a:rPr lang="en-US" sz="1200" dirty="0">
                  <a:solidFill>
                    <a:srgbClr val="C9EAF0"/>
                  </a:solidFill>
                  <a:latin typeface="+mn-lt"/>
                  <a:ea typeface="+mn-ea"/>
                  <a:cs typeface="+mn-cs"/>
                </a:rPr>
                <a:t>Same leakage caveat</a:t>
              </a:r>
            </a:p>
          </p:txBody>
        </p:sp>
      </p:grpSp>
      <p:grpSp>
        <p:nvGrpSpPr>
          <p:cNvPr id="23" name="takeaway"/>
          <p:cNvGrpSpPr/>
          <p:nvPr/>
        </p:nvGrpSpPr>
        <p:grpSpPr>
          <a:xfrm>
            <a:off x="944118" y="5848350"/>
            <a:ext cx="7312676" cy="322707"/>
            <a:chOff x="944118" y="5848350"/>
            <a:chExt cx="7312676" cy="322707"/>
          </a:xfrm>
        </p:grpSpPr>
        <p:sp>
          <p:nvSpPr>
            <p:cNvPr id="22" name="TextBox 22"/>
            <p:cNvSpPr txBox="1"/>
            <p:nvPr/>
          </p:nvSpPr>
          <p:spPr>
            <a:xfrm>
              <a:off x="944118" y="5848350"/>
              <a:ext cx="7312676"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Replication succeeded—but protocol realism remains unresolved.</a:t>
              </a:r>
            </a:p>
          </p:txBody>
        </p:sp>
      </p:grpSp>
      <p:grpSp>
        <p:nvGrpSpPr>
          <p:cNvPr id="26" name="footer"/>
          <p:cNvGrpSpPr/>
          <p:nvPr/>
        </p:nvGrpSpPr>
        <p:grpSpPr>
          <a:xfrm>
            <a:off x="947166" y="6369050"/>
            <a:ext cx="10297668" cy="205359"/>
            <a:chOff x="947166" y="6369050"/>
            <a:chExt cx="10297668" cy="205359"/>
          </a:xfrm>
        </p:grpSpPr>
        <p:sp>
          <p:nvSpPr>
            <p:cNvPr id="24" name="TextBox 24"/>
            <p:cNvSpPr txBox="1"/>
            <p:nvPr/>
          </p:nvSpPr>
          <p:spPr>
            <a:xfrm>
              <a:off x="947166" y="6369050"/>
              <a:ext cx="5597346" cy="205359"/>
            </a:xfrm>
            <a:prstGeom prst="rect">
              <a:avLst/>
            </a:prstGeom>
            <a:noFill/>
            <a:ln>
              <a:noFill/>
            </a:ln>
          </p:spPr>
          <p:txBody>
            <a:bodyPr wrap="none" lIns="0" tIns="0" rIns="0" bIns="0" anchor="t" anchorCtr="0">
              <a:spAutoFit/>
            </a:bodyPr>
            <a:lstStyle/>
            <a:p>
              <a:pPr algn="l"/>
              <a:r>
                <a:rPr lang="en-US" sz="1050" dirty="0">
                  <a:solidFill>
                    <a:schemeClr val="accent5"/>
                  </a:solidFill>
                  <a:latin typeface="+mn-lt"/>
                  <a:ea typeface="+mn-ea"/>
                  <a:cs typeface="+mn-cs"/>
                </a:rPr>
                <a:t>Sources: Paper Tables III–IV; reports/paper_comparison/statistical_models.csv</a:t>
              </a:r>
            </a:p>
          </p:txBody>
        </p:sp>
        <p:sp>
          <p:nvSpPr>
            <p:cNvPr id="25" name="TextBox 25"/>
            <p:cNvSpPr txBox="1"/>
            <p:nvPr/>
          </p:nvSpPr>
          <p:spPr>
            <a:xfrm>
              <a:off x="11078680" y="6369050"/>
              <a:ext cx="166154"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Consolas"/>
                  <a:ea typeface="Consolas"/>
                  <a:cs typeface="Consolas"/>
                </a:rPr>
                <a:t>07</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ledger-rule"/>
          <p:cNvSpPr/>
          <p:nvPr/>
        </p:nvSpPr>
        <p:spPr>
          <a:xfrm>
            <a:off x="609600" y="400050"/>
            <a:ext cx="57150" cy="6000750"/>
          </a:xfrm>
          <a:prstGeom prst="rect">
            <a:avLst/>
          </a:prstGeom>
          <a:solidFill>
            <a:schemeClr val="accent2"/>
          </a:solidFill>
          <a:ln>
            <a:noFill/>
          </a:ln>
        </p:spPr>
      </p:sp>
      <p:grpSp>
        <p:nvGrpSpPr>
          <p:cNvPr id="5" name="heading"/>
          <p:cNvGrpSpPr/>
          <p:nvPr/>
        </p:nvGrpSpPr>
        <p:grpSpPr>
          <a:xfrm>
            <a:off x="936498" y="546100"/>
            <a:ext cx="10465370" cy="946277"/>
            <a:chOff x="936498" y="546100"/>
            <a:chExt cx="10465370" cy="946277"/>
          </a:xfrm>
        </p:grpSpPr>
        <p:sp>
          <p:nvSpPr>
            <p:cNvPr id="3" name="TextBox 3"/>
            <p:cNvSpPr txBox="1"/>
            <p:nvPr/>
          </p:nvSpPr>
          <p:spPr>
            <a:xfrm>
              <a:off x="946404" y="546100"/>
              <a:ext cx="3447288" cy="234696"/>
            </a:xfrm>
            <a:prstGeom prst="rect">
              <a:avLst/>
            </a:prstGeom>
            <a:noFill/>
            <a:ln>
              <a:noFill/>
            </a:ln>
          </p:spPr>
          <p:txBody>
            <a:bodyPr wrap="none" lIns="0" tIns="0" rIns="0" bIns="0" anchor="t" anchorCtr="0">
              <a:spAutoFit/>
            </a:bodyPr>
            <a:lstStyle/>
            <a:p>
              <a:pPr algn="l"/>
              <a:r>
                <a:rPr lang="en-US" sz="1200" spc="150" dirty="0">
                  <a:solidFill>
                    <a:schemeClr val="accent2"/>
                  </a:solidFill>
                  <a:latin typeface="Consolas"/>
                  <a:ea typeface="Consolas"/>
                  <a:cs typeface="Consolas"/>
                </a:rPr>
                <a:t>07 · PAPER TIME-SERIES RESULTS</a:t>
              </a:r>
            </a:p>
          </p:txBody>
        </p:sp>
        <p:sp>
          <p:nvSpPr>
            <p:cNvPr id="4" name="TextBox 4"/>
            <p:cNvSpPr txBox="1"/>
            <p:nvPr/>
          </p:nvSpPr>
          <p:spPr>
            <a:xfrm>
              <a:off x="936498" y="876300"/>
              <a:ext cx="10465370" cy="616077"/>
            </a:xfrm>
            <a:prstGeom prst="rect">
              <a:avLst/>
            </a:prstGeom>
            <a:noFill/>
            <a:ln>
              <a:noFill/>
            </a:ln>
          </p:spPr>
          <p:txBody>
            <a:bodyPr wrap="none" lIns="0" tIns="0" rIns="0" bIns="0" anchor="t" anchorCtr="0">
              <a:spAutoFit/>
            </a:bodyPr>
            <a:lstStyle/>
            <a:p>
              <a:pPr algn="l"/>
              <a:r>
                <a:rPr lang="en-US" sz="3150" b="1" dirty="0">
                  <a:solidFill>
                    <a:schemeClr val="accent1"/>
                  </a:solidFill>
                  <a:latin typeface="+mj-lt"/>
                  <a:ea typeface="+mj-ea"/>
                  <a:cs typeface="+mj-cs"/>
                </a:rPr>
                <a:t>A few clumps recover most discriminative signal</a:t>
              </a:r>
            </a:p>
          </p:txBody>
        </p:sp>
      </p:grpSp>
      <p:grpSp>
        <p:nvGrpSpPr>
          <p:cNvPr id="11" name="paper-window-sweep"/>
          <p:cNvGrpSpPr/>
          <p:nvPr/>
        </p:nvGrpSpPr>
        <p:grpSpPr>
          <a:xfrm>
            <a:off x="-6381750" y="1771650"/>
            <a:ext cx="15449550" cy="3829050"/>
            <a:chOff x="-6381750" y="1771650"/>
            <a:chExt cx="15449550" cy="3829050"/>
          </a:xfrm>
        </p:grpSpPr>
        <p:graphicFrame>
          <p:nvGraphicFramePr>
            <p:cNvPr id="6" name="paper-window-sweep"/>
            <p:cNvGraphicFramePr>
              <a:graphicFrameLocks noGrp="1"/>
            </p:cNvGraphicFramePr>
            <p:nvPr/>
          </p:nvGraphicFramePr>
          <p:xfrm>
            <a:off x="952500" y="1771650"/>
            <a:ext cx="7810500" cy="3829050"/>
          </p:xfrm>
          <a:graphic>
            <a:graphicData uri="http://schemas.openxmlformats.org/drawingml/2006/chart">
              <c:chart xmlns:c="http://schemas.openxmlformats.org/drawingml/2006/chart" r:id="rId2"/>
            </a:graphicData>
          </a:graphic>
        </p:graphicFrame>
        <p:sp>
          <p:nvSpPr>
            <p:cNvPr id="7" name="Chart Note 7"/>
            <p:cNvSpPr txBox="1"/>
            <p:nvPr/>
          </p:nvSpPr>
          <p:spPr>
            <a:xfrm>
              <a:off x="1257300" y="1915478"/>
              <a:ext cx="7810500" cy="213360"/>
            </a:xfrm>
            <a:prstGeom prst="rect">
              <a:avLst/>
            </a:prstGeom>
            <a:noFill/>
            <a:ln>
              <a:noFill/>
            </a:ln>
          </p:spPr>
          <p:txBody>
            <a:bodyPr wrap="square" lIns="0" tIns="0" rIns="0" bIns="0" anchor="b" anchorCtr="0"/>
            <a:lstStyle/>
            <a:p>
              <a:pPr algn="l"/>
              <a:r>
                <a:rPr lang="en-US" sz="1050">
                  <a:solidFill>
                    <a:srgbClr val="5B6875"/>
                  </a:solidFill>
                  <a:latin typeface="Aptos"/>
                  <a:ea typeface="Microsoft YaHei"/>
                  <a:cs typeface="Aptos"/>
                </a:rPr>
                <a:t>F1 by number of observed clumps</a:t>
              </a:r>
            </a:p>
          </p:txBody>
        </p:sp>
        <p:sp>
          <p:nvSpPr>
            <p:cNvPr id="8" name="Chart Note 8"/>
            <p:cNvSpPr txBox="1"/>
            <p:nvPr/>
          </p:nvSpPr>
          <p:spPr>
            <a:xfrm>
              <a:off x="-6381750" y="2258378"/>
              <a:ext cx="7810500" cy="213360"/>
            </a:xfrm>
            <a:prstGeom prst="rect">
              <a:avLst/>
            </a:prstGeom>
            <a:noFill/>
            <a:ln>
              <a:noFill/>
            </a:ln>
          </p:spPr>
          <p:txBody>
            <a:bodyPr wrap="square" lIns="0" tIns="0" rIns="0" bIns="0" anchor="b" anchorCtr="0"/>
            <a:lstStyle/>
            <a:p>
              <a:pPr algn="r"/>
              <a:r>
                <a:rPr lang="en-US" sz="1050">
                  <a:solidFill>
                    <a:srgbClr val="5B6875"/>
                  </a:solidFill>
                  <a:latin typeface="Aptos"/>
                  <a:ea typeface="Microsoft YaHei"/>
                  <a:cs typeface="Aptos"/>
                </a:rPr>
                <a:t>1.00</a:t>
              </a:r>
            </a:p>
          </p:txBody>
        </p:sp>
        <p:sp>
          <p:nvSpPr>
            <p:cNvPr id="9" name="Chart Note 9"/>
            <p:cNvSpPr txBox="1"/>
            <p:nvPr/>
          </p:nvSpPr>
          <p:spPr>
            <a:xfrm>
              <a:off x="-6381750" y="3287078"/>
              <a:ext cx="7810500" cy="213360"/>
            </a:xfrm>
            <a:prstGeom prst="rect">
              <a:avLst/>
            </a:prstGeom>
            <a:noFill/>
            <a:ln>
              <a:noFill/>
            </a:ln>
          </p:spPr>
          <p:txBody>
            <a:bodyPr wrap="square" lIns="0" tIns="0" rIns="0" bIns="0" anchor="b" anchorCtr="0"/>
            <a:lstStyle/>
            <a:p>
              <a:pPr algn="r"/>
              <a:r>
                <a:rPr lang="en-US" sz="1050">
                  <a:solidFill>
                    <a:srgbClr val="5B6875"/>
                  </a:solidFill>
                  <a:latin typeface="Aptos"/>
                  <a:ea typeface="Microsoft YaHei"/>
                  <a:cs typeface="Aptos"/>
                </a:rPr>
                <a:t>0.90</a:t>
              </a:r>
            </a:p>
          </p:txBody>
        </p:sp>
        <p:sp>
          <p:nvSpPr>
            <p:cNvPr id="10" name="Chart Note 10"/>
            <p:cNvSpPr txBox="1"/>
            <p:nvPr/>
          </p:nvSpPr>
          <p:spPr>
            <a:xfrm>
              <a:off x="-6381750" y="4315778"/>
              <a:ext cx="7810500" cy="213360"/>
            </a:xfrm>
            <a:prstGeom prst="rect">
              <a:avLst/>
            </a:prstGeom>
            <a:noFill/>
            <a:ln>
              <a:noFill/>
            </a:ln>
          </p:spPr>
          <p:txBody>
            <a:bodyPr wrap="square" lIns="0" tIns="0" rIns="0" bIns="0" anchor="b" anchorCtr="0"/>
            <a:lstStyle/>
            <a:p>
              <a:pPr algn="r"/>
              <a:r>
                <a:rPr lang="en-US" sz="1050">
                  <a:solidFill>
                    <a:srgbClr val="5B6875"/>
                  </a:solidFill>
                  <a:latin typeface="Aptos"/>
                  <a:ea typeface="Microsoft YaHei"/>
                  <a:cs typeface="Aptos"/>
                </a:rPr>
                <a:t>0.80</a:t>
              </a:r>
            </a:p>
          </p:txBody>
        </p:sp>
      </p:grpSp>
      <p:grpSp>
        <p:nvGrpSpPr>
          <p:cNvPr id="23" name="latency-callouts"/>
          <p:cNvGrpSpPr/>
          <p:nvPr/>
        </p:nvGrpSpPr>
        <p:grpSpPr>
          <a:xfrm>
            <a:off x="9124950" y="1771650"/>
            <a:ext cx="2114550" cy="3829050"/>
            <a:chOff x="9124950" y="1771650"/>
            <a:chExt cx="2114550" cy="3829050"/>
          </a:xfrm>
        </p:grpSpPr>
        <p:sp>
          <p:nvSpPr>
            <p:cNvPr id="12" name="Rectangle 12"/>
            <p:cNvSpPr/>
            <p:nvPr/>
          </p:nvSpPr>
          <p:spPr>
            <a:xfrm>
              <a:off x="9124950" y="1771650"/>
              <a:ext cx="2114550" cy="3829050"/>
            </a:xfrm>
            <a:prstGeom prst="roundRect">
              <a:avLst>
                <a:gd name="adj" fmla="val 4505"/>
              </a:avLst>
            </a:prstGeom>
            <a:solidFill>
              <a:schemeClr val="accent1"/>
            </a:solidFill>
            <a:ln>
              <a:noFill/>
            </a:ln>
          </p:spPr>
        </p:sp>
        <p:grpSp>
          <p:nvGrpSpPr>
            <p:cNvPr id="15" name="Group 15"/>
            <p:cNvGrpSpPr/>
            <p:nvPr/>
          </p:nvGrpSpPr>
          <p:grpSpPr>
            <a:xfrm>
              <a:off x="9479756" y="2145506"/>
              <a:ext cx="300038" cy="300038"/>
              <a:chOff x="9479756" y="2145506"/>
              <a:chExt cx="300038" cy="300038"/>
            </a:xfrm>
          </p:grpSpPr>
          <p:sp>
            <p:nvSpPr>
              <p:cNvPr id="13" name="Freeform 13"/>
              <p:cNvSpPr/>
              <p:nvPr/>
            </p:nvSpPr>
            <p:spPr>
              <a:xfrm>
                <a:off x="9479756" y="2145506"/>
                <a:ext cx="300038" cy="300038"/>
              </a:xfrm>
              <a:custGeom>
                <a:avLst/>
                <a:gdLst/>
                <a:ahLst/>
                <a:cxnLst/>
                <a:rect l="l" t="t" r="r" b="b"/>
                <a:pathLst>
                  <a:path w="300038" h="300038">
                    <a:moveTo>
                      <a:pt x="0" y="150019"/>
                    </a:moveTo>
                    <a:cubicBezTo>
                      <a:pt x="0" y="232872"/>
                      <a:pt x="67166" y="300038"/>
                      <a:pt x="150019" y="300038"/>
                    </a:cubicBezTo>
                    <a:cubicBezTo>
                      <a:pt x="232872" y="300038"/>
                      <a:pt x="300038" y="232872"/>
                      <a:pt x="300038" y="150019"/>
                    </a:cubicBezTo>
                    <a:cubicBezTo>
                      <a:pt x="300038" y="67166"/>
                      <a:pt x="232872" y="0"/>
                      <a:pt x="150019" y="0"/>
                    </a:cubicBezTo>
                    <a:cubicBezTo>
                      <a:pt x="67166" y="0"/>
                      <a:pt x="0" y="67166"/>
                      <a:pt x="0" y="150019"/>
                    </a:cubicBezTo>
                  </a:path>
                </a:pathLst>
              </a:custGeom>
              <a:noFill/>
              <a:ln w="33338">
                <a:solidFill>
                  <a:srgbClr val="FFFFFF"/>
                </a:solidFill>
              </a:ln>
            </p:spPr>
          </p:sp>
          <p:sp>
            <p:nvSpPr>
              <p:cNvPr id="14" name="Freeform 14"/>
              <p:cNvSpPr/>
              <p:nvPr/>
            </p:nvSpPr>
            <p:spPr>
              <a:xfrm>
                <a:off x="9629775" y="2212181"/>
                <a:ext cx="50006" cy="133350"/>
              </a:xfrm>
              <a:custGeom>
                <a:avLst/>
                <a:gdLst/>
                <a:ahLst/>
                <a:cxnLst/>
                <a:rect l="l" t="t" r="r" b="b"/>
                <a:pathLst>
                  <a:path w="50006" h="133350">
                    <a:moveTo>
                      <a:pt x="0" y="0"/>
                    </a:moveTo>
                    <a:lnTo>
                      <a:pt x="0" y="83344"/>
                    </a:lnTo>
                    <a:lnTo>
                      <a:pt x="50006" y="133350"/>
                    </a:lnTo>
                  </a:path>
                </a:pathLst>
              </a:custGeom>
              <a:noFill/>
              <a:ln w="33338">
                <a:solidFill>
                  <a:srgbClr val="FFFFFF"/>
                </a:solidFill>
              </a:ln>
            </p:spPr>
          </p:sp>
        </p:grpSp>
        <p:sp>
          <p:nvSpPr>
            <p:cNvPr id="16" name="TextBox 16"/>
            <p:cNvSpPr txBox="1"/>
            <p:nvPr/>
          </p:nvSpPr>
          <p:spPr>
            <a:xfrm>
              <a:off x="9413748" y="2533650"/>
              <a:ext cx="1664608" cy="616077"/>
            </a:xfrm>
            <a:prstGeom prst="rect">
              <a:avLst/>
            </a:prstGeom>
            <a:noFill/>
            <a:ln>
              <a:noFill/>
            </a:ln>
          </p:spPr>
          <p:txBody>
            <a:bodyPr wrap="none" lIns="0" tIns="0" rIns="0" bIns="0" anchor="t" anchorCtr="0">
              <a:spAutoFit/>
            </a:bodyPr>
            <a:lstStyle/>
            <a:p>
              <a:pPr algn="l"/>
              <a:r>
                <a:rPr lang="en-US" sz="3150" b="1" dirty="0">
                  <a:solidFill>
                    <a:srgbClr val="FFFFFF"/>
                  </a:solidFill>
                  <a:latin typeface="Consolas"/>
                  <a:ea typeface="Consolas"/>
                  <a:cs typeface="Consolas"/>
                </a:rPr>
                <a:t>0.574 s</a:t>
              </a:r>
            </a:p>
          </p:txBody>
        </p:sp>
        <p:sp>
          <p:nvSpPr>
            <p:cNvPr id="17" name="TextBox 17"/>
            <p:cNvSpPr txBox="1"/>
            <p:nvPr/>
          </p:nvSpPr>
          <p:spPr>
            <a:xfrm>
              <a:off x="9423654" y="3060700"/>
              <a:ext cx="1047674" cy="234696"/>
            </a:xfrm>
            <a:prstGeom prst="rect">
              <a:avLst/>
            </a:prstGeom>
            <a:noFill/>
            <a:ln>
              <a:noFill/>
            </a:ln>
          </p:spPr>
          <p:txBody>
            <a:bodyPr wrap="none" lIns="0" tIns="0" rIns="0" bIns="0" anchor="t" anchorCtr="0">
              <a:spAutoFit/>
            </a:bodyPr>
            <a:lstStyle/>
            <a:p>
              <a:pPr algn="l"/>
              <a:r>
                <a:rPr lang="en-US" sz="1200" dirty="0">
                  <a:solidFill>
                    <a:srgbClr val="C9EAF0"/>
                  </a:solidFill>
                  <a:latin typeface="+mn-lt"/>
                  <a:ea typeface="+mn-ea"/>
                  <a:cs typeface="+mn-cs"/>
                </a:rPr>
                <a:t>L1 mean · l=6</a:t>
              </a:r>
            </a:p>
          </p:txBody>
        </p:sp>
        <p:sp>
          <p:nvSpPr>
            <p:cNvPr id="18" name="Line 18"/>
            <p:cNvSpPr/>
            <p:nvPr/>
          </p:nvSpPr>
          <p:spPr>
            <a:xfrm>
              <a:off x="9429750" y="3543300"/>
              <a:ext cx="1504950" cy="9525"/>
            </a:xfrm>
            <a:custGeom>
              <a:avLst/>
              <a:gdLst/>
              <a:ahLst/>
              <a:cxnLst/>
              <a:rect l="l" t="t" r="r" b="b"/>
              <a:pathLst>
                <a:path w="1504950" h="9525">
                  <a:moveTo>
                    <a:pt x="0" y="0"/>
                  </a:moveTo>
                  <a:lnTo>
                    <a:pt x="1504950" y="0"/>
                  </a:lnTo>
                </a:path>
              </a:pathLst>
            </a:custGeom>
            <a:noFill/>
            <a:ln w="9525">
              <a:solidFill>
                <a:srgbClr val="5B6875"/>
              </a:solidFill>
            </a:ln>
          </p:spPr>
        </p:sp>
        <p:sp>
          <p:nvSpPr>
            <p:cNvPr id="19" name="TextBox 19"/>
            <p:cNvSpPr txBox="1"/>
            <p:nvPr/>
          </p:nvSpPr>
          <p:spPr>
            <a:xfrm>
              <a:off x="9413748" y="3714750"/>
              <a:ext cx="1664608" cy="616077"/>
            </a:xfrm>
            <a:prstGeom prst="rect">
              <a:avLst/>
            </a:prstGeom>
            <a:noFill/>
            <a:ln>
              <a:noFill/>
            </a:ln>
          </p:spPr>
          <p:txBody>
            <a:bodyPr wrap="none" lIns="0" tIns="0" rIns="0" bIns="0" anchor="t" anchorCtr="0">
              <a:spAutoFit/>
            </a:bodyPr>
            <a:lstStyle/>
            <a:p>
              <a:pPr algn="l"/>
              <a:r>
                <a:rPr lang="en-US" sz="3150" b="1" dirty="0">
                  <a:solidFill>
                    <a:srgbClr val="FFFFFF"/>
                  </a:solidFill>
                  <a:latin typeface="Consolas"/>
                  <a:ea typeface="Consolas"/>
                  <a:cs typeface="Consolas"/>
                </a:rPr>
                <a:t>0.502 s</a:t>
              </a:r>
            </a:p>
          </p:txBody>
        </p:sp>
        <p:sp>
          <p:nvSpPr>
            <p:cNvPr id="20" name="TextBox 20"/>
            <p:cNvSpPr txBox="1"/>
            <p:nvPr/>
          </p:nvSpPr>
          <p:spPr>
            <a:xfrm>
              <a:off x="9423654" y="4241800"/>
              <a:ext cx="1047674" cy="234696"/>
            </a:xfrm>
            <a:prstGeom prst="rect">
              <a:avLst/>
            </a:prstGeom>
            <a:noFill/>
            <a:ln>
              <a:noFill/>
            </a:ln>
          </p:spPr>
          <p:txBody>
            <a:bodyPr wrap="none" lIns="0" tIns="0" rIns="0" bIns="0" anchor="t" anchorCtr="0">
              <a:spAutoFit/>
            </a:bodyPr>
            <a:lstStyle/>
            <a:p>
              <a:pPr algn="l"/>
              <a:r>
                <a:rPr lang="en-US" sz="1200" dirty="0">
                  <a:solidFill>
                    <a:srgbClr val="C9EAF0"/>
                  </a:solidFill>
                  <a:latin typeface="+mn-lt"/>
                  <a:ea typeface="+mn-ea"/>
                  <a:cs typeface="+mn-cs"/>
                </a:rPr>
                <a:t>L2 mean · l=3</a:t>
              </a:r>
            </a:p>
          </p:txBody>
        </p:sp>
        <p:sp>
          <p:nvSpPr>
            <p:cNvPr id="21" name="TextBox 21"/>
            <p:cNvSpPr txBox="1"/>
            <p:nvPr/>
          </p:nvSpPr>
          <p:spPr>
            <a:xfrm>
              <a:off x="9423654" y="4870450"/>
              <a:ext cx="1762065" cy="234696"/>
            </a:xfrm>
            <a:prstGeom prst="rect">
              <a:avLst/>
            </a:prstGeom>
            <a:noFill/>
            <a:ln>
              <a:noFill/>
            </a:ln>
          </p:spPr>
          <p:txBody>
            <a:bodyPr wrap="none" lIns="0" tIns="0" rIns="0" bIns="0" anchor="t" anchorCtr="0">
              <a:spAutoFit/>
            </a:bodyPr>
            <a:lstStyle/>
            <a:p>
              <a:pPr algn="l"/>
              <a:r>
                <a:rPr lang="en-US" sz="1200" dirty="0">
                  <a:solidFill>
                    <a:srgbClr val="FFFFFF"/>
                  </a:solidFill>
                  <a:latin typeface="+mn-lt"/>
                  <a:ea typeface="+mn-ea"/>
                  <a:cs typeface="+mn-cs"/>
                </a:rPr>
                <a:t>Paper-selected points</a:t>
              </a:r>
            </a:p>
          </p:txBody>
        </p:sp>
        <p:sp>
          <p:nvSpPr>
            <p:cNvPr id="22" name="TextBox 22"/>
            <p:cNvSpPr txBox="1"/>
            <p:nvPr/>
          </p:nvSpPr>
          <p:spPr>
            <a:xfrm>
              <a:off x="9423654" y="5118100"/>
              <a:ext cx="660806" cy="234696"/>
            </a:xfrm>
            <a:prstGeom prst="rect">
              <a:avLst/>
            </a:prstGeom>
            <a:noFill/>
            <a:ln>
              <a:noFill/>
            </a:ln>
          </p:spPr>
          <p:txBody>
            <a:bodyPr wrap="none" lIns="0" tIns="0" rIns="0" bIns="0" anchor="t" anchorCtr="0">
              <a:spAutoFit/>
            </a:bodyPr>
            <a:lstStyle/>
            <a:p>
              <a:pPr algn="l"/>
              <a:r>
                <a:rPr lang="en-US" sz="1200" dirty="0">
                  <a:solidFill>
                    <a:srgbClr val="FFFFFF"/>
                  </a:solidFill>
                  <a:latin typeface="+mn-lt"/>
                  <a:ea typeface="+mn-ea"/>
                  <a:cs typeface="+mn-cs"/>
                </a:rPr>
                <a:t>≈99% F1</a:t>
              </a:r>
            </a:p>
          </p:txBody>
        </p:sp>
      </p:grpSp>
      <p:grpSp>
        <p:nvGrpSpPr>
          <p:cNvPr id="25" name="takeaway"/>
          <p:cNvGrpSpPr/>
          <p:nvPr/>
        </p:nvGrpSpPr>
        <p:grpSpPr>
          <a:xfrm>
            <a:off x="944118" y="5848350"/>
            <a:ext cx="7779334" cy="322707"/>
            <a:chOff x="944118" y="5848350"/>
            <a:chExt cx="7779334" cy="322707"/>
          </a:xfrm>
        </p:grpSpPr>
        <p:sp>
          <p:nvSpPr>
            <p:cNvPr id="24" name="TextBox 24"/>
            <p:cNvSpPr txBox="1"/>
            <p:nvPr/>
          </p:nvSpPr>
          <p:spPr>
            <a:xfrm>
              <a:off x="944118" y="5848350"/>
              <a:ext cx="7779334"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Paper claim: early sequence decisions can replace full-flow waiting.</a:t>
              </a:r>
            </a:p>
          </p:txBody>
        </p:sp>
      </p:grpSp>
      <p:grpSp>
        <p:nvGrpSpPr>
          <p:cNvPr id="28" name="footer"/>
          <p:cNvGrpSpPr/>
          <p:nvPr/>
        </p:nvGrpSpPr>
        <p:grpSpPr>
          <a:xfrm>
            <a:off x="947166" y="6369050"/>
            <a:ext cx="10297668" cy="205359"/>
            <a:chOff x="947166" y="6369050"/>
            <a:chExt cx="10297668" cy="205359"/>
          </a:xfrm>
        </p:grpSpPr>
        <p:sp>
          <p:nvSpPr>
            <p:cNvPr id="26" name="TextBox 26"/>
            <p:cNvSpPr txBox="1"/>
            <p:nvPr/>
          </p:nvSpPr>
          <p:spPr>
            <a:xfrm>
              <a:off x="947166" y="6369050"/>
              <a:ext cx="3482538" cy="205359"/>
            </a:xfrm>
            <a:prstGeom prst="rect">
              <a:avLst/>
            </a:prstGeom>
            <a:noFill/>
            <a:ln>
              <a:noFill/>
            </a:ln>
          </p:spPr>
          <p:txBody>
            <a:bodyPr wrap="none" lIns="0" tIns="0" rIns="0" bIns="0" anchor="t" anchorCtr="0">
              <a:spAutoFit/>
            </a:bodyPr>
            <a:lstStyle/>
            <a:p>
              <a:pPr algn="l"/>
              <a:r>
                <a:rPr lang="en-US" sz="1050" dirty="0">
                  <a:solidFill>
                    <a:schemeClr val="accent5"/>
                  </a:solidFill>
                  <a:latin typeface="+mn-lt"/>
                  <a:ea typeface="+mn-ea"/>
                  <a:cs typeface="+mn-cs"/>
                </a:rPr>
                <a:t>Source: Paper Tables V–VI; paper-reported timing</a:t>
              </a:r>
            </a:p>
          </p:txBody>
        </p:sp>
        <p:sp>
          <p:nvSpPr>
            <p:cNvPr id="27" name="TextBox 27"/>
            <p:cNvSpPr txBox="1"/>
            <p:nvPr/>
          </p:nvSpPr>
          <p:spPr>
            <a:xfrm>
              <a:off x="11078680" y="6369050"/>
              <a:ext cx="166154"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Consolas"/>
                  <a:ea typeface="Consolas"/>
                  <a:cs typeface="Consolas"/>
                </a:rPr>
                <a:t>08</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ledger-rule"/>
          <p:cNvSpPr/>
          <p:nvPr/>
        </p:nvSpPr>
        <p:spPr>
          <a:xfrm>
            <a:off x="609600" y="400050"/>
            <a:ext cx="57150" cy="6000750"/>
          </a:xfrm>
          <a:prstGeom prst="rect">
            <a:avLst/>
          </a:prstGeom>
          <a:solidFill>
            <a:schemeClr val="accent2"/>
          </a:solidFill>
          <a:ln>
            <a:noFill/>
          </a:ln>
        </p:spPr>
      </p:sp>
      <p:grpSp>
        <p:nvGrpSpPr>
          <p:cNvPr id="5" name="heading"/>
          <p:cNvGrpSpPr/>
          <p:nvPr/>
        </p:nvGrpSpPr>
        <p:grpSpPr>
          <a:xfrm>
            <a:off x="941070" y="546100"/>
            <a:ext cx="8778854" cy="871855"/>
            <a:chOff x="941070" y="546100"/>
            <a:chExt cx="8778854" cy="871855"/>
          </a:xfrm>
        </p:grpSpPr>
        <p:sp>
          <p:nvSpPr>
            <p:cNvPr id="3" name="TextBox 3"/>
            <p:cNvSpPr txBox="1"/>
            <p:nvPr/>
          </p:nvSpPr>
          <p:spPr>
            <a:xfrm>
              <a:off x="946404" y="546100"/>
              <a:ext cx="3332074" cy="234696"/>
            </a:xfrm>
            <a:prstGeom prst="rect">
              <a:avLst/>
            </a:prstGeom>
            <a:noFill/>
            <a:ln>
              <a:noFill/>
            </a:ln>
          </p:spPr>
          <p:txBody>
            <a:bodyPr wrap="none" lIns="0" tIns="0" rIns="0" bIns="0" anchor="t" anchorCtr="0">
              <a:spAutoFit/>
            </a:bodyPr>
            <a:lstStyle/>
            <a:p>
              <a:pPr algn="l"/>
              <a:r>
                <a:rPr lang="en-US" sz="1200" spc="150" dirty="0">
                  <a:solidFill>
                    <a:schemeClr val="accent2"/>
                  </a:solidFill>
                  <a:latin typeface="Consolas"/>
                  <a:ea typeface="Consolas"/>
                  <a:cs typeface="Consolas"/>
                </a:rPr>
                <a:t>08 · REPRODUCTION CORRECTIONS</a:t>
              </a:r>
            </a:p>
          </p:txBody>
        </p:sp>
        <p:sp>
          <p:nvSpPr>
            <p:cNvPr id="4" name="TextBox 4"/>
            <p:cNvSpPr txBox="1"/>
            <p:nvPr/>
          </p:nvSpPr>
          <p:spPr>
            <a:xfrm>
              <a:off x="941070" y="977900"/>
              <a:ext cx="8778854" cy="440055"/>
            </a:xfrm>
            <a:prstGeom prst="rect">
              <a:avLst/>
            </a:prstGeom>
            <a:noFill/>
            <a:ln>
              <a:noFill/>
            </a:ln>
          </p:spPr>
          <p:txBody>
            <a:bodyPr wrap="none" lIns="0" tIns="0" rIns="0" bIns="0" anchor="t" anchorCtr="0">
              <a:spAutoFit/>
            </a:bodyPr>
            <a:lstStyle/>
            <a:p>
              <a:pPr algn="l"/>
              <a:r>
                <a:rPr lang="en-US" sz="2250" b="1" dirty="0">
                  <a:solidFill>
                    <a:schemeClr val="accent1"/>
                  </a:solidFill>
                  <a:latin typeface="+mj-lt"/>
                  <a:ea typeface="+mj-ea"/>
                  <a:cs typeface="+mj-cs"/>
                </a:rPr>
                <a:t>Reproducibility required fixing method and protocol gaps</a:t>
              </a:r>
            </a:p>
          </p:txBody>
        </p:sp>
      </p:grpSp>
      <p:grpSp>
        <p:nvGrpSpPr>
          <p:cNvPr id="24" name="correction-ledger"/>
          <p:cNvGrpSpPr/>
          <p:nvPr/>
        </p:nvGrpSpPr>
        <p:grpSpPr>
          <a:xfrm>
            <a:off x="952500" y="1752600"/>
            <a:ext cx="10287000" cy="3829050"/>
            <a:chOff x="952500" y="1752600"/>
            <a:chExt cx="10287000" cy="3829050"/>
          </a:xfrm>
        </p:grpSpPr>
        <p:sp>
          <p:nvSpPr>
            <p:cNvPr id="6" name="Rectangle 6"/>
            <p:cNvSpPr/>
            <p:nvPr/>
          </p:nvSpPr>
          <p:spPr>
            <a:xfrm>
              <a:off x="952500" y="1752600"/>
              <a:ext cx="10287000" cy="3829050"/>
            </a:xfrm>
            <a:prstGeom prst="roundRect">
              <a:avLst>
                <a:gd name="adj" fmla="val 2488"/>
              </a:avLst>
            </a:prstGeom>
            <a:solidFill>
              <a:srgbClr val="FFFFFF"/>
            </a:solidFill>
            <a:ln w="19050">
              <a:solidFill>
                <a:schemeClr val="accent6"/>
              </a:solidFill>
            </a:ln>
          </p:spPr>
        </p:sp>
        <p:sp>
          <p:nvSpPr>
            <p:cNvPr id="7" name="Rectangle 7"/>
            <p:cNvSpPr/>
            <p:nvPr/>
          </p:nvSpPr>
          <p:spPr>
            <a:xfrm>
              <a:off x="952500" y="1752600"/>
              <a:ext cx="10287000" cy="552450"/>
            </a:xfrm>
            <a:prstGeom prst="roundRect">
              <a:avLst>
                <a:gd name="adj" fmla="val 17241"/>
              </a:avLst>
            </a:prstGeom>
            <a:solidFill>
              <a:schemeClr val="accent1"/>
            </a:solidFill>
            <a:ln>
              <a:noFill/>
            </a:ln>
          </p:spPr>
        </p:sp>
        <p:sp>
          <p:nvSpPr>
            <p:cNvPr id="8" name="TextBox 8"/>
            <p:cNvSpPr txBox="1"/>
            <p:nvPr/>
          </p:nvSpPr>
          <p:spPr>
            <a:xfrm>
              <a:off x="1250442" y="1952625"/>
              <a:ext cx="1586393" cy="264033"/>
            </a:xfrm>
            <a:prstGeom prst="rect">
              <a:avLst/>
            </a:prstGeom>
            <a:noFill/>
            <a:ln>
              <a:noFill/>
            </a:ln>
          </p:spPr>
          <p:txBody>
            <a:bodyPr wrap="none" lIns="0" tIns="0" rIns="0" bIns="0" anchor="t" anchorCtr="0">
              <a:spAutoFit/>
            </a:bodyPr>
            <a:lstStyle/>
            <a:p>
              <a:pPr algn="l"/>
              <a:r>
                <a:rPr lang="en-US" sz="1350" b="1" dirty="0">
                  <a:solidFill>
                    <a:srgbClr val="FFFFFF"/>
                  </a:solidFill>
                  <a:latin typeface="+mn-lt"/>
                  <a:ea typeface="+mn-ea"/>
                  <a:cs typeface="+mn-cs"/>
                </a:rPr>
                <a:t>PAPER GAP / RISK</a:t>
              </a:r>
            </a:p>
          </p:txBody>
        </p:sp>
        <p:sp>
          <p:nvSpPr>
            <p:cNvPr id="9" name="TextBox 9"/>
            <p:cNvSpPr txBox="1"/>
            <p:nvPr/>
          </p:nvSpPr>
          <p:spPr>
            <a:xfrm>
              <a:off x="6336792" y="1952625"/>
              <a:ext cx="2029968" cy="264033"/>
            </a:xfrm>
            <a:prstGeom prst="rect">
              <a:avLst/>
            </a:prstGeom>
            <a:noFill/>
            <a:ln>
              <a:noFill/>
            </a:ln>
          </p:spPr>
          <p:txBody>
            <a:bodyPr wrap="none" lIns="0" tIns="0" rIns="0" bIns="0" anchor="t" anchorCtr="0">
              <a:spAutoFit/>
            </a:bodyPr>
            <a:lstStyle/>
            <a:p>
              <a:pPr algn="l"/>
              <a:r>
                <a:rPr lang="en-US" sz="1350" b="1" dirty="0">
                  <a:solidFill>
                    <a:srgbClr val="C9EAF0"/>
                  </a:solidFill>
                  <a:latin typeface="+mn-lt"/>
                  <a:ea typeface="+mn-ea"/>
                  <a:cs typeface="+mn-cs"/>
                </a:rPr>
                <a:t>PROJECT CORRECTION</a:t>
              </a:r>
            </a:p>
          </p:txBody>
        </p:sp>
        <p:sp>
          <p:nvSpPr>
            <p:cNvPr id="10" name="Line 10"/>
            <p:cNvSpPr/>
            <p:nvPr/>
          </p:nvSpPr>
          <p:spPr>
            <a:xfrm>
              <a:off x="6096000" y="2305050"/>
              <a:ext cx="9525" cy="3276600"/>
            </a:xfrm>
            <a:custGeom>
              <a:avLst/>
              <a:gdLst/>
              <a:ahLst/>
              <a:cxnLst/>
              <a:rect l="l" t="t" r="r" b="b"/>
              <a:pathLst>
                <a:path w="9525" h="3276600">
                  <a:moveTo>
                    <a:pt x="0" y="0"/>
                  </a:moveTo>
                  <a:lnTo>
                    <a:pt x="0" y="3276600"/>
                  </a:lnTo>
                </a:path>
              </a:pathLst>
            </a:custGeom>
            <a:noFill/>
            <a:ln w="19050">
              <a:solidFill>
                <a:schemeClr val="accent6"/>
              </a:solidFill>
            </a:ln>
          </p:spPr>
        </p:sp>
        <p:sp>
          <p:nvSpPr>
            <p:cNvPr id="11" name="TextBox 11"/>
            <p:cNvSpPr txBox="1"/>
            <p:nvPr/>
          </p:nvSpPr>
          <p:spPr>
            <a:xfrm>
              <a:off x="1249680" y="2546350"/>
              <a:ext cx="3535037"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Printed clump termination inversion</a:t>
              </a:r>
            </a:p>
          </p:txBody>
        </p:sp>
        <p:sp>
          <p:nvSpPr>
            <p:cNvPr id="12" name="TextBox 12"/>
            <p:cNvSpPr txBox="1"/>
            <p:nvPr/>
          </p:nvSpPr>
          <p:spPr>
            <a:xfrm>
              <a:off x="6336030" y="2546350"/>
              <a:ext cx="3545567"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Stop on direction change or timeout</a:t>
              </a:r>
            </a:p>
          </p:txBody>
        </p:sp>
        <p:sp>
          <p:nvSpPr>
            <p:cNvPr id="13" name="Line 13"/>
            <p:cNvSpPr/>
            <p:nvPr/>
          </p:nvSpPr>
          <p:spPr>
            <a:xfrm>
              <a:off x="1181100" y="2990850"/>
              <a:ext cx="9829800" cy="9525"/>
            </a:xfrm>
            <a:custGeom>
              <a:avLst/>
              <a:gdLst/>
              <a:ahLst/>
              <a:cxnLst/>
              <a:rect l="l" t="t" r="r" b="b"/>
              <a:pathLst>
                <a:path w="9829800" h="9525">
                  <a:moveTo>
                    <a:pt x="0" y="0"/>
                  </a:moveTo>
                  <a:lnTo>
                    <a:pt x="9829800" y="0"/>
                  </a:lnTo>
                </a:path>
              </a:pathLst>
            </a:custGeom>
            <a:noFill/>
            <a:ln w="19050">
              <a:solidFill>
                <a:srgbClr val="EAF0F5"/>
              </a:solidFill>
            </a:ln>
          </p:spPr>
        </p:sp>
        <p:sp>
          <p:nvSpPr>
            <p:cNvPr id="14" name="TextBox 14"/>
            <p:cNvSpPr txBox="1"/>
            <p:nvPr/>
          </p:nvSpPr>
          <p:spPr>
            <a:xfrm>
              <a:off x="1249680" y="3251200"/>
              <a:ext cx="3899375"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Out-of-bounds access after increment</a:t>
              </a:r>
            </a:p>
          </p:txBody>
        </p:sp>
        <p:sp>
          <p:nvSpPr>
            <p:cNvPr id="15" name="TextBox 15"/>
            <p:cNvSpPr txBox="1"/>
            <p:nvPr/>
          </p:nvSpPr>
          <p:spPr>
            <a:xfrm>
              <a:off x="6336030" y="3251200"/>
              <a:ext cx="3606042"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Bounds check before packet indexing</a:t>
              </a:r>
            </a:p>
          </p:txBody>
        </p:sp>
        <p:sp>
          <p:nvSpPr>
            <p:cNvPr id="16" name="Line 16"/>
            <p:cNvSpPr/>
            <p:nvPr/>
          </p:nvSpPr>
          <p:spPr>
            <a:xfrm>
              <a:off x="1181100" y="3695700"/>
              <a:ext cx="9829800" cy="9525"/>
            </a:xfrm>
            <a:custGeom>
              <a:avLst/>
              <a:gdLst/>
              <a:ahLst/>
              <a:cxnLst/>
              <a:rect l="l" t="t" r="r" b="b"/>
              <a:pathLst>
                <a:path w="9829800" h="9525">
                  <a:moveTo>
                    <a:pt x="0" y="0"/>
                  </a:moveTo>
                  <a:lnTo>
                    <a:pt x="9829800" y="0"/>
                  </a:lnTo>
                </a:path>
              </a:pathLst>
            </a:custGeom>
            <a:noFill/>
            <a:ln w="19050">
              <a:solidFill>
                <a:srgbClr val="EAF0F5"/>
              </a:solidFill>
            </a:ln>
          </p:spPr>
        </p:sp>
        <p:sp>
          <p:nvSpPr>
            <p:cNvPr id="17" name="TextBox 17"/>
            <p:cNvSpPr txBox="1"/>
            <p:nvPr/>
          </p:nvSpPr>
          <p:spPr>
            <a:xfrm>
              <a:off x="1249680" y="3956050"/>
              <a:ext cx="3151482"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Unspecified optimizer and seeds</a:t>
              </a:r>
            </a:p>
          </p:txBody>
        </p:sp>
        <p:sp>
          <p:nvSpPr>
            <p:cNvPr id="18" name="TextBox 18"/>
            <p:cNvSpPr txBox="1"/>
            <p:nvPr/>
          </p:nvSpPr>
          <p:spPr>
            <a:xfrm>
              <a:off x="6336030" y="3956050"/>
              <a:ext cx="4525562"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Pinned configs, seed 42, immutable manifests</a:t>
              </a:r>
            </a:p>
          </p:txBody>
        </p:sp>
        <p:sp>
          <p:nvSpPr>
            <p:cNvPr id="19" name="Line 19"/>
            <p:cNvSpPr/>
            <p:nvPr/>
          </p:nvSpPr>
          <p:spPr>
            <a:xfrm>
              <a:off x="1181100" y="4400550"/>
              <a:ext cx="9829800" cy="9525"/>
            </a:xfrm>
            <a:custGeom>
              <a:avLst/>
              <a:gdLst/>
              <a:ahLst/>
              <a:cxnLst/>
              <a:rect l="l" t="t" r="r" b="b"/>
              <a:pathLst>
                <a:path w="9829800" h="9525">
                  <a:moveTo>
                    <a:pt x="0" y="0"/>
                  </a:moveTo>
                  <a:lnTo>
                    <a:pt x="9829800" y="0"/>
                  </a:lnTo>
                </a:path>
              </a:pathLst>
            </a:custGeom>
            <a:noFill/>
            <a:ln w="19050">
              <a:solidFill>
                <a:srgbClr val="EAF0F5"/>
              </a:solidFill>
            </a:ln>
          </p:spPr>
        </p:sp>
        <p:sp>
          <p:nvSpPr>
            <p:cNvPr id="20" name="TextBox 20"/>
            <p:cNvSpPr txBox="1"/>
            <p:nvPr/>
          </p:nvSpPr>
          <p:spPr>
            <a:xfrm>
              <a:off x="1249680" y="4660900"/>
              <a:ext cx="3575914"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Flow-random train/test correlation</a:t>
              </a:r>
            </a:p>
          </p:txBody>
        </p:sp>
        <p:sp>
          <p:nvSpPr>
            <p:cNvPr id="21" name="TextBox 21"/>
            <p:cNvSpPr txBox="1"/>
            <p:nvPr/>
          </p:nvSpPr>
          <p:spPr>
            <a:xfrm>
              <a:off x="6336030" y="4660900"/>
              <a:ext cx="3676442"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Session/scenario group-disjoint split</a:t>
              </a:r>
            </a:p>
          </p:txBody>
        </p:sp>
        <p:sp>
          <p:nvSpPr>
            <p:cNvPr id="22" name="TextBox 22"/>
            <p:cNvSpPr txBox="1"/>
            <p:nvPr/>
          </p:nvSpPr>
          <p:spPr>
            <a:xfrm>
              <a:off x="1251204" y="5175250"/>
              <a:ext cx="3801466"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Consolas"/>
                  <a:ea typeface="Consolas"/>
                  <a:cs typeface="Consolas"/>
                </a:rPr>
                <a:t>baseline: Dense(10) → LSTM(8×4) → Dense(1)</a:t>
              </a:r>
            </a:p>
          </p:txBody>
        </p:sp>
        <p:sp>
          <p:nvSpPr>
            <p:cNvPr id="23" name="TextBox 23"/>
            <p:cNvSpPr txBox="1"/>
            <p:nvPr/>
          </p:nvSpPr>
          <p:spPr>
            <a:xfrm>
              <a:off x="6337554" y="5175250"/>
              <a:ext cx="4214368" cy="234696"/>
            </a:xfrm>
            <a:prstGeom prst="rect">
              <a:avLst/>
            </a:prstGeom>
            <a:noFill/>
            <a:ln>
              <a:noFill/>
            </a:ln>
          </p:spPr>
          <p:txBody>
            <a:bodyPr wrap="none" lIns="0" tIns="0" rIns="0" bIns="0" anchor="t" anchorCtr="0">
              <a:spAutoFit/>
            </a:bodyPr>
            <a:lstStyle/>
            <a:p>
              <a:pPr algn="l"/>
              <a:r>
                <a:rPr lang="en-US" sz="1200" dirty="0">
                  <a:solidFill>
                    <a:schemeClr val="accent2"/>
                  </a:solidFill>
                  <a:latin typeface="Consolas"/>
                  <a:ea typeface="Consolas"/>
                  <a:cs typeface="Consolas"/>
                </a:rPr>
                <a:t>improved: mask → BiGRU → attention → classifier</a:t>
              </a:r>
            </a:p>
          </p:txBody>
        </p:sp>
      </p:grpSp>
      <p:grpSp>
        <p:nvGrpSpPr>
          <p:cNvPr id="27" name="verification"/>
          <p:cNvGrpSpPr/>
          <p:nvPr/>
        </p:nvGrpSpPr>
        <p:grpSpPr>
          <a:xfrm>
            <a:off x="1019969" y="5829300"/>
            <a:ext cx="8448213" cy="322707"/>
            <a:chOff x="1019969" y="5829300"/>
            <a:chExt cx="8448213" cy="322707"/>
          </a:xfrm>
        </p:grpSpPr>
        <p:sp>
          <p:nvSpPr>
            <p:cNvPr id="25" name="Freeform 25"/>
            <p:cNvSpPr/>
            <p:nvPr/>
          </p:nvSpPr>
          <p:spPr>
            <a:xfrm>
              <a:off x="1019969" y="5847556"/>
              <a:ext cx="202407" cy="134938"/>
            </a:xfrm>
            <a:custGeom>
              <a:avLst/>
              <a:gdLst/>
              <a:ahLst/>
              <a:cxnLst/>
              <a:rect l="l" t="t" r="r" b="b"/>
              <a:pathLst>
                <a:path w="202407" h="134938">
                  <a:moveTo>
                    <a:pt x="0" y="67469"/>
                  </a:moveTo>
                  <a:lnTo>
                    <a:pt x="67469" y="134938"/>
                  </a:lnTo>
                  <a:lnTo>
                    <a:pt x="202407" y="0"/>
                  </a:lnTo>
                </a:path>
              </a:pathLst>
            </a:custGeom>
            <a:noFill/>
            <a:ln w="26988">
              <a:solidFill>
                <a:srgbClr val="15803D"/>
              </a:solidFill>
            </a:ln>
          </p:spPr>
        </p:sp>
        <p:sp>
          <p:nvSpPr>
            <p:cNvPr id="26" name="TextBox 26"/>
            <p:cNvSpPr txBox="1"/>
            <p:nvPr/>
          </p:nvSpPr>
          <p:spPr>
            <a:xfrm>
              <a:off x="1420368" y="5829300"/>
              <a:ext cx="8047814"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All corrections are encoded in code, manifests, and regression tests.</a:t>
              </a:r>
            </a:p>
          </p:txBody>
        </p:sp>
      </p:grpSp>
      <p:grpSp>
        <p:nvGrpSpPr>
          <p:cNvPr id="30" name="footer"/>
          <p:cNvGrpSpPr/>
          <p:nvPr/>
        </p:nvGrpSpPr>
        <p:grpSpPr>
          <a:xfrm>
            <a:off x="947166" y="6369050"/>
            <a:ext cx="10297668" cy="205359"/>
            <a:chOff x="947166" y="6369050"/>
            <a:chExt cx="10297668" cy="205359"/>
          </a:xfrm>
        </p:grpSpPr>
        <p:sp>
          <p:nvSpPr>
            <p:cNvPr id="28" name="TextBox 28"/>
            <p:cNvSpPr txBox="1"/>
            <p:nvPr/>
          </p:nvSpPr>
          <p:spPr>
            <a:xfrm>
              <a:off x="947166" y="6369050"/>
              <a:ext cx="5158471" cy="205359"/>
            </a:xfrm>
            <a:prstGeom prst="rect">
              <a:avLst/>
            </a:prstGeom>
            <a:noFill/>
            <a:ln>
              <a:noFill/>
            </a:ln>
          </p:spPr>
          <p:txBody>
            <a:bodyPr wrap="none" lIns="0" tIns="0" rIns="0" bIns="0" anchor="t" anchorCtr="0">
              <a:spAutoFit/>
            </a:bodyPr>
            <a:lstStyle/>
            <a:p>
              <a:pPr algn="l"/>
              <a:r>
                <a:rPr lang="en-US" sz="1050" dirty="0">
                  <a:solidFill>
                    <a:schemeClr val="accent5"/>
                  </a:solidFill>
                  <a:latin typeface="+mn-lt"/>
                  <a:ea typeface="+mn-ea"/>
                  <a:cs typeface="+mn-cs"/>
                </a:rPr>
                <a:t>Sources: paper Algorithm 1; project methodology and experiment manifest</a:t>
              </a:r>
            </a:p>
          </p:txBody>
        </p:sp>
        <p:sp>
          <p:nvSpPr>
            <p:cNvPr id="29" name="TextBox 29"/>
            <p:cNvSpPr txBox="1"/>
            <p:nvPr/>
          </p:nvSpPr>
          <p:spPr>
            <a:xfrm>
              <a:off x="11078680" y="6369050"/>
              <a:ext cx="166154"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Consolas"/>
                  <a:ea typeface="Consolas"/>
                  <a:cs typeface="Consolas"/>
                </a:rPr>
                <a:t>09</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ledger-rule"/>
          <p:cNvSpPr/>
          <p:nvPr/>
        </p:nvSpPr>
        <p:spPr>
          <a:xfrm>
            <a:off x="609600" y="400050"/>
            <a:ext cx="57150" cy="6000750"/>
          </a:xfrm>
          <a:prstGeom prst="rect">
            <a:avLst/>
          </a:prstGeom>
          <a:solidFill>
            <a:schemeClr val="accent2"/>
          </a:solidFill>
          <a:ln>
            <a:noFill/>
          </a:ln>
        </p:spPr>
      </p:sp>
      <p:grpSp>
        <p:nvGrpSpPr>
          <p:cNvPr id="5" name="heading"/>
          <p:cNvGrpSpPr/>
          <p:nvPr/>
        </p:nvGrpSpPr>
        <p:grpSpPr>
          <a:xfrm>
            <a:off x="941070" y="546100"/>
            <a:ext cx="9176651" cy="871855"/>
            <a:chOff x="941070" y="546100"/>
            <a:chExt cx="9176651" cy="871855"/>
          </a:xfrm>
        </p:grpSpPr>
        <p:sp>
          <p:nvSpPr>
            <p:cNvPr id="3" name="TextBox 3"/>
            <p:cNvSpPr txBox="1"/>
            <p:nvPr/>
          </p:nvSpPr>
          <p:spPr>
            <a:xfrm>
              <a:off x="946404" y="546100"/>
              <a:ext cx="2064715" cy="234696"/>
            </a:xfrm>
            <a:prstGeom prst="rect">
              <a:avLst/>
            </a:prstGeom>
            <a:noFill/>
            <a:ln>
              <a:noFill/>
            </a:ln>
          </p:spPr>
          <p:txBody>
            <a:bodyPr wrap="none" lIns="0" tIns="0" rIns="0" bIns="0" anchor="t" anchorCtr="0">
              <a:spAutoFit/>
            </a:bodyPr>
            <a:lstStyle/>
            <a:p>
              <a:pPr algn="l"/>
              <a:r>
                <a:rPr lang="en-US" sz="1200" spc="150" dirty="0">
                  <a:solidFill>
                    <a:schemeClr val="accent2"/>
                  </a:solidFill>
                  <a:latin typeface="Consolas"/>
                  <a:ea typeface="Consolas"/>
                  <a:cs typeface="Consolas"/>
                </a:rPr>
                <a:t>09 · LEAKAGE AUDIT</a:t>
              </a:r>
            </a:p>
          </p:txBody>
        </p:sp>
        <p:sp>
          <p:nvSpPr>
            <p:cNvPr id="4" name="TextBox 4"/>
            <p:cNvSpPr txBox="1"/>
            <p:nvPr/>
          </p:nvSpPr>
          <p:spPr>
            <a:xfrm>
              <a:off x="941070" y="977900"/>
              <a:ext cx="9176651" cy="440055"/>
            </a:xfrm>
            <a:prstGeom prst="rect">
              <a:avLst/>
            </a:prstGeom>
            <a:noFill/>
            <a:ln>
              <a:noFill/>
            </a:ln>
          </p:spPr>
          <p:txBody>
            <a:bodyPr wrap="none" lIns="0" tIns="0" rIns="0" bIns="0" anchor="t" anchorCtr="0">
              <a:spAutoFit/>
            </a:bodyPr>
            <a:lstStyle/>
            <a:p>
              <a:pPr algn="l"/>
              <a:r>
                <a:rPr lang="en-US" sz="2250" b="1" dirty="0">
                  <a:solidFill>
                    <a:schemeClr val="accent1"/>
                  </a:solidFill>
                  <a:latin typeface="+mj-lt"/>
                  <a:ea typeface="+mj-ea"/>
                  <a:cs typeface="+mj-cs"/>
                </a:rPr>
                <a:t>Random flow splits overstate cross-session generalization</a:t>
              </a:r>
            </a:p>
          </p:txBody>
        </p:sp>
      </p:grpSp>
      <p:grpSp>
        <p:nvGrpSpPr>
          <p:cNvPr id="10" name="split-comparison"/>
          <p:cNvGrpSpPr/>
          <p:nvPr/>
        </p:nvGrpSpPr>
        <p:grpSpPr>
          <a:xfrm>
            <a:off x="-5791200" y="1752600"/>
            <a:ext cx="14287500" cy="3848100"/>
            <a:chOff x="-5791200" y="1752600"/>
            <a:chExt cx="14287500" cy="3848100"/>
          </a:xfrm>
        </p:grpSpPr>
        <p:graphicFrame>
          <p:nvGraphicFramePr>
            <p:cNvPr id="6" name="split-comparison"/>
            <p:cNvGraphicFramePr>
              <a:graphicFrameLocks noGrp="1"/>
            </p:cNvGraphicFramePr>
            <p:nvPr/>
          </p:nvGraphicFramePr>
          <p:xfrm>
            <a:off x="952500" y="1752600"/>
            <a:ext cx="7239000" cy="3848100"/>
          </p:xfrm>
          <a:graphic>
            <a:graphicData uri="http://schemas.openxmlformats.org/drawingml/2006/chart">
              <c:chart xmlns:c="http://schemas.openxmlformats.org/drawingml/2006/chart" r:id="rId2"/>
            </a:graphicData>
          </a:graphic>
        </p:graphicFrame>
        <p:sp>
          <p:nvSpPr>
            <p:cNvPr id="7" name="Chart Note 7"/>
            <p:cNvSpPr txBox="1"/>
            <p:nvPr/>
          </p:nvSpPr>
          <p:spPr>
            <a:xfrm>
              <a:off x="1257300" y="1915478"/>
              <a:ext cx="7239000" cy="213360"/>
            </a:xfrm>
            <a:prstGeom prst="rect">
              <a:avLst/>
            </a:prstGeom>
            <a:noFill/>
            <a:ln>
              <a:noFill/>
            </a:ln>
          </p:spPr>
          <p:txBody>
            <a:bodyPr wrap="square" lIns="0" tIns="0" rIns="0" bIns="0" anchor="b" anchorCtr="0"/>
            <a:lstStyle/>
            <a:p>
              <a:pPr algn="l"/>
              <a:r>
                <a:rPr lang="en-US" sz="1050">
                  <a:solidFill>
                    <a:srgbClr val="172033"/>
                  </a:solidFill>
                  <a:latin typeface="Aptos"/>
                  <a:ea typeface="Microsoft YaHei"/>
                  <a:cs typeface="Aptos"/>
                </a:rPr>
                <a:t>Paper architecture · F1 at paper-selected windows</a:t>
              </a:r>
            </a:p>
          </p:txBody>
        </p:sp>
        <p:sp>
          <p:nvSpPr>
            <p:cNvPr id="8" name="Chart Note 8"/>
            <p:cNvSpPr txBox="1"/>
            <p:nvPr/>
          </p:nvSpPr>
          <p:spPr>
            <a:xfrm>
              <a:off x="-5791200" y="3572828"/>
              <a:ext cx="7239000" cy="213360"/>
            </a:xfrm>
            <a:prstGeom prst="rect">
              <a:avLst/>
            </a:prstGeom>
            <a:noFill/>
            <a:ln>
              <a:noFill/>
            </a:ln>
          </p:spPr>
          <p:txBody>
            <a:bodyPr wrap="square" lIns="0" tIns="0" rIns="0" bIns="0" anchor="b" anchorCtr="0"/>
            <a:lstStyle/>
            <a:p>
              <a:pPr algn="r"/>
              <a:r>
                <a:rPr lang="en-US" sz="1050">
                  <a:solidFill>
                    <a:srgbClr val="172033"/>
                  </a:solidFill>
                  <a:latin typeface="Aptos"/>
                  <a:ea typeface="Microsoft YaHei"/>
                  <a:cs typeface="Aptos"/>
                </a:rPr>
                <a:t>0.5</a:t>
              </a:r>
            </a:p>
          </p:txBody>
        </p:sp>
        <p:sp>
          <p:nvSpPr>
            <p:cNvPr id="9" name="Chart Note 9"/>
            <p:cNvSpPr txBox="1"/>
            <p:nvPr/>
          </p:nvSpPr>
          <p:spPr>
            <a:xfrm>
              <a:off x="-5791200" y="4868228"/>
              <a:ext cx="7239000" cy="213360"/>
            </a:xfrm>
            <a:prstGeom prst="rect">
              <a:avLst/>
            </a:prstGeom>
            <a:noFill/>
            <a:ln>
              <a:noFill/>
            </a:ln>
          </p:spPr>
          <p:txBody>
            <a:bodyPr wrap="square" lIns="0" tIns="0" rIns="0" bIns="0" anchor="b" anchorCtr="0"/>
            <a:lstStyle/>
            <a:p>
              <a:pPr algn="r"/>
              <a:r>
                <a:rPr lang="en-US" sz="1050">
                  <a:solidFill>
                    <a:srgbClr val="172033"/>
                  </a:solidFill>
                  <a:latin typeface="Aptos"/>
                  <a:ea typeface="Microsoft YaHei"/>
                  <a:cs typeface="Aptos"/>
                </a:rPr>
                <a:t>0.0</a:t>
              </a:r>
            </a:p>
          </p:txBody>
        </p:sp>
      </p:grpSp>
      <p:grpSp>
        <p:nvGrpSpPr>
          <p:cNvPr id="25" name="leakage-explanation"/>
          <p:cNvGrpSpPr/>
          <p:nvPr/>
        </p:nvGrpSpPr>
        <p:grpSpPr>
          <a:xfrm>
            <a:off x="8572500" y="1752600"/>
            <a:ext cx="2678978" cy="3848100"/>
            <a:chOff x="8572500" y="1752600"/>
            <a:chExt cx="2678978" cy="3848100"/>
          </a:xfrm>
        </p:grpSpPr>
        <p:sp>
          <p:nvSpPr>
            <p:cNvPr id="11" name="Rectangle 11"/>
            <p:cNvSpPr/>
            <p:nvPr/>
          </p:nvSpPr>
          <p:spPr>
            <a:xfrm>
              <a:off x="8572500" y="1752600"/>
              <a:ext cx="2667000" cy="3848100"/>
            </a:xfrm>
            <a:prstGeom prst="roundRect">
              <a:avLst>
                <a:gd name="adj" fmla="val 3571"/>
              </a:avLst>
            </a:prstGeom>
            <a:solidFill>
              <a:srgbClr val="FFF7ED"/>
            </a:solidFill>
            <a:ln w="19050">
              <a:solidFill>
                <a:schemeClr val="accent3"/>
              </a:solidFill>
            </a:ln>
          </p:spPr>
        </p:sp>
        <p:grpSp>
          <p:nvGrpSpPr>
            <p:cNvPr id="15" name="Group 15"/>
            <p:cNvGrpSpPr/>
            <p:nvPr/>
          </p:nvGrpSpPr>
          <p:grpSpPr>
            <a:xfrm>
              <a:off x="8893209" y="2125154"/>
              <a:ext cx="368219" cy="316349"/>
              <a:chOff x="8893209" y="2125154"/>
              <a:chExt cx="368219" cy="316349"/>
            </a:xfrm>
          </p:grpSpPr>
          <p:sp>
            <p:nvSpPr>
              <p:cNvPr id="12" name="Freeform 12"/>
              <p:cNvSpPr/>
              <p:nvPr/>
            </p:nvSpPr>
            <p:spPr>
              <a:xfrm>
                <a:off x="9077325" y="2240757"/>
                <a:ext cx="9525" cy="73025"/>
              </a:xfrm>
              <a:custGeom>
                <a:avLst/>
                <a:gdLst/>
                <a:ahLst/>
                <a:cxnLst/>
                <a:rect l="l" t="t" r="r" b="b"/>
                <a:pathLst>
                  <a:path w="9525" h="73025">
                    <a:moveTo>
                      <a:pt x="0" y="0"/>
                    </a:moveTo>
                    <a:lnTo>
                      <a:pt x="0" y="73025"/>
                    </a:lnTo>
                  </a:path>
                </a:pathLst>
              </a:custGeom>
              <a:noFill/>
              <a:ln w="36513">
                <a:solidFill>
                  <a:schemeClr val="accent3"/>
                </a:solidFill>
              </a:ln>
            </p:spPr>
          </p:sp>
          <p:sp>
            <p:nvSpPr>
              <p:cNvPr id="13" name="Freeform 13"/>
              <p:cNvSpPr/>
              <p:nvPr/>
            </p:nvSpPr>
            <p:spPr>
              <a:xfrm>
                <a:off x="8893209" y="2125154"/>
                <a:ext cx="368219" cy="316349"/>
              </a:xfrm>
              <a:custGeom>
                <a:avLst/>
                <a:gdLst/>
                <a:ahLst/>
                <a:cxnLst/>
                <a:rect l="l" t="t" r="r" b="b"/>
                <a:pathLst>
                  <a:path w="368219" h="316349">
                    <a:moveTo>
                      <a:pt x="154231" y="16855"/>
                    </a:moveTo>
                    <a:lnTo>
                      <a:pt x="6246" y="263935"/>
                    </a:lnTo>
                    <a:cubicBezTo>
                      <a:pt x="38" y="274686"/>
                      <a:pt x="0" y="287923"/>
                      <a:pt x="6146" y="298708"/>
                    </a:cubicBezTo>
                    <a:cubicBezTo>
                      <a:pt x="12292" y="309494"/>
                      <a:pt x="23700" y="316209"/>
                      <a:pt x="36113" y="316349"/>
                    </a:cubicBezTo>
                    <a:lnTo>
                      <a:pt x="332120" y="316349"/>
                    </a:lnTo>
                    <a:cubicBezTo>
                      <a:pt x="344528" y="316206"/>
                      <a:pt x="355929" y="309493"/>
                      <a:pt x="362074" y="298713"/>
                    </a:cubicBezTo>
                    <a:cubicBezTo>
                      <a:pt x="368219" y="287933"/>
                      <a:pt x="368186" y="274703"/>
                      <a:pt x="361988" y="263953"/>
                    </a:cubicBezTo>
                    <a:lnTo>
                      <a:pt x="214002" y="16836"/>
                    </a:lnTo>
                    <a:cubicBezTo>
                      <a:pt x="207670" y="6384"/>
                      <a:pt x="196337" y="0"/>
                      <a:pt x="184117" y="0"/>
                    </a:cubicBezTo>
                    <a:cubicBezTo>
                      <a:pt x="171896" y="0"/>
                      <a:pt x="160564" y="6384"/>
                      <a:pt x="154231" y="16836"/>
                    </a:cubicBezTo>
                  </a:path>
                </a:pathLst>
              </a:custGeom>
              <a:noFill/>
              <a:ln w="36513">
                <a:solidFill>
                  <a:schemeClr val="accent3"/>
                </a:solidFill>
              </a:ln>
            </p:spPr>
          </p:sp>
          <p:sp>
            <p:nvSpPr>
              <p:cNvPr id="14" name="Freeform 14"/>
              <p:cNvSpPr/>
              <p:nvPr/>
            </p:nvSpPr>
            <p:spPr>
              <a:xfrm>
                <a:off x="9077325" y="2368551"/>
                <a:ext cx="9525" cy="9525"/>
              </a:xfrm>
              <a:custGeom>
                <a:avLst/>
                <a:gdLst/>
                <a:ahLst/>
                <a:cxnLst/>
                <a:rect l="l" t="t" r="r" b="b"/>
                <a:pathLst>
                  <a:path w="9525" h="9525">
                    <a:moveTo>
                      <a:pt x="0" y="0"/>
                    </a:moveTo>
                    <a:lnTo>
                      <a:pt x="183" y="0"/>
                    </a:lnTo>
                  </a:path>
                </a:pathLst>
              </a:custGeom>
              <a:noFill/>
              <a:ln w="36513">
                <a:solidFill>
                  <a:schemeClr val="accent3"/>
                </a:solidFill>
              </a:ln>
            </p:spPr>
          </p:sp>
        </p:grpSp>
        <p:sp>
          <p:nvSpPr>
            <p:cNvPr id="16" name="TextBox 16"/>
            <p:cNvSpPr txBox="1"/>
            <p:nvPr/>
          </p:nvSpPr>
          <p:spPr>
            <a:xfrm>
              <a:off x="8849106" y="2660650"/>
              <a:ext cx="1834049"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n-lt"/>
                  <a:ea typeface="+mn-ea"/>
                  <a:cs typeface="+mn-cs"/>
                </a:rPr>
                <a:t>What changed?</a:t>
              </a:r>
            </a:p>
          </p:txBody>
        </p:sp>
        <p:sp>
          <p:nvSpPr>
            <p:cNvPr id="17" name="TextBox 17"/>
            <p:cNvSpPr txBox="1"/>
            <p:nvPr/>
          </p:nvSpPr>
          <p:spPr>
            <a:xfrm>
              <a:off x="8851392" y="3124200"/>
              <a:ext cx="1982323"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Random split can place</a:t>
              </a:r>
            </a:p>
          </p:txBody>
        </p:sp>
        <p:sp>
          <p:nvSpPr>
            <p:cNvPr id="18" name="TextBox 18"/>
            <p:cNvSpPr txBox="1"/>
            <p:nvPr/>
          </p:nvSpPr>
          <p:spPr>
            <a:xfrm>
              <a:off x="8851392" y="3371850"/>
              <a:ext cx="2103692"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flows from one capture</a:t>
              </a:r>
            </a:p>
          </p:txBody>
        </p:sp>
        <p:sp>
          <p:nvSpPr>
            <p:cNvPr id="19" name="TextBox 19"/>
            <p:cNvSpPr txBox="1"/>
            <p:nvPr/>
          </p:nvSpPr>
          <p:spPr>
            <a:xfrm>
              <a:off x="8851392" y="3619500"/>
              <a:ext cx="1985562"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session on both sides.</a:t>
              </a:r>
            </a:p>
          </p:txBody>
        </p:sp>
        <p:sp>
          <p:nvSpPr>
            <p:cNvPr id="20" name="Line 20"/>
            <p:cNvSpPr/>
            <p:nvPr/>
          </p:nvSpPr>
          <p:spPr>
            <a:xfrm>
              <a:off x="8858250" y="4095750"/>
              <a:ext cx="2095500" cy="9525"/>
            </a:xfrm>
            <a:custGeom>
              <a:avLst/>
              <a:gdLst/>
              <a:ahLst/>
              <a:cxnLst/>
              <a:rect l="l" t="t" r="r" b="b"/>
              <a:pathLst>
                <a:path w="2095500" h="9525">
                  <a:moveTo>
                    <a:pt x="0" y="0"/>
                  </a:moveTo>
                  <a:lnTo>
                    <a:pt x="2095500" y="0"/>
                  </a:lnTo>
                </a:path>
              </a:pathLst>
            </a:custGeom>
            <a:noFill/>
            <a:ln w="9525">
              <a:solidFill>
                <a:schemeClr val="accent3"/>
              </a:solidFill>
            </a:ln>
          </p:spPr>
        </p:sp>
        <p:sp>
          <p:nvSpPr>
            <p:cNvPr id="21" name="TextBox 21"/>
            <p:cNvSpPr txBox="1"/>
            <p:nvPr/>
          </p:nvSpPr>
          <p:spPr>
            <a:xfrm>
              <a:off x="8851392" y="4305300"/>
              <a:ext cx="2400086"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Group-disjoint split forces</a:t>
              </a:r>
            </a:p>
          </p:txBody>
        </p:sp>
        <p:sp>
          <p:nvSpPr>
            <p:cNvPr id="22" name="TextBox 22"/>
            <p:cNvSpPr txBox="1"/>
            <p:nvPr/>
          </p:nvSpPr>
          <p:spPr>
            <a:xfrm>
              <a:off x="8851392" y="4552950"/>
              <a:ext cx="2321776"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unseen-session transfer.</a:t>
              </a:r>
            </a:p>
          </p:txBody>
        </p:sp>
        <p:sp>
          <p:nvSpPr>
            <p:cNvPr id="23" name="TextBox 23"/>
            <p:cNvSpPr txBox="1"/>
            <p:nvPr/>
          </p:nvSpPr>
          <p:spPr>
            <a:xfrm>
              <a:off x="8852154" y="5080000"/>
              <a:ext cx="2316216" cy="234696"/>
            </a:xfrm>
            <a:prstGeom prst="rect">
              <a:avLst/>
            </a:prstGeom>
            <a:noFill/>
            <a:ln>
              <a:noFill/>
            </a:ln>
          </p:spPr>
          <p:txBody>
            <a:bodyPr wrap="none" lIns="0" tIns="0" rIns="0" bIns="0" anchor="t" anchorCtr="0">
              <a:spAutoFit/>
            </a:bodyPr>
            <a:lstStyle/>
            <a:p>
              <a:pPr algn="l"/>
              <a:r>
                <a:rPr lang="en-US" sz="1200" b="1" dirty="0">
                  <a:solidFill>
                    <a:srgbClr val="B42318"/>
                  </a:solidFill>
                  <a:latin typeface="+mn-lt"/>
                  <a:ea typeface="+mn-ea"/>
                  <a:cs typeface="+mn-cs"/>
                </a:rPr>
                <a:t>Protocol—not architecture—</a:t>
              </a:r>
            </a:p>
          </p:txBody>
        </p:sp>
        <p:sp>
          <p:nvSpPr>
            <p:cNvPr id="24" name="TextBox 24"/>
            <p:cNvSpPr txBox="1"/>
            <p:nvPr/>
          </p:nvSpPr>
          <p:spPr>
            <a:xfrm>
              <a:off x="8852154" y="5289550"/>
              <a:ext cx="1810177" cy="234696"/>
            </a:xfrm>
            <a:prstGeom prst="rect">
              <a:avLst/>
            </a:prstGeom>
            <a:noFill/>
            <a:ln>
              <a:noFill/>
            </a:ln>
          </p:spPr>
          <p:txBody>
            <a:bodyPr wrap="none" lIns="0" tIns="0" rIns="0" bIns="0" anchor="t" anchorCtr="0">
              <a:spAutoFit/>
            </a:bodyPr>
            <a:lstStyle/>
            <a:p>
              <a:pPr algn="l"/>
              <a:r>
                <a:rPr lang="en-US" sz="1200" b="1" dirty="0">
                  <a:solidFill>
                    <a:srgbClr val="B42318"/>
                  </a:solidFill>
                  <a:latin typeface="+mn-lt"/>
                  <a:ea typeface="+mn-ea"/>
                  <a:cs typeface="+mn-cs"/>
                </a:rPr>
                <a:t>explains the collapse.</a:t>
              </a:r>
            </a:p>
          </p:txBody>
        </p:sp>
      </p:grpSp>
      <p:grpSp>
        <p:nvGrpSpPr>
          <p:cNvPr id="27" name="takeaway"/>
          <p:cNvGrpSpPr/>
          <p:nvPr/>
        </p:nvGrpSpPr>
        <p:grpSpPr>
          <a:xfrm>
            <a:off x="944118" y="5848350"/>
            <a:ext cx="8362318" cy="322707"/>
            <a:chOff x="944118" y="5848350"/>
            <a:chExt cx="8362318" cy="322707"/>
          </a:xfrm>
        </p:grpSpPr>
        <p:sp>
          <p:nvSpPr>
            <p:cNvPr id="26" name="TextBox 26"/>
            <p:cNvSpPr txBox="1"/>
            <p:nvPr/>
          </p:nvSpPr>
          <p:spPr>
            <a:xfrm>
              <a:off x="944118" y="5848350"/>
              <a:ext cx="8362318"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High random-split accuracy is not evidence of deployment generalization.</a:t>
              </a:r>
            </a:p>
          </p:txBody>
        </p:sp>
      </p:grpSp>
      <p:grpSp>
        <p:nvGrpSpPr>
          <p:cNvPr id="30" name="footer"/>
          <p:cNvGrpSpPr/>
          <p:nvPr/>
        </p:nvGrpSpPr>
        <p:grpSpPr>
          <a:xfrm>
            <a:off x="947166" y="6369050"/>
            <a:ext cx="10297668" cy="205359"/>
            <a:chOff x="947166" y="6369050"/>
            <a:chExt cx="10297668" cy="205359"/>
          </a:xfrm>
        </p:grpSpPr>
        <p:sp>
          <p:nvSpPr>
            <p:cNvPr id="28" name="TextBox 28"/>
            <p:cNvSpPr txBox="1"/>
            <p:nvPr/>
          </p:nvSpPr>
          <p:spPr>
            <a:xfrm>
              <a:off x="947166" y="6369050"/>
              <a:ext cx="3789708" cy="205359"/>
            </a:xfrm>
            <a:prstGeom prst="rect">
              <a:avLst/>
            </a:prstGeom>
            <a:noFill/>
            <a:ln>
              <a:noFill/>
            </a:ln>
          </p:spPr>
          <p:txBody>
            <a:bodyPr wrap="none" lIns="0" tIns="0" rIns="0" bIns="0" anchor="t" anchorCtr="0">
              <a:spAutoFit/>
            </a:bodyPr>
            <a:lstStyle/>
            <a:p>
              <a:pPr algn="l"/>
              <a:r>
                <a:rPr lang="en-US" sz="1050" dirty="0">
                  <a:solidFill>
                    <a:schemeClr val="accent5"/>
                  </a:solidFill>
                  <a:latin typeface="+mn-lt"/>
                  <a:ea typeface="+mn-ea"/>
                  <a:cs typeface="+mn-cs"/>
                </a:rPr>
                <a:t>Source: reports/paper_comparison/leakage_audit.csv</a:t>
              </a:r>
            </a:p>
          </p:txBody>
        </p:sp>
        <p:sp>
          <p:nvSpPr>
            <p:cNvPr id="29" name="TextBox 29"/>
            <p:cNvSpPr txBox="1"/>
            <p:nvPr/>
          </p:nvSpPr>
          <p:spPr>
            <a:xfrm>
              <a:off x="11078680" y="6369050"/>
              <a:ext cx="166154"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Consolas"/>
                  <a:ea typeface="Consolas"/>
                  <a:cs typeface="Consolas"/>
                </a:rPr>
                <a:t>10</a:t>
              </a:r>
            </a:p>
          </p:txBody>
        </p:sp>
      </p:gr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ledger-rule"/>
          <p:cNvSpPr/>
          <p:nvPr/>
        </p:nvSpPr>
        <p:spPr>
          <a:xfrm>
            <a:off x="609600" y="400050"/>
            <a:ext cx="57150" cy="6000750"/>
          </a:xfrm>
          <a:prstGeom prst="rect">
            <a:avLst/>
          </a:prstGeom>
          <a:solidFill>
            <a:schemeClr val="accent2"/>
          </a:solidFill>
          <a:ln>
            <a:noFill/>
          </a:ln>
        </p:spPr>
      </p:sp>
      <p:grpSp>
        <p:nvGrpSpPr>
          <p:cNvPr id="5" name="heading"/>
          <p:cNvGrpSpPr/>
          <p:nvPr/>
        </p:nvGrpSpPr>
        <p:grpSpPr>
          <a:xfrm>
            <a:off x="941070" y="546100"/>
            <a:ext cx="8079617" cy="871855"/>
            <a:chOff x="941070" y="546100"/>
            <a:chExt cx="8079617" cy="871855"/>
          </a:xfrm>
        </p:grpSpPr>
        <p:sp>
          <p:nvSpPr>
            <p:cNvPr id="3" name="TextBox 3"/>
            <p:cNvSpPr txBox="1"/>
            <p:nvPr/>
          </p:nvSpPr>
          <p:spPr>
            <a:xfrm>
              <a:off x="946404" y="546100"/>
              <a:ext cx="2756002" cy="234696"/>
            </a:xfrm>
            <a:prstGeom prst="rect">
              <a:avLst/>
            </a:prstGeom>
            <a:noFill/>
            <a:ln>
              <a:noFill/>
            </a:ln>
          </p:spPr>
          <p:txBody>
            <a:bodyPr wrap="none" lIns="0" tIns="0" rIns="0" bIns="0" anchor="t" anchorCtr="0">
              <a:spAutoFit/>
            </a:bodyPr>
            <a:lstStyle/>
            <a:p>
              <a:pPr algn="l"/>
              <a:r>
                <a:rPr lang="en-US" sz="1200" spc="150" dirty="0">
                  <a:solidFill>
                    <a:schemeClr val="accent2"/>
                  </a:solidFill>
                  <a:latin typeface="Consolas"/>
                  <a:ea typeface="Consolas"/>
                  <a:cs typeface="Consolas"/>
                </a:rPr>
                <a:t>10 · RAW-PCAP EXPERIMENT</a:t>
              </a:r>
            </a:p>
          </p:txBody>
        </p:sp>
        <p:sp>
          <p:nvSpPr>
            <p:cNvPr id="4" name="TextBox 4"/>
            <p:cNvSpPr txBox="1"/>
            <p:nvPr/>
          </p:nvSpPr>
          <p:spPr>
            <a:xfrm>
              <a:off x="941070" y="977900"/>
              <a:ext cx="8079617" cy="440055"/>
            </a:xfrm>
            <a:prstGeom prst="rect">
              <a:avLst/>
            </a:prstGeom>
            <a:noFill/>
            <a:ln>
              <a:noFill/>
            </a:ln>
          </p:spPr>
          <p:txBody>
            <a:bodyPr wrap="none" lIns="0" tIns="0" rIns="0" bIns="0" anchor="t" anchorCtr="0">
              <a:spAutoFit/>
            </a:bodyPr>
            <a:lstStyle/>
            <a:p>
              <a:pPr algn="l"/>
              <a:r>
                <a:rPr lang="en-US" sz="2250" b="1" dirty="0">
                  <a:solidFill>
                    <a:schemeClr val="accent1"/>
                  </a:solidFill>
                  <a:latin typeface="+mj-lt"/>
                  <a:ea typeface="+mj-ea"/>
                  <a:cs typeface="+mj-cs"/>
                </a:rPr>
                <a:t>The corrected run is broad—but intentionally capped</a:t>
              </a:r>
            </a:p>
          </p:txBody>
        </p:sp>
      </p:grpSp>
      <p:grpSp>
        <p:nvGrpSpPr>
          <p:cNvPr id="9" name="capture-count"/>
          <p:cNvGrpSpPr/>
          <p:nvPr/>
        </p:nvGrpSpPr>
        <p:grpSpPr>
          <a:xfrm>
            <a:off x="933450" y="2133600"/>
            <a:ext cx="2840959" cy="1390396"/>
            <a:chOff x="933450" y="2133600"/>
            <a:chExt cx="2840959" cy="1390396"/>
          </a:xfrm>
        </p:grpSpPr>
        <p:sp>
          <p:nvSpPr>
            <p:cNvPr id="6" name="TextBox 6"/>
            <p:cNvSpPr txBox="1"/>
            <p:nvPr/>
          </p:nvSpPr>
          <p:spPr>
            <a:xfrm>
              <a:off x="933450" y="2133600"/>
              <a:ext cx="2303755" cy="990600"/>
            </a:xfrm>
            <a:prstGeom prst="rect">
              <a:avLst/>
            </a:prstGeom>
            <a:noFill/>
            <a:ln>
              <a:noFill/>
            </a:ln>
          </p:spPr>
          <p:txBody>
            <a:bodyPr wrap="none" lIns="0" tIns="0" rIns="0" bIns="0" anchor="t" anchorCtr="0">
              <a:spAutoFit/>
            </a:bodyPr>
            <a:lstStyle/>
            <a:p>
              <a:pPr algn="l"/>
              <a:r>
                <a:rPr lang="en-US" sz="5100" b="1" dirty="0">
                  <a:solidFill>
                    <a:schemeClr val="accent2"/>
                  </a:solidFill>
                  <a:latin typeface="Consolas"/>
                  <a:ea typeface="Consolas"/>
                  <a:cs typeface="Consolas"/>
                </a:rPr>
                <a:t>13,754</a:t>
              </a:r>
            </a:p>
          </p:txBody>
        </p:sp>
        <p:sp>
          <p:nvSpPr>
            <p:cNvPr id="7" name="TextBox 7"/>
            <p:cNvSpPr txBox="1"/>
            <p:nvPr/>
          </p:nvSpPr>
          <p:spPr>
            <a:xfrm>
              <a:off x="982218" y="2952750"/>
              <a:ext cx="2792191"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capture sources audited</a:t>
              </a:r>
            </a:p>
          </p:txBody>
        </p:sp>
        <p:sp>
          <p:nvSpPr>
            <p:cNvPr id="8" name="TextBox 8"/>
            <p:cNvSpPr txBox="1"/>
            <p:nvPr/>
          </p:nvSpPr>
          <p:spPr>
            <a:xfrm>
              <a:off x="984504" y="3289300"/>
              <a:ext cx="1756867"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13,150 session groups</a:t>
              </a:r>
            </a:p>
          </p:txBody>
        </p:sp>
      </p:grpSp>
      <p:grpSp>
        <p:nvGrpSpPr>
          <p:cNvPr id="13" name="byte-count"/>
          <p:cNvGrpSpPr/>
          <p:nvPr/>
        </p:nvGrpSpPr>
        <p:grpSpPr>
          <a:xfrm>
            <a:off x="4457700" y="2133600"/>
            <a:ext cx="2830982" cy="1390396"/>
            <a:chOff x="4457700" y="2133600"/>
            <a:chExt cx="2830982" cy="1390396"/>
          </a:xfrm>
        </p:grpSpPr>
        <p:sp>
          <p:nvSpPr>
            <p:cNvPr id="10" name="TextBox 10"/>
            <p:cNvSpPr txBox="1"/>
            <p:nvPr/>
          </p:nvSpPr>
          <p:spPr>
            <a:xfrm>
              <a:off x="4457700" y="2133600"/>
              <a:ext cx="2830982" cy="990600"/>
            </a:xfrm>
            <a:prstGeom prst="rect">
              <a:avLst/>
            </a:prstGeom>
            <a:noFill/>
            <a:ln>
              <a:noFill/>
            </a:ln>
          </p:spPr>
          <p:txBody>
            <a:bodyPr wrap="none" lIns="0" tIns="0" rIns="0" bIns="0" anchor="t" anchorCtr="0">
              <a:spAutoFit/>
            </a:bodyPr>
            <a:lstStyle/>
            <a:p>
              <a:pPr algn="l"/>
              <a:r>
                <a:rPr lang="en-US" sz="5100" b="1" dirty="0">
                  <a:solidFill>
                    <a:schemeClr val="accent2"/>
                  </a:solidFill>
                  <a:latin typeface="Consolas"/>
                  <a:ea typeface="Consolas"/>
                  <a:cs typeface="Consolas"/>
                </a:rPr>
                <a:t>97.1 GB</a:t>
              </a:r>
            </a:p>
          </p:txBody>
        </p:sp>
        <p:sp>
          <p:nvSpPr>
            <p:cNvPr id="11" name="TextBox 11"/>
            <p:cNvSpPr txBox="1"/>
            <p:nvPr/>
          </p:nvSpPr>
          <p:spPr>
            <a:xfrm>
              <a:off x="4506468" y="2952750"/>
              <a:ext cx="2640592"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uncompressed evidence</a:t>
              </a:r>
            </a:p>
          </p:txBody>
        </p:sp>
        <p:sp>
          <p:nvSpPr>
            <p:cNvPr id="12" name="TextBox 12"/>
            <p:cNvSpPr txBox="1"/>
            <p:nvPr/>
          </p:nvSpPr>
          <p:spPr>
            <a:xfrm>
              <a:off x="4508754" y="3289300"/>
              <a:ext cx="2069506"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one invalid PCAPNG skipped</a:t>
              </a:r>
            </a:p>
          </p:txBody>
        </p:sp>
      </p:grpSp>
      <p:grpSp>
        <p:nvGrpSpPr>
          <p:cNvPr id="17" name="flow-count"/>
          <p:cNvGrpSpPr/>
          <p:nvPr/>
        </p:nvGrpSpPr>
        <p:grpSpPr>
          <a:xfrm>
            <a:off x="7981950" y="2133600"/>
            <a:ext cx="2681364" cy="1390396"/>
            <a:chOff x="7981950" y="2133600"/>
            <a:chExt cx="2681364" cy="1390396"/>
          </a:xfrm>
        </p:grpSpPr>
        <p:sp>
          <p:nvSpPr>
            <p:cNvPr id="14" name="TextBox 14"/>
            <p:cNvSpPr txBox="1"/>
            <p:nvPr/>
          </p:nvSpPr>
          <p:spPr>
            <a:xfrm>
              <a:off x="7981950" y="2133600"/>
              <a:ext cx="2681364" cy="990600"/>
            </a:xfrm>
            <a:prstGeom prst="rect">
              <a:avLst/>
            </a:prstGeom>
            <a:noFill/>
            <a:ln>
              <a:noFill/>
            </a:ln>
          </p:spPr>
          <p:txBody>
            <a:bodyPr wrap="none" lIns="0" tIns="0" rIns="0" bIns="0" anchor="t" anchorCtr="0">
              <a:spAutoFit/>
            </a:bodyPr>
            <a:lstStyle/>
            <a:p>
              <a:pPr algn="l"/>
              <a:r>
                <a:rPr lang="en-US" sz="5100" b="1" dirty="0">
                  <a:solidFill>
                    <a:schemeClr val="accent2"/>
                  </a:solidFill>
                  <a:latin typeface="Consolas"/>
                  <a:ea typeface="Consolas"/>
                  <a:cs typeface="Consolas"/>
                </a:rPr>
                <a:t>201,321</a:t>
              </a:r>
            </a:p>
          </p:txBody>
        </p:sp>
        <p:sp>
          <p:nvSpPr>
            <p:cNvPr id="15" name="TextBox 15"/>
            <p:cNvSpPr txBox="1"/>
            <p:nvPr/>
          </p:nvSpPr>
          <p:spPr>
            <a:xfrm>
              <a:off x="8030718" y="2952750"/>
              <a:ext cx="1870936"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flows processed</a:t>
              </a:r>
            </a:p>
          </p:txBody>
        </p:sp>
        <p:sp>
          <p:nvSpPr>
            <p:cNvPr id="16" name="TextBox 16"/>
            <p:cNvSpPr txBox="1"/>
            <p:nvPr/>
          </p:nvSpPr>
          <p:spPr>
            <a:xfrm>
              <a:off x="8033004" y="3289300"/>
              <a:ext cx="2168804"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1,325 retained for training</a:t>
              </a:r>
            </a:p>
          </p:txBody>
        </p:sp>
      </p:grpSp>
      <p:grpSp>
        <p:nvGrpSpPr>
          <p:cNvPr id="26" name="class-ledger"/>
          <p:cNvGrpSpPr/>
          <p:nvPr/>
        </p:nvGrpSpPr>
        <p:grpSpPr>
          <a:xfrm>
            <a:off x="952500" y="4095750"/>
            <a:ext cx="10287000" cy="1238250"/>
            <a:chOff x="952500" y="4095750"/>
            <a:chExt cx="10287000" cy="1238250"/>
          </a:xfrm>
        </p:grpSpPr>
        <p:sp>
          <p:nvSpPr>
            <p:cNvPr id="18" name="Rectangle 18"/>
            <p:cNvSpPr/>
            <p:nvPr/>
          </p:nvSpPr>
          <p:spPr>
            <a:xfrm>
              <a:off x="952500" y="4095750"/>
              <a:ext cx="10287000" cy="1238250"/>
            </a:xfrm>
            <a:prstGeom prst="roundRect">
              <a:avLst>
                <a:gd name="adj" fmla="val 7692"/>
              </a:avLst>
            </a:prstGeom>
            <a:solidFill>
              <a:srgbClr val="FFFFFF"/>
            </a:solidFill>
            <a:ln w="19050">
              <a:solidFill>
                <a:schemeClr val="accent6"/>
              </a:solidFill>
            </a:ln>
          </p:spPr>
        </p:sp>
        <p:sp>
          <p:nvSpPr>
            <p:cNvPr id="19" name="TextBox 19"/>
            <p:cNvSpPr txBox="1"/>
            <p:nvPr/>
          </p:nvSpPr>
          <p:spPr>
            <a:xfrm>
              <a:off x="1250442" y="4362450"/>
              <a:ext cx="2193188"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RETAINED CLASS BALANCE</a:t>
              </a:r>
            </a:p>
          </p:txBody>
        </p:sp>
        <p:sp>
          <p:nvSpPr>
            <p:cNvPr id="20" name="TextBox 20"/>
            <p:cNvSpPr txBox="1"/>
            <p:nvPr/>
          </p:nvSpPr>
          <p:spPr>
            <a:xfrm>
              <a:off x="1246632" y="4737100"/>
              <a:ext cx="487794" cy="410718"/>
            </a:xfrm>
            <a:prstGeom prst="rect">
              <a:avLst/>
            </a:prstGeom>
            <a:noFill/>
            <a:ln>
              <a:noFill/>
            </a:ln>
          </p:spPr>
          <p:txBody>
            <a:bodyPr wrap="none" lIns="0" tIns="0" rIns="0" bIns="0" anchor="t" anchorCtr="0">
              <a:spAutoFit/>
            </a:bodyPr>
            <a:lstStyle/>
            <a:p>
              <a:pPr algn="l"/>
              <a:r>
                <a:rPr lang="en-US" sz="2100" b="1" dirty="0">
                  <a:solidFill>
                    <a:schemeClr val="accent1"/>
                  </a:solidFill>
                  <a:latin typeface="Consolas"/>
                  <a:ea typeface="Consolas"/>
                  <a:cs typeface="Consolas"/>
                </a:rPr>
                <a:t>500</a:t>
              </a:r>
            </a:p>
          </p:txBody>
        </p:sp>
        <p:sp>
          <p:nvSpPr>
            <p:cNvPr id="21" name="TextBox 21"/>
            <p:cNvSpPr txBox="1"/>
            <p:nvPr/>
          </p:nvSpPr>
          <p:spPr>
            <a:xfrm>
              <a:off x="1992630" y="4813300"/>
              <a:ext cx="807339"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non-DoH</a:t>
              </a:r>
            </a:p>
          </p:txBody>
        </p:sp>
        <p:sp>
          <p:nvSpPr>
            <p:cNvPr id="22" name="TextBox 22"/>
            <p:cNvSpPr txBox="1"/>
            <p:nvPr/>
          </p:nvSpPr>
          <p:spPr>
            <a:xfrm>
              <a:off x="4427982" y="4737100"/>
              <a:ext cx="487794" cy="410718"/>
            </a:xfrm>
            <a:prstGeom prst="rect">
              <a:avLst/>
            </a:prstGeom>
            <a:noFill/>
            <a:ln>
              <a:noFill/>
            </a:ln>
          </p:spPr>
          <p:txBody>
            <a:bodyPr wrap="none" lIns="0" tIns="0" rIns="0" bIns="0" anchor="t" anchorCtr="0">
              <a:spAutoFit/>
            </a:bodyPr>
            <a:lstStyle/>
            <a:p>
              <a:pPr algn="l"/>
              <a:r>
                <a:rPr lang="en-US" sz="2100" b="1" dirty="0">
                  <a:solidFill>
                    <a:schemeClr val="accent2"/>
                  </a:solidFill>
                  <a:latin typeface="Consolas"/>
                  <a:ea typeface="Consolas"/>
                  <a:cs typeface="Consolas"/>
                </a:rPr>
                <a:t>325</a:t>
              </a:r>
            </a:p>
          </p:txBody>
        </p:sp>
        <p:sp>
          <p:nvSpPr>
            <p:cNvPr id="23" name="TextBox 23"/>
            <p:cNvSpPr txBox="1"/>
            <p:nvPr/>
          </p:nvSpPr>
          <p:spPr>
            <a:xfrm>
              <a:off x="5173980" y="4813300"/>
              <a:ext cx="1037590"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benign DoH</a:t>
              </a:r>
            </a:p>
          </p:txBody>
        </p:sp>
        <p:sp>
          <p:nvSpPr>
            <p:cNvPr id="24" name="TextBox 24"/>
            <p:cNvSpPr txBox="1"/>
            <p:nvPr/>
          </p:nvSpPr>
          <p:spPr>
            <a:xfrm>
              <a:off x="7799832" y="4737100"/>
              <a:ext cx="487794" cy="410718"/>
            </a:xfrm>
            <a:prstGeom prst="rect">
              <a:avLst/>
            </a:prstGeom>
            <a:noFill/>
            <a:ln>
              <a:noFill/>
            </a:ln>
          </p:spPr>
          <p:txBody>
            <a:bodyPr wrap="none" lIns="0" tIns="0" rIns="0" bIns="0" anchor="t" anchorCtr="0">
              <a:spAutoFit/>
            </a:bodyPr>
            <a:lstStyle/>
            <a:p>
              <a:pPr algn="l"/>
              <a:r>
                <a:rPr lang="en-US" sz="2100" b="1" dirty="0">
                  <a:solidFill>
                    <a:schemeClr val="accent3"/>
                  </a:solidFill>
                  <a:latin typeface="Consolas"/>
                  <a:ea typeface="Consolas"/>
                  <a:cs typeface="Consolas"/>
                </a:rPr>
                <a:t>500</a:t>
              </a:r>
            </a:p>
          </p:txBody>
        </p:sp>
        <p:sp>
          <p:nvSpPr>
            <p:cNvPr id="25" name="TextBox 25"/>
            <p:cNvSpPr txBox="1"/>
            <p:nvPr/>
          </p:nvSpPr>
          <p:spPr>
            <a:xfrm>
              <a:off x="8545830" y="4813300"/>
              <a:ext cx="1309592"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malicious DoH</a:t>
              </a:r>
            </a:p>
          </p:txBody>
        </p:sp>
      </p:grpSp>
      <p:grpSp>
        <p:nvGrpSpPr>
          <p:cNvPr id="36" name="scope-warning"/>
          <p:cNvGrpSpPr/>
          <p:nvPr/>
        </p:nvGrpSpPr>
        <p:grpSpPr>
          <a:xfrm>
            <a:off x="1027906" y="5645944"/>
            <a:ext cx="9282438" cy="391763"/>
            <a:chOff x="1027906" y="5645944"/>
            <a:chExt cx="9282438" cy="391763"/>
          </a:xfrm>
        </p:grpSpPr>
        <p:grpSp>
          <p:nvGrpSpPr>
            <p:cNvPr id="34" name="Group 34"/>
            <p:cNvGrpSpPr/>
            <p:nvPr/>
          </p:nvGrpSpPr>
          <p:grpSpPr>
            <a:xfrm>
              <a:off x="1027906" y="5645944"/>
              <a:ext cx="226219" cy="280987"/>
              <a:chOff x="1027906" y="5645944"/>
              <a:chExt cx="226219" cy="280987"/>
            </a:xfrm>
          </p:grpSpPr>
          <p:sp>
            <p:nvSpPr>
              <p:cNvPr id="27" name="Freeform 27"/>
              <p:cNvSpPr/>
              <p:nvPr/>
            </p:nvSpPr>
            <p:spPr>
              <a:xfrm>
                <a:off x="1027906" y="5917406"/>
                <a:ext cx="211137" cy="9525"/>
              </a:xfrm>
              <a:custGeom>
                <a:avLst/>
                <a:gdLst/>
                <a:ahLst/>
                <a:cxnLst/>
                <a:rect l="l" t="t" r="r" b="b"/>
                <a:pathLst>
                  <a:path w="211137" h="9525">
                    <a:moveTo>
                      <a:pt x="0" y="0"/>
                    </a:moveTo>
                    <a:lnTo>
                      <a:pt x="211137" y="0"/>
                    </a:lnTo>
                  </a:path>
                </a:pathLst>
              </a:custGeom>
              <a:noFill/>
              <a:ln w="30162">
                <a:solidFill>
                  <a:schemeClr val="accent3"/>
                </a:solidFill>
              </a:ln>
            </p:spPr>
          </p:sp>
          <p:sp>
            <p:nvSpPr>
              <p:cNvPr id="28" name="Freeform 28"/>
              <p:cNvSpPr/>
              <p:nvPr/>
            </p:nvSpPr>
            <p:spPr>
              <a:xfrm>
                <a:off x="1042987" y="5872162"/>
                <a:ext cx="30162" cy="9525"/>
              </a:xfrm>
              <a:custGeom>
                <a:avLst/>
                <a:gdLst/>
                <a:ahLst/>
                <a:cxnLst/>
                <a:rect l="l" t="t" r="r" b="b"/>
                <a:pathLst>
                  <a:path w="30162" h="9525">
                    <a:moveTo>
                      <a:pt x="0" y="0"/>
                    </a:moveTo>
                    <a:lnTo>
                      <a:pt x="30162" y="0"/>
                    </a:lnTo>
                  </a:path>
                </a:pathLst>
              </a:custGeom>
              <a:noFill/>
              <a:ln w="30162">
                <a:solidFill>
                  <a:schemeClr val="accent3"/>
                </a:solidFill>
              </a:ln>
            </p:spPr>
          </p:sp>
          <p:sp>
            <p:nvSpPr>
              <p:cNvPr id="29" name="Freeform 29"/>
              <p:cNvSpPr/>
              <p:nvPr/>
            </p:nvSpPr>
            <p:spPr>
              <a:xfrm>
                <a:off x="1058069" y="5872162"/>
                <a:ext cx="9525" cy="45244"/>
              </a:xfrm>
              <a:custGeom>
                <a:avLst/>
                <a:gdLst/>
                <a:ahLst/>
                <a:cxnLst/>
                <a:rect l="l" t="t" r="r" b="b"/>
                <a:pathLst>
                  <a:path w="9525" h="45244">
                    <a:moveTo>
                      <a:pt x="0" y="0"/>
                    </a:moveTo>
                    <a:lnTo>
                      <a:pt x="0" y="45244"/>
                    </a:lnTo>
                  </a:path>
                </a:pathLst>
              </a:custGeom>
              <a:noFill/>
              <a:ln w="30162">
                <a:solidFill>
                  <a:schemeClr val="accent3"/>
                </a:solidFill>
              </a:ln>
            </p:spPr>
          </p:sp>
          <p:sp>
            <p:nvSpPr>
              <p:cNvPr id="30" name="Freeform 30"/>
              <p:cNvSpPr/>
              <p:nvPr/>
            </p:nvSpPr>
            <p:spPr>
              <a:xfrm>
                <a:off x="1088231" y="5676106"/>
                <a:ext cx="135731" cy="135731"/>
              </a:xfrm>
              <a:custGeom>
                <a:avLst/>
                <a:gdLst/>
                <a:ahLst/>
                <a:cxnLst/>
                <a:rect l="l" t="t" r="r" b="b"/>
                <a:pathLst>
                  <a:path w="135731" h="135731">
                    <a:moveTo>
                      <a:pt x="0" y="90487"/>
                    </a:moveTo>
                    <a:lnTo>
                      <a:pt x="45244" y="135731"/>
                    </a:lnTo>
                    <a:lnTo>
                      <a:pt x="135731" y="45244"/>
                    </a:lnTo>
                    <a:lnTo>
                      <a:pt x="90487" y="0"/>
                    </a:lnTo>
                    <a:lnTo>
                      <a:pt x="0" y="90487"/>
                    </a:lnTo>
                  </a:path>
                </a:pathLst>
              </a:custGeom>
              <a:noFill/>
              <a:ln w="30162">
                <a:solidFill>
                  <a:schemeClr val="accent3"/>
                </a:solidFill>
              </a:ln>
            </p:spPr>
          </p:sp>
          <p:sp>
            <p:nvSpPr>
              <p:cNvPr id="31" name="Freeform 31"/>
              <p:cNvSpPr/>
              <p:nvPr/>
            </p:nvSpPr>
            <p:spPr>
              <a:xfrm>
                <a:off x="1088231" y="5789215"/>
                <a:ext cx="22622" cy="22622"/>
              </a:xfrm>
              <a:custGeom>
                <a:avLst/>
                <a:gdLst/>
                <a:ahLst/>
                <a:cxnLst/>
                <a:rect l="l" t="t" r="r" b="b"/>
                <a:pathLst>
                  <a:path w="22622" h="22622">
                    <a:moveTo>
                      <a:pt x="22622" y="0"/>
                    </a:moveTo>
                    <a:lnTo>
                      <a:pt x="0" y="22622"/>
                    </a:lnTo>
                  </a:path>
                </a:pathLst>
              </a:custGeom>
              <a:noFill/>
              <a:ln w="30162">
                <a:solidFill>
                  <a:schemeClr val="accent3"/>
                </a:solidFill>
              </a:ln>
            </p:spPr>
          </p:sp>
          <p:sp>
            <p:nvSpPr>
              <p:cNvPr id="32" name="Freeform 32"/>
              <p:cNvSpPr/>
              <p:nvPr/>
            </p:nvSpPr>
            <p:spPr>
              <a:xfrm>
                <a:off x="1208881" y="5645944"/>
                <a:ext cx="45244" cy="45244"/>
              </a:xfrm>
              <a:custGeom>
                <a:avLst/>
                <a:gdLst/>
                <a:ahLst/>
                <a:cxnLst/>
                <a:rect l="l" t="t" r="r" b="b"/>
                <a:pathLst>
                  <a:path w="45244" h="45244">
                    <a:moveTo>
                      <a:pt x="0" y="0"/>
                    </a:moveTo>
                    <a:lnTo>
                      <a:pt x="45244" y="45244"/>
                    </a:lnTo>
                  </a:path>
                </a:pathLst>
              </a:custGeom>
              <a:noFill/>
              <a:ln w="30162">
                <a:solidFill>
                  <a:schemeClr val="accent3"/>
                </a:solidFill>
              </a:ln>
            </p:spPr>
          </p:sp>
          <p:sp>
            <p:nvSpPr>
              <p:cNvPr id="33" name="Freeform 33"/>
              <p:cNvSpPr/>
              <p:nvPr/>
            </p:nvSpPr>
            <p:spPr>
              <a:xfrm>
                <a:off x="1133475" y="5755856"/>
                <a:ext cx="98132" cy="161554"/>
              </a:xfrm>
              <a:custGeom>
                <a:avLst/>
                <a:gdLst/>
                <a:ahLst/>
                <a:cxnLst/>
                <a:rect l="l" t="t" r="r" b="b"/>
                <a:pathLst>
                  <a:path w="98132" h="161554">
                    <a:moveTo>
                      <a:pt x="0" y="161550"/>
                    </a:moveTo>
                    <a:cubicBezTo>
                      <a:pt x="38550" y="161554"/>
                      <a:pt x="72869" y="137134"/>
                      <a:pt x="85500" y="100712"/>
                    </a:cubicBezTo>
                    <a:cubicBezTo>
                      <a:pt x="98132" y="64290"/>
                      <a:pt x="86301" y="23865"/>
                      <a:pt x="56027" y="0"/>
                    </a:cubicBezTo>
                  </a:path>
                </a:pathLst>
              </a:custGeom>
              <a:noFill/>
              <a:ln w="30162">
                <a:solidFill>
                  <a:schemeClr val="accent3"/>
                </a:solidFill>
              </a:ln>
            </p:spPr>
          </p:sp>
        </p:grpSp>
        <p:sp>
          <p:nvSpPr>
            <p:cNvPr id="35" name="TextBox 35"/>
            <p:cNvSpPr txBox="1"/>
            <p:nvPr/>
          </p:nvSpPr>
          <p:spPr>
            <a:xfrm>
              <a:off x="1477518" y="5715000"/>
              <a:ext cx="8832826"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25-flow-per-capture cap: comparative evidence, not full-data convergence.</a:t>
              </a:r>
            </a:p>
          </p:txBody>
        </p:sp>
      </p:grpSp>
      <p:grpSp>
        <p:nvGrpSpPr>
          <p:cNvPr id="39" name="footer"/>
          <p:cNvGrpSpPr/>
          <p:nvPr/>
        </p:nvGrpSpPr>
        <p:grpSpPr>
          <a:xfrm>
            <a:off x="947166" y="6369050"/>
            <a:ext cx="10297668" cy="205359"/>
            <a:chOff x="947166" y="6369050"/>
            <a:chExt cx="10297668" cy="205359"/>
          </a:xfrm>
        </p:grpSpPr>
        <p:sp>
          <p:nvSpPr>
            <p:cNvPr id="37" name="TextBox 37"/>
            <p:cNvSpPr txBox="1"/>
            <p:nvPr/>
          </p:nvSpPr>
          <p:spPr>
            <a:xfrm>
              <a:off x="947166" y="6369050"/>
              <a:ext cx="4779012" cy="205359"/>
            </a:xfrm>
            <a:prstGeom prst="rect">
              <a:avLst/>
            </a:prstGeom>
            <a:noFill/>
            <a:ln>
              <a:noFill/>
            </a:ln>
          </p:spPr>
          <p:txBody>
            <a:bodyPr wrap="none" lIns="0" tIns="0" rIns="0" bIns="0" anchor="t" anchorCtr="0">
              <a:spAutoFit/>
            </a:bodyPr>
            <a:lstStyle/>
            <a:p>
              <a:pPr algn="l"/>
              <a:r>
                <a:rPr lang="en-US" sz="1050" dirty="0">
                  <a:solidFill>
                    <a:schemeClr val="accent5"/>
                  </a:solidFill>
                  <a:latin typeface="+mn-lt"/>
                  <a:ea typeface="+mn-ea"/>
                  <a:cs typeface="+mn-cs"/>
                </a:rPr>
                <a:t>Source: data/manifests/timeseries_comprehensive_experiment.json</a:t>
              </a:r>
            </a:p>
          </p:txBody>
        </p:sp>
        <p:sp>
          <p:nvSpPr>
            <p:cNvPr id="38" name="TextBox 38"/>
            <p:cNvSpPr txBox="1"/>
            <p:nvPr/>
          </p:nvSpPr>
          <p:spPr>
            <a:xfrm>
              <a:off x="11078680" y="6369050"/>
              <a:ext cx="166154"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Consolas"/>
                  <a:ea typeface="Consolas"/>
                  <a:cs typeface="Consolas"/>
                </a:rPr>
                <a:t>11</a:t>
              </a:r>
            </a:p>
          </p:txBody>
        </p:sp>
      </p:gr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ledger-rule"/>
          <p:cNvSpPr/>
          <p:nvPr/>
        </p:nvSpPr>
        <p:spPr>
          <a:xfrm>
            <a:off x="609600" y="400050"/>
            <a:ext cx="57150" cy="6000750"/>
          </a:xfrm>
          <a:prstGeom prst="rect">
            <a:avLst/>
          </a:prstGeom>
          <a:solidFill>
            <a:schemeClr val="accent2"/>
          </a:solidFill>
          <a:ln>
            <a:noFill/>
          </a:ln>
        </p:spPr>
      </p:sp>
      <p:grpSp>
        <p:nvGrpSpPr>
          <p:cNvPr id="5" name="heading"/>
          <p:cNvGrpSpPr/>
          <p:nvPr/>
        </p:nvGrpSpPr>
        <p:grpSpPr>
          <a:xfrm>
            <a:off x="941070" y="546100"/>
            <a:ext cx="9845276" cy="871855"/>
            <a:chOff x="941070" y="546100"/>
            <a:chExt cx="9845276" cy="871855"/>
          </a:xfrm>
        </p:grpSpPr>
        <p:sp>
          <p:nvSpPr>
            <p:cNvPr id="3" name="TextBox 3"/>
            <p:cNvSpPr txBox="1"/>
            <p:nvPr/>
          </p:nvSpPr>
          <p:spPr>
            <a:xfrm>
              <a:off x="946404" y="546100"/>
              <a:ext cx="3216859" cy="234696"/>
            </a:xfrm>
            <a:prstGeom prst="rect">
              <a:avLst/>
            </a:prstGeom>
            <a:noFill/>
            <a:ln>
              <a:noFill/>
            </a:ln>
          </p:spPr>
          <p:txBody>
            <a:bodyPr wrap="none" lIns="0" tIns="0" rIns="0" bIns="0" anchor="t" anchorCtr="0">
              <a:spAutoFit/>
            </a:bodyPr>
            <a:lstStyle/>
            <a:p>
              <a:pPr algn="l"/>
              <a:r>
                <a:rPr lang="en-US" sz="1200" spc="150" dirty="0">
                  <a:solidFill>
                    <a:schemeClr val="accent2"/>
                  </a:solidFill>
                  <a:latin typeface="Consolas"/>
                  <a:ea typeface="Consolas"/>
                  <a:cs typeface="Consolas"/>
                </a:rPr>
                <a:t>11 · PAPER-WINDOW COMPARISON</a:t>
              </a:r>
            </a:p>
          </p:txBody>
        </p:sp>
        <p:sp>
          <p:nvSpPr>
            <p:cNvPr id="4" name="TextBox 4"/>
            <p:cNvSpPr txBox="1"/>
            <p:nvPr/>
          </p:nvSpPr>
          <p:spPr>
            <a:xfrm>
              <a:off x="941070" y="977900"/>
              <a:ext cx="9845276" cy="440055"/>
            </a:xfrm>
            <a:prstGeom prst="rect">
              <a:avLst/>
            </a:prstGeom>
            <a:noFill/>
            <a:ln>
              <a:noFill/>
            </a:ln>
          </p:spPr>
          <p:txBody>
            <a:bodyPr wrap="none" lIns="0" tIns="0" rIns="0" bIns="0" anchor="t" anchorCtr="0">
              <a:spAutoFit/>
            </a:bodyPr>
            <a:lstStyle/>
            <a:p>
              <a:pPr algn="l"/>
              <a:r>
                <a:rPr lang="en-US" sz="2250" b="1" dirty="0">
                  <a:solidFill>
                    <a:schemeClr val="accent1"/>
                  </a:solidFill>
                  <a:latin typeface="+mj-lt"/>
                  <a:ea typeface="+mj-ea"/>
                  <a:cs typeface="+mj-cs"/>
                </a:rPr>
                <a:t>The improved model is strong—but not at every selected window</a:t>
              </a:r>
            </a:p>
          </p:txBody>
        </p:sp>
      </p:grpSp>
      <p:graphicFrame>
        <p:nvGraphicFramePr>
          <p:cNvPr id="6" name="paper-window-table"/>
          <p:cNvGraphicFramePr>
            <a:graphicFrameLocks noGrp="1"/>
          </p:cNvGraphicFramePr>
          <p:nvPr/>
        </p:nvGraphicFramePr>
        <p:xfrm>
          <a:off x="952500" y="1733550"/>
          <a:ext cx="10287000" cy="3829050"/>
        </p:xfrm>
        <a:graphic>
          <a:graphicData uri="http://schemas.openxmlformats.org/drawingml/2006/table">
            <a:tbl>
              <a:tblPr firstRow="1" bandRow="1">
                <a:tableStyleId>{5C22544A-7EE6-4342-B048-85BDC9FD1C3A}</a:tableStyleId>
              </a:tblPr>
              <a:tblGrid>
                <a:gridCol w="1028700"/>
                <a:gridCol w="2880360"/>
                <a:gridCol w="3497579"/>
                <a:gridCol w="822961"/>
                <a:gridCol w="2057400"/>
              </a:tblGrid>
              <a:tr h="425450">
                <a:tc>
                  <a:txBody>
                    <a:bodyPr/>
                    <a:lstStyle/>
                    <a:p>
                      <a:pPr algn="ctr"/>
                      <a:r>
                        <a:rPr lang="en-US" sz="1280" b="1">
                          <a:solidFill>
                            <a:srgbClr val="FFFFFF"/>
                          </a:solidFill>
                          <a:latin typeface="Aptos"/>
                          <a:ea typeface="Microsoft YaHei"/>
                          <a:cs typeface="Aptos"/>
                        </a:rPr>
                        <a:t>Layer</a:t>
                      </a:r>
                    </a:p>
                  </a:txBody>
                  <a:tcPr anchor="ctr" marL="76200" marR="76200" marT="76200" marB="76200">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accent1"/>
                    </a:solidFill>
                  </a:tcPr>
                </a:tc>
                <a:tc>
                  <a:txBody>
                    <a:bodyPr/>
                    <a:lstStyle/>
                    <a:p>
                      <a:pPr algn="ctr"/>
                      <a:r>
                        <a:rPr lang="en-US" sz="1280" b="1">
                          <a:solidFill>
                            <a:srgbClr val="FFFFFF"/>
                          </a:solidFill>
                          <a:latin typeface="Aptos"/>
                          <a:ea typeface="Microsoft YaHei"/>
                          <a:cs typeface="Aptos"/>
                        </a:rPr>
                        <a:t>Evidence</a:t>
                      </a:r>
                    </a:p>
                  </a:txBody>
                  <a:tcPr anchor="ctr" marL="76200" marR="76200" marT="76200" marB="76200">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accent1"/>
                    </a:solidFill>
                  </a:tcPr>
                </a:tc>
                <a:tc>
                  <a:txBody>
                    <a:bodyPr/>
                    <a:lstStyle/>
                    <a:p>
                      <a:pPr algn="ctr"/>
                      <a:r>
                        <a:rPr lang="en-US" sz="1280" b="1">
                          <a:solidFill>
                            <a:srgbClr val="FFFFFF"/>
                          </a:solidFill>
                          <a:latin typeface="Aptos"/>
                          <a:ea typeface="Microsoft YaHei"/>
                          <a:cs typeface="Aptos"/>
                        </a:rPr>
                        <a:t>Split</a:t>
                      </a:r>
                    </a:p>
                  </a:txBody>
                  <a:tcPr anchor="ctr" marL="76200" marR="76200" marT="76200" marB="76200">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accent1"/>
                    </a:solidFill>
                  </a:tcPr>
                </a:tc>
                <a:tc>
                  <a:txBody>
                    <a:bodyPr/>
                    <a:lstStyle/>
                    <a:p>
                      <a:pPr algn="r"/>
                      <a:r>
                        <a:rPr lang="en-US" sz="1280" b="1">
                          <a:solidFill>
                            <a:srgbClr val="FFFFFF"/>
                          </a:solidFill>
                          <a:latin typeface="Aptos"/>
                          <a:ea typeface="Microsoft YaHei"/>
                          <a:cs typeface="Aptos"/>
                        </a:rPr>
                        <a:t>l</a:t>
                      </a:r>
                    </a:p>
                  </a:txBody>
                  <a:tcPr anchor="ctr" marL="76200" marR="76200" marT="76200" marB="76200">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accent1"/>
                    </a:solidFill>
                  </a:tcPr>
                </a:tc>
                <a:tc>
                  <a:txBody>
                    <a:bodyPr/>
                    <a:lstStyle/>
                    <a:p>
                      <a:pPr algn="r"/>
                      <a:r>
                        <a:rPr lang="en-US" sz="1280" b="1">
                          <a:solidFill>
                            <a:srgbClr val="FFFFFF"/>
                          </a:solidFill>
                          <a:latin typeface="Aptos"/>
                          <a:ea typeface="Microsoft YaHei"/>
                          <a:cs typeface="Aptos"/>
                        </a:rPr>
                        <a:t>F1</a:t>
                      </a:r>
                    </a:p>
                  </a:txBody>
                  <a:tcPr anchor="ctr" marL="76200" marR="76200" marT="76200" marB="76200">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accent1"/>
                    </a:solidFill>
                  </a:tcPr>
                </a:tc>
              </a:tr>
              <a:tr h="425450">
                <a:tc>
                  <a:txBody>
                    <a:bodyPr/>
                    <a:lstStyle/>
                    <a:p>
                      <a:pPr/>
                      <a:r>
                        <a:rPr lang="en-US" sz="1200" b="0">
                          <a:solidFill>
                            <a:schemeClr val="dk1"/>
                          </a:solidFill>
                          <a:latin typeface="Aptos"/>
                          <a:ea typeface="Microsoft YaHei"/>
                          <a:cs typeface="Aptos"/>
                        </a:rPr>
                        <a:t>L1</a:t>
                      </a:r>
                    </a:p>
                  </a:txBody>
                  <a:tcPr anchor="ctr" marL="76200" marR="76200" marT="76200" marB="76200">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rgbClr val="FFFFFF"/>
                    </a:solidFill>
                  </a:tcPr>
                </a:tc>
                <a:tc>
                  <a:txBody>
                    <a:bodyPr/>
                    <a:lstStyle/>
                    <a:p>
                      <a:pPr/>
                      <a:r>
                        <a:rPr lang="en-US" sz="1200" b="0">
                          <a:solidFill>
                            <a:schemeClr val="dk1"/>
                          </a:solidFill>
                          <a:latin typeface="Aptos"/>
                          <a:ea typeface="Microsoft YaHei"/>
                          <a:cs typeface="Aptos"/>
                        </a:rPr>
                        <a:t>Paper reported</a:t>
                      </a:r>
                    </a:p>
                  </a:txBody>
                  <a:tcPr anchor="ctr" marL="76200" marR="76200" marT="76200" marB="76200">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rgbClr val="FFFFFF"/>
                    </a:solidFill>
                  </a:tcPr>
                </a:tc>
                <a:tc>
                  <a:txBody>
                    <a:bodyPr/>
                    <a:lstStyle/>
                    <a:p>
                      <a:pPr/>
                      <a:r>
                        <a:rPr lang="en-US" sz="1200" b="0">
                          <a:solidFill>
                            <a:schemeClr val="dk1"/>
                          </a:solidFill>
                          <a:latin typeface="Aptos"/>
                          <a:ea typeface="Microsoft YaHei"/>
                          <a:cs typeface="Aptos"/>
                        </a:rPr>
                        <a:t>Flow-random</a:t>
                      </a:r>
                    </a:p>
                  </a:txBody>
                  <a:tcPr anchor="ctr" marL="76200" marR="76200" marT="76200" marB="76200">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rgbClr val="FFFFFF"/>
                    </a:solidFill>
                  </a:tcPr>
                </a:tc>
                <a:tc>
                  <a:txBody>
                    <a:bodyPr/>
                    <a:lstStyle/>
                    <a:p>
                      <a:pPr algn="r"/>
                      <a:r>
                        <a:rPr lang="en-US" sz="1200" b="0">
                          <a:solidFill>
                            <a:schemeClr val="dk1"/>
                          </a:solidFill>
                          <a:latin typeface="Aptos"/>
                          <a:ea typeface="Microsoft YaHei"/>
                          <a:cs typeface="Aptos"/>
                        </a:rPr>
                        <a:t>6</a:t>
                      </a:r>
                    </a:p>
                  </a:txBody>
                  <a:tcPr anchor="ctr" marL="76200" marR="76200" marT="76200" marB="76200">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rgbClr val="FFFFFF"/>
                    </a:solidFill>
                  </a:tcPr>
                </a:tc>
                <a:tc>
                  <a:txBody>
                    <a:bodyPr/>
                    <a:lstStyle/>
                    <a:p>
                      <a:pPr algn="r"/>
                      <a:r>
                        <a:rPr lang="en-US" sz="1200" b="0">
                          <a:solidFill>
                            <a:schemeClr val="dk1"/>
                          </a:solidFill>
                          <a:latin typeface="Aptos"/>
                          <a:ea typeface="Microsoft YaHei"/>
                          <a:cs typeface="Aptos"/>
                        </a:rPr>
                        <a:t>0.9930</a:t>
                      </a:r>
                    </a:p>
                  </a:txBody>
                  <a:tcPr anchor="ctr" marL="76200" marR="76200" marT="76200" marB="76200">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rgbClr val="FFFFFF"/>
                    </a:solidFill>
                  </a:tcPr>
                </a:tc>
              </a:tr>
              <a:tr h="425450">
                <a:tc>
                  <a:txBody>
                    <a:bodyPr/>
                    <a:lstStyle/>
                    <a:p>
                      <a:pPr/>
                      <a:r>
                        <a:rPr lang="en-US" sz="1200" b="0">
                          <a:solidFill>
                            <a:schemeClr val="dk1"/>
                          </a:solidFill>
                          <a:latin typeface="Aptos"/>
                          <a:ea typeface="Microsoft YaHei"/>
                          <a:cs typeface="Aptos"/>
                        </a:rPr>
                        <a:t>L1</a:t>
                      </a:r>
                    </a:p>
                  </a:txBody>
                  <a:tcPr anchor="ctr" marL="76200" marR="76200" marT="76200" marB="76200">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pPr/>
                      <a:r>
                        <a:rPr lang="en-US" sz="1200" b="0">
                          <a:solidFill>
                            <a:schemeClr val="dk1"/>
                          </a:solidFill>
                          <a:latin typeface="Aptos"/>
                          <a:ea typeface="Microsoft YaHei"/>
                          <a:cs typeface="Aptos"/>
                        </a:rPr>
                        <a:t>Project paper_v4</a:t>
                      </a:r>
                    </a:p>
                  </a:txBody>
                  <a:tcPr anchor="ctr" marL="76200" marR="76200" marT="76200" marB="76200">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pPr/>
                      <a:r>
                        <a:rPr lang="en-US" sz="1200" b="0">
                          <a:solidFill>
                            <a:schemeClr val="dk1"/>
                          </a:solidFill>
                          <a:latin typeface="Aptos"/>
                          <a:ea typeface="Microsoft YaHei"/>
                          <a:cs typeface="Aptos"/>
                        </a:rPr>
                        <a:t>Flow-random</a:t>
                      </a:r>
                    </a:p>
                  </a:txBody>
                  <a:tcPr anchor="ctr" marL="76200" marR="76200" marT="76200" marB="76200">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pPr algn="r"/>
                      <a:r>
                        <a:rPr lang="en-US" sz="1200" b="0">
                          <a:solidFill>
                            <a:schemeClr val="dk1"/>
                          </a:solidFill>
                          <a:latin typeface="Aptos"/>
                          <a:ea typeface="Microsoft YaHei"/>
                          <a:cs typeface="Aptos"/>
                        </a:rPr>
                        <a:t>6</a:t>
                      </a:r>
                    </a:p>
                  </a:txBody>
                  <a:tcPr anchor="ctr" marL="76200" marR="76200" marT="76200" marB="76200">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pPr algn="r"/>
                      <a:r>
                        <a:rPr lang="en-US" sz="1200" b="0">
                          <a:solidFill>
                            <a:schemeClr val="dk1"/>
                          </a:solidFill>
                          <a:latin typeface="Aptos"/>
                          <a:ea typeface="Microsoft YaHei"/>
                          <a:cs typeface="Aptos"/>
                        </a:rPr>
                        <a:t>0.9784</a:t>
                      </a:r>
                    </a:p>
                  </a:txBody>
                  <a:tcPr anchor="ctr" marL="76200" marR="76200" marT="76200" marB="76200">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r>
              <a:tr h="425450">
                <a:tc>
                  <a:txBody>
                    <a:bodyPr/>
                    <a:lstStyle/>
                    <a:p>
                      <a:pPr/>
                      <a:r>
                        <a:rPr lang="en-US" sz="1200" b="0">
                          <a:solidFill>
                            <a:schemeClr val="dk1"/>
                          </a:solidFill>
                          <a:latin typeface="Aptos"/>
                          <a:ea typeface="Microsoft YaHei"/>
                          <a:cs typeface="Aptos"/>
                        </a:rPr>
                        <a:t>L1</a:t>
                      </a:r>
                    </a:p>
                  </a:txBody>
                  <a:tcPr anchor="ctr" marL="76200" marR="76200" marT="76200" marB="76200">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rgbClr val="FFFFFF"/>
                    </a:solidFill>
                  </a:tcPr>
                </a:tc>
                <a:tc>
                  <a:txBody>
                    <a:bodyPr/>
                    <a:lstStyle/>
                    <a:p>
                      <a:pPr/>
                      <a:r>
                        <a:rPr lang="en-US" sz="1200" b="0">
                          <a:solidFill>
                            <a:schemeClr val="dk1"/>
                          </a:solidFill>
                          <a:latin typeface="Aptos"/>
                          <a:ea typeface="Microsoft YaHei"/>
                          <a:cs typeface="Aptos"/>
                        </a:rPr>
                        <a:t>Project paper_v4</a:t>
                      </a:r>
                    </a:p>
                  </a:txBody>
                  <a:tcPr anchor="ctr" marL="76200" marR="76200" marT="76200" marB="76200">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rgbClr val="FFFFFF"/>
                    </a:solidFill>
                  </a:tcPr>
                </a:tc>
                <a:tc>
                  <a:txBody>
                    <a:bodyPr/>
                    <a:lstStyle/>
                    <a:p>
                      <a:pPr/>
                      <a:r>
                        <a:rPr lang="en-US" sz="1200" b="0">
                          <a:solidFill>
                            <a:schemeClr val="dk1"/>
                          </a:solidFill>
                          <a:latin typeface="Aptos"/>
                          <a:ea typeface="Microsoft YaHei"/>
                          <a:cs typeface="Aptos"/>
                        </a:rPr>
                        <a:t>Session-disjoint</a:t>
                      </a:r>
                    </a:p>
                  </a:txBody>
                  <a:tcPr anchor="ctr" marL="76200" marR="76200" marT="76200" marB="76200">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rgbClr val="FFFFFF"/>
                    </a:solidFill>
                  </a:tcPr>
                </a:tc>
                <a:tc>
                  <a:txBody>
                    <a:bodyPr/>
                    <a:lstStyle/>
                    <a:p>
                      <a:pPr algn="r"/>
                      <a:r>
                        <a:rPr lang="en-US" sz="1200" b="0">
                          <a:solidFill>
                            <a:schemeClr val="dk1"/>
                          </a:solidFill>
                          <a:latin typeface="Aptos"/>
                          <a:ea typeface="Microsoft YaHei"/>
                          <a:cs typeface="Aptos"/>
                        </a:rPr>
                        <a:t>6</a:t>
                      </a:r>
                    </a:p>
                  </a:txBody>
                  <a:tcPr anchor="ctr" marL="76200" marR="76200" marT="76200" marB="76200">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rgbClr val="FFFFFF"/>
                    </a:solidFill>
                  </a:tcPr>
                </a:tc>
                <a:tc>
                  <a:txBody>
                    <a:bodyPr/>
                    <a:lstStyle/>
                    <a:p>
                      <a:pPr algn="r"/>
                      <a:r>
                        <a:rPr lang="en-US" sz="1200" b="1">
                          <a:solidFill>
                            <a:srgbClr val="B42318"/>
                          </a:solidFill>
                          <a:latin typeface="Aptos"/>
                          <a:ea typeface="Microsoft YaHei"/>
                          <a:cs typeface="Aptos"/>
                        </a:rPr>
                        <a:t>0.0000</a:t>
                      </a:r>
                    </a:p>
                  </a:txBody>
                  <a:tcPr anchor="ctr" marL="76200" marR="76200" marT="76200" marB="76200">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rgbClr val="FFFFFF"/>
                    </a:solidFill>
                  </a:tcPr>
                </a:tc>
              </a:tr>
              <a:tr h="425450">
                <a:tc>
                  <a:txBody>
                    <a:bodyPr/>
                    <a:lstStyle/>
                    <a:p>
                      <a:pPr/>
                      <a:r>
                        <a:rPr lang="en-US" sz="1200" b="0">
                          <a:solidFill>
                            <a:schemeClr val="dk1"/>
                          </a:solidFill>
                          <a:latin typeface="Aptos"/>
                          <a:ea typeface="Microsoft YaHei"/>
                          <a:cs typeface="Aptos"/>
                        </a:rPr>
                        <a:t>L1</a:t>
                      </a:r>
                    </a:p>
                  </a:txBody>
                  <a:tcPr anchor="ctr" marL="76200" marR="76200" marT="76200" marB="76200">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pPr/>
                      <a:r>
                        <a:rPr lang="en-US" sz="1200" b="0">
                          <a:solidFill>
                            <a:schemeClr val="dk1"/>
                          </a:solidFill>
                          <a:latin typeface="Aptos"/>
                          <a:ea typeface="Microsoft YaHei"/>
                          <a:cs typeface="Aptos"/>
                        </a:rPr>
                        <a:t>Improved BiGRU</a:t>
                      </a:r>
                    </a:p>
                  </a:txBody>
                  <a:tcPr anchor="ctr" marL="76200" marR="76200" marT="76200" marB="76200">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pPr/>
                      <a:r>
                        <a:rPr lang="en-US" sz="1200" b="0">
                          <a:solidFill>
                            <a:schemeClr val="dk1"/>
                          </a:solidFill>
                          <a:latin typeface="Aptos"/>
                          <a:ea typeface="Microsoft YaHei"/>
                          <a:cs typeface="Aptos"/>
                        </a:rPr>
                        <a:t>Session-disjoint</a:t>
                      </a:r>
                    </a:p>
                  </a:txBody>
                  <a:tcPr anchor="ctr" marL="76200" marR="76200" marT="76200" marB="76200">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pPr algn="r"/>
                      <a:r>
                        <a:rPr lang="en-US" sz="1200" b="0">
                          <a:solidFill>
                            <a:schemeClr val="dk1"/>
                          </a:solidFill>
                          <a:latin typeface="Aptos"/>
                          <a:ea typeface="Microsoft YaHei"/>
                          <a:cs typeface="Aptos"/>
                        </a:rPr>
                        <a:t>6</a:t>
                      </a:r>
                    </a:p>
                  </a:txBody>
                  <a:tcPr anchor="ctr" marL="76200" marR="76200" marT="76200" marB="76200">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pPr algn="r"/>
                      <a:r>
                        <a:rPr lang="en-US" sz="1200" b="1">
                          <a:solidFill>
                            <a:srgbClr val="15803D"/>
                          </a:solidFill>
                          <a:latin typeface="Aptos"/>
                          <a:ea typeface="Microsoft YaHei"/>
                          <a:cs typeface="Aptos"/>
                        </a:rPr>
                        <a:t>0.9153</a:t>
                      </a:r>
                    </a:p>
                  </a:txBody>
                  <a:tcPr anchor="ctr" marL="76200" marR="76200" marT="76200" marB="76200">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r>
              <a:tr h="425450">
                <a:tc>
                  <a:txBody>
                    <a:bodyPr/>
                    <a:lstStyle/>
                    <a:p>
                      <a:pPr/>
                      <a:r>
                        <a:rPr lang="en-US" sz="1200" b="0">
                          <a:solidFill>
                            <a:schemeClr val="dk1"/>
                          </a:solidFill>
                          <a:latin typeface="Aptos"/>
                          <a:ea typeface="Microsoft YaHei"/>
                          <a:cs typeface="Aptos"/>
                        </a:rPr>
                        <a:t>L2</a:t>
                      </a:r>
                    </a:p>
                  </a:txBody>
                  <a:tcPr anchor="ctr" marL="76200" marR="76200" marT="76200" marB="76200">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rgbClr val="FFFFFF"/>
                    </a:solidFill>
                  </a:tcPr>
                </a:tc>
                <a:tc>
                  <a:txBody>
                    <a:bodyPr/>
                    <a:lstStyle/>
                    <a:p>
                      <a:pPr/>
                      <a:r>
                        <a:rPr lang="en-US" sz="1200" b="0">
                          <a:solidFill>
                            <a:schemeClr val="dk1"/>
                          </a:solidFill>
                          <a:latin typeface="Aptos"/>
                          <a:ea typeface="Microsoft YaHei"/>
                          <a:cs typeface="Aptos"/>
                        </a:rPr>
                        <a:t>Paper reported</a:t>
                      </a:r>
                    </a:p>
                  </a:txBody>
                  <a:tcPr anchor="ctr" marL="76200" marR="76200" marT="76200" marB="76200">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rgbClr val="FFFFFF"/>
                    </a:solidFill>
                  </a:tcPr>
                </a:tc>
                <a:tc>
                  <a:txBody>
                    <a:bodyPr/>
                    <a:lstStyle/>
                    <a:p>
                      <a:pPr/>
                      <a:r>
                        <a:rPr lang="en-US" sz="1200" b="0">
                          <a:solidFill>
                            <a:schemeClr val="dk1"/>
                          </a:solidFill>
                          <a:latin typeface="Aptos"/>
                          <a:ea typeface="Microsoft YaHei"/>
                          <a:cs typeface="Aptos"/>
                        </a:rPr>
                        <a:t>Flow-random</a:t>
                      </a:r>
                    </a:p>
                  </a:txBody>
                  <a:tcPr anchor="ctr" marL="76200" marR="76200" marT="76200" marB="76200">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rgbClr val="FFFFFF"/>
                    </a:solidFill>
                  </a:tcPr>
                </a:tc>
                <a:tc>
                  <a:txBody>
                    <a:bodyPr/>
                    <a:lstStyle/>
                    <a:p>
                      <a:pPr algn="r"/>
                      <a:r>
                        <a:rPr lang="en-US" sz="1200" b="0">
                          <a:solidFill>
                            <a:schemeClr val="dk1"/>
                          </a:solidFill>
                          <a:latin typeface="Aptos"/>
                          <a:ea typeface="Microsoft YaHei"/>
                          <a:cs typeface="Aptos"/>
                        </a:rPr>
                        <a:t>3</a:t>
                      </a:r>
                    </a:p>
                  </a:txBody>
                  <a:tcPr anchor="ctr" marL="76200" marR="76200" marT="76200" marB="76200">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rgbClr val="FFFFFF"/>
                    </a:solidFill>
                  </a:tcPr>
                </a:tc>
                <a:tc>
                  <a:txBody>
                    <a:bodyPr/>
                    <a:lstStyle/>
                    <a:p>
                      <a:pPr algn="r"/>
                      <a:r>
                        <a:rPr lang="en-US" sz="1200" b="0">
                          <a:solidFill>
                            <a:schemeClr val="dk1"/>
                          </a:solidFill>
                          <a:latin typeface="Aptos"/>
                          <a:ea typeface="Microsoft YaHei"/>
                          <a:cs typeface="Aptos"/>
                        </a:rPr>
                        <a:t>0.9910</a:t>
                      </a:r>
                    </a:p>
                  </a:txBody>
                  <a:tcPr anchor="ctr" marL="76200" marR="76200" marT="76200" marB="76200">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rgbClr val="FFFFFF"/>
                    </a:solidFill>
                  </a:tcPr>
                </a:tc>
              </a:tr>
              <a:tr h="425450">
                <a:tc>
                  <a:txBody>
                    <a:bodyPr/>
                    <a:lstStyle/>
                    <a:p>
                      <a:pPr/>
                      <a:r>
                        <a:rPr lang="en-US" sz="1200" b="0">
                          <a:solidFill>
                            <a:schemeClr val="dk1"/>
                          </a:solidFill>
                          <a:latin typeface="Aptos"/>
                          <a:ea typeface="Microsoft YaHei"/>
                          <a:cs typeface="Aptos"/>
                        </a:rPr>
                        <a:t>L2</a:t>
                      </a:r>
                    </a:p>
                  </a:txBody>
                  <a:tcPr anchor="ctr" marL="76200" marR="76200" marT="76200" marB="76200">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pPr/>
                      <a:r>
                        <a:rPr lang="en-US" sz="1200" b="0">
                          <a:solidFill>
                            <a:schemeClr val="dk1"/>
                          </a:solidFill>
                          <a:latin typeface="Aptos"/>
                          <a:ea typeface="Microsoft YaHei"/>
                          <a:cs typeface="Aptos"/>
                        </a:rPr>
                        <a:t>Project paper_v4</a:t>
                      </a:r>
                    </a:p>
                  </a:txBody>
                  <a:tcPr anchor="ctr" marL="76200" marR="76200" marT="76200" marB="76200">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pPr/>
                      <a:r>
                        <a:rPr lang="en-US" sz="1200" b="0">
                          <a:solidFill>
                            <a:schemeClr val="dk1"/>
                          </a:solidFill>
                          <a:latin typeface="Aptos"/>
                          <a:ea typeface="Microsoft YaHei"/>
                          <a:cs typeface="Aptos"/>
                        </a:rPr>
                        <a:t>Flow-random</a:t>
                      </a:r>
                    </a:p>
                  </a:txBody>
                  <a:tcPr anchor="ctr" marL="76200" marR="76200" marT="76200" marB="76200">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pPr algn="r"/>
                      <a:r>
                        <a:rPr lang="en-US" sz="1200" b="0">
                          <a:solidFill>
                            <a:schemeClr val="dk1"/>
                          </a:solidFill>
                          <a:latin typeface="Aptos"/>
                          <a:ea typeface="Microsoft YaHei"/>
                          <a:cs typeface="Aptos"/>
                        </a:rPr>
                        <a:t>3</a:t>
                      </a:r>
                    </a:p>
                  </a:txBody>
                  <a:tcPr anchor="ctr" marL="76200" marR="76200" marT="76200" marB="76200">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pPr algn="r"/>
                      <a:r>
                        <a:rPr lang="en-US" sz="1200" b="0">
                          <a:solidFill>
                            <a:schemeClr val="dk1"/>
                          </a:solidFill>
                          <a:latin typeface="Aptos"/>
                          <a:ea typeface="Microsoft YaHei"/>
                          <a:cs typeface="Aptos"/>
                        </a:rPr>
                        <a:t>0.9405</a:t>
                      </a:r>
                    </a:p>
                  </a:txBody>
                  <a:tcPr anchor="ctr" marL="76200" marR="76200" marT="76200" marB="76200">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r>
              <a:tr h="425450">
                <a:tc>
                  <a:txBody>
                    <a:bodyPr/>
                    <a:lstStyle/>
                    <a:p>
                      <a:pPr/>
                      <a:r>
                        <a:rPr lang="en-US" sz="1200" b="0">
                          <a:solidFill>
                            <a:schemeClr val="dk1"/>
                          </a:solidFill>
                          <a:latin typeface="Aptos"/>
                          <a:ea typeface="Microsoft YaHei"/>
                          <a:cs typeface="Aptos"/>
                        </a:rPr>
                        <a:t>L2</a:t>
                      </a:r>
                    </a:p>
                  </a:txBody>
                  <a:tcPr anchor="ctr" marL="76200" marR="76200" marT="76200" marB="76200">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rgbClr val="FFFFFF"/>
                    </a:solidFill>
                  </a:tcPr>
                </a:tc>
                <a:tc>
                  <a:txBody>
                    <a:bodyPr/>
                    <a:lstStyle/>
                    <a:p>
                      <a:pPr/>
                      <a:r>
                        <a:rPr lang="en-US" sz="1200" b="0">
                          <a:solidFill>
                            <a:schemeClr val="dk1"/>
                          </a:solidFill>
                          <a:latin typeface="Aptos"/>
                          <a:ea typeface="Microsoft YaHei"/>
                          <a:cs typeface="Aptos"/>
                        </a:rPr>
                        <a:t>Project paper_v4</a:t>
                      </a:r>
                    </a:p>
                  </a:txBody>
                  <a:tcPr anchor="ctr" marL="76200" marR="76200" marT="76200" marB="76200">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rgbClr val="FFFFFF"/>
                    </a:solidFill>
                  </a:tcPr>
                </a:tc>
                <a:tc>
                  <a:txBody>
                    <a:bodyPr/>
                    <a:lstStyle/>
                    <a:p>
                      <a:pPr/>
                      <a:r>
                        <a:rPr lang="en-US" sz="1200" b="0">
                          <a:solidFill>
                            <a:schemeClr val="dk1"/>
                          </a:solidFill>
                          <a:latin typeface="Aptos"/>
                          <a:ea typeface="Microsoft YaHei"/>
                          <a:cs typeface="Aptos"/>
                        </a:rPr>
                        <a:t>Session-disjoint</a:t>
                      </a:r>
                    </a:p>
                  </a:txBody>
                  <a:tcPr anchor="ctr" marL="76200" marR="76200" marT="76200" marB="76200">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rgbClr val="FFFFFF"/>
                    </a:solidFill>
                  </a:tcPr>
                </a:tc>
                <a:tc>
                  <a:txBody>
                    <a:bodyPr/>
                    <a:lstStyle/>
                    <a:p>
                      <a:pPr algn="r"/>
                      <a:r>
                        <a:rPr lang="en-US" sz="1200" b="0">
                          <a:solidFill>
                            <a:schemeClr val="dk1"/>
                          </a:solidFill>
                          <a:latin typeface="Aptos"/>
                          <a:ea typeface="Microsoft YaHei"/>
                          <a:cs typeface="Aptos"/>
                        </a:rPr>
                        <a:t>3</a:t>
                      </a:r>
                    </a:p>
                  </a:txBody>
                  <a:tcPr anchor="ctr" marL="76200" marR="76200" marT="76200" marB="76200">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rgbClr val="FFFFFF"/>
                    </a:solidFill>
                  </a:tcPr>
                </a:tc>
                <a:tc>
                  <a:txBody>
                    <a:bodyPr/>
                    <a:lstStyle/>
                    <a:p>
                      <a:pPr algn="r"/>
                      <a:r>
                        <a:rPr lang="en-US" sz="1200" b="1">
                          <a:solidFill>
                            <a:srgbClr val="B42318"/>
                          </a:solidFill>
                          <a:latin typeface="Aptos"/>
                          <a:ea typeface="Microsoft YaHei"/>
                          <a:cs typeface="Aptos"/>
                        </a:rPr>
                        <a:t>0.1324</a:t>
                      </a:r>
                    </a:p>
                  </a:txBody>
                  <a:tcPr anchor="ctr" marL="76200" marR="76200" marT="76200" marB="76200">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rgbClr val="FFFFFF"/>
                    </a:solidFill>
                  </a:tcPr>
                </a:tc>
              </a:tr>
              <a:tr h="425450">
                <a:tc>
                  <a:txBody>
                    <a:bodyPr/>
                    <a:lstStyle/>
                    <a:p>
                      <a:pPr/>
                      <a:r>
                        <a:rPr lang="en-US" sz="1200" b="0">
                          <a:solidFill>
                            <a:schemeClr val="dk1"/>
                          </a:solidFill>
                          <a:latin typeface="Aptos"/>
                          <a:ea typeface="Microsoft YaHei"/>
                          <a:cs typeface="Aptos"/>
                        </a:rPr>
                        <a:t>L2</a:t>
                      </a:r>
                    </a:p>
                  </a:txBody>
                  <a:tcPr anchor="ctr" marL="76200" marR="76200" marT="76200" marB="76200">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pPr/>
                      <a:r>
                        <a:rPr lang="en-US" sz="1200" b="0">
                          <a:solidFill>
                            <a:schemeClr val="dk1"/>
                          </a:solidFill>
                          <a:latin typeface="Aptos"/>
                          <a:ea typeface="Microsoft YaHei"/>
                          <a:cs typeface="Aptos"/>
                        </a:rPr>
                        <a:t>Improved BiGRU</a:t>
                      </a:r>
                    </a:p>
                  </a:txBody>
                  <a:tcPr anchor="ctr" marL="76200" marR="76200" marT="76200" marB="76200">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pPr/>
                      <a:r>
                        <a:rPr lang="en-US" sz="1200" b="0">
                          <a:solidFill>
                            <a:schemeClr val="dk1"/>
                          </a:solidFill>
                          <a:latin typeface="Aptos"/>
                          <a:ea typeface="Microsoft YaHei"/>
                          <a:cs typeface="Aptos"/>
                        </a:rPr>
                        <a:t>Session-disjoint</a:t>
                      </a:r>
                    </a:p>
                  </a:txBody>
                  <a:tcPr anchor="ctr" marL="76200" marR="76200" marT="76200" marB="76200">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pPr algn="r"/>
                      <a:r>
                        <a:rPr lang="en-US" sz="1200" b="0">
                          <a:solidFill>
                            <a:schemeClr val="dk1"/>
                          </a:solidFill>
                          <a:latin typeface="Aptos"/>
                          <a:ea typeface="Microsoft YaHei"/>
                          <a:cs typeface="Aptos"/>
                        </a:rPr>
                        <a:t>3</a:t>
                      </a:r>
                    </a:p>
                  </a:txBody>
                  <a:tcPr anchor="ctr" marL="76200" marR="76200" marT="76200" marB="76200">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pPr algn="r"/>
                      <a:r>
                        <a:rPr lang="en-US" sz="1200" b="1">
                          <a:solidFill>
                            <a:srgbClr val="15803D"/>
                          </a:solidFill>
                          <a:latin typeface="Aptos"/>
                          <a:ea typeface="Microsoft YaHei"/>
                          <a:cs typeface="Aptos"/>
                        </a:rPr>
                        <a:t>0.5538</a:t>
                      </a:r>
                    </a:p>
                  </a:txBody>
                  <a:tcPr anchor="ctr" marL="76200" marR="76200" marT="76200" marB="76200">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r>
            </a:tbl>
          </a:graphicData>
        </a:graphic>
      </p:graphicFrame>
      <p:grpSp>
        <p:nvGrpSpPr>
          <p:cNvPr id="8" name="takeaway"/>
          <p:cNvGrpSpPr/>
          <p:nvPr/>
        </p:nvGrpSpPr>
        <p:grpSpPr>
          <a:xfrm>
            <a:off x="944118" y="5848350"/>
            <a:ext cx="8829203" cy="322707"/>
            <a:chOff x="944118" y="5848350"/>
            <a:chExt cx="8829203" cy="322707"/>
          </a:xfrm>
        </p:grpSpPr>
        <p:sp>
          <p:nvSpPr>
            <p:cNvPr id="7" name="TextBox 7"/>
            <p:cNvSpPr txBox="1"/>
            <p:nvPr/>
          </p:nvSpPr>
          <p:spPr>
            <a:xfrm>
              <a:off x="944118" y="5848350"/>
              <a:ext cx="8829203"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Paper-selected windows are not the improved model’s best operating points.</a:t>
              </a:r>
            </a:p>
          </p:txBody>
        </p:sp>
      </p:grpSp>
      <p:grpSp>
        <p:nvGrpSpPr>
          <p:cNvPr id="11" name="footer"/>
          <p:cNvGrpSpPr/>
          <p:nvPr/>
        </p:nvGrpSpPr>
        <p:grpSpPr>
          <a:xfrm>
            <a:off x="947166" y="6369050"/>
            <a:ext cx="10297668" cy="205359"/>
            <a:chOff x="947166" y="6369050"/>
            <a:chExt cx="10297668" cy="205359"/>
          </a:xfrm>
        </p:grpSpPr>
        <p:sp>
          <p:nvSpPr>
            <p:cNvPr id="9" name="TextBox 9"/>
            <p:cNvSpPr txBox="1"/>
            <p:nvPr/>
          </p:nvSpPr>
          <p:spPr>
            <a:xfrm>
              <a:off x="947166" y="6369050"/>
              <a:ext cx="4245007" cy="205359"/>
            </a:xfrm>
            <a:prstGeom prst="rect">
              <a:avLst/>
            </a:prstGeom>
            <a:noFill/>
            <a:ln>
              <a:noFill/>
            </a:ln>
          </p:spPr>
          <p:txBody>
            <a:bodyPr wrap="none" lIns="0" tIns="0" rIns="0" bIns="0" anchor="t" anchorCtr="0">
              <a:spAutoFit/>
            </a:bodyPr>
            <a:lstStyle/>
            <a:p>
              <a:pPr algn="l"/>
              <a:r>
                <a:rPr lang="en-US" sz="1050" dirty="0">
                  <a:solidFill>
                    <a:schemeClr val="accent5"/>
                  </a:solidFill>
                  <a:latin typeface="+mn-lt"/>
                  <a:ea typeface="+mn-ea"/>
                  <a:cs typeface="+mn-cs"/>
                </a:rPr>
                <a:t>Sources: Paper Tables V–VI; comprehensive metrics manifest</a:t>
              </a:r>
            </a:p>
          </p:txBody>
        </p:sp>
        <p:sp>
          <p:nvSpPr>
            <p:cNvPr id="10" name="TextBox 10"/>
            <p:cNvSpPr txBox="1"/>
            <p:nvPr/>
          </p:nvSpPr>
          <p:spPr>
            <a:xfrm>
              <a:off x="11078680" y="6369050"/>
              <a:ext cx="166154"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Consolas"/>
                  <a:ea typeface="Consolas"/>
                  <a:cs typeface="Consolas"/>
                </a:rPr>
                <a:t>12</a:t>
              </a:r>
            </a:p>
          </p:txBody>
        </p:sp>
      </p:gr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ledger-rule"/>
          <p:cNvSpPr/>
          <p:nvPr/>
        </p:nvSpPr>
        <p:spPr>
          <a:xfrm>
            <a:off x="609600" y="400050"/>
            <a:ext cx="57150" cy="6000750"/>
          </a:xfrm>
          <a:prstGeom prst="rect">
            <a:avLst/>
          </a:prstGeom>
          <a:solidFill>
            <a:schemeClr val="accent2"/>
          </a:solidFill>
          <a:ln>
            <a:noFill/>
          </a:ln>
        </p:spPr>
      </p:sp>
      <p:grpSp>
        <p:nvGrpSpPr>
          <p:cNvPr id="5" name="heading"/>
          <p:cNvGrpSpPr/>
          <p:nvPr/>
        </p:nvGrpSpPr>
        <p:grpSpPr>
          <a:xfrm>
            <a:off x="941070" y="546100"/>
            <a:ext cx="7772551" cy="871855"/>
            <a:chOff x="941070" y="546100"/>
            <a:chExt cx="7772551" cy="871855"/>
          </a:xfrm>
        </p:grpSpPr>
        <p:sp>
          <p:nvSpPr>
            <p:cNvPr id="3" name="TextBox 3"/>
            <p:cNvSpPr txBox="1"/>
            <p:nvPr/>
          </p:nvSpPr>
          <p:spPr>
            <a:xfrm>
              <a:off x="946404" y="546100"/>
              <a:ext cx="3792931" cy="234696"/>
            </a:xfrm>
            <a:prstGeom prst="rect">
              <a:avLst/>
            </a:prstGeom>
            <a:noFill/>
            <a:ln>
              <a:noFill/>
            </a:ln>
          </p:spPr>
          <p:txBody>
            <a:bodyPr wrap="none" lIns="0" tIns="0" rIns="0" bIns="0" anchor="t" anchorCtr="0">
              <a:spAutoFit/>
            </a:bodyPr>
            <a:lstStyle/>
            <a:p>
              <a:pPr algn="l"/>
              <a:r>
                <a:rPr lang="en-US" sz="1200" spc="150" dirty="0">
                  <a:solidFill>
                    <a:schemeClr val="accent2"/>
                  </a:solidFill>
                  <a:latin typeface="Consolas"/>
                  <a:ea typeface="Consolas"/>
                  <a:cs typeface="Consolas"/>
                </a:rPr>
                <a:t>12 · CORRECTED BEST-WINDOW RESULT</a:t>
              </a:r>
            </a:p>
          </p:txBody>
        </p:sp>
        <p:sp>
          <p:nvSpPr>
            <p:cNvPr id="4" name="TextBox 4"/>
            <p:cNvSpPr txBox="1"/>
            <p:nvPr/>
          </p:nvSpPr>
          <p:spPr>
            <a:xfrm>
              <a:off x="941070" y="977900"/>
              <a:ext cx="7772551" cy="440055"/>
            </a:xfrm>
            <a:prstGeom prst="rect">
              <a:avLst/>
            </a:prstGeom>
            <a:noFill/>
            <a:ln>
              <a:noFill/>
            </a:ln>
          </p:spPr>
          <p:txBody>
            <a:bodyPr wrap="none" lIns="0" tIns="0" rIns="0" bIns="0" anchor="t" anchorCtr="0">
              <a:spAutoFit/>
            </a:bodyPr>
            <a:lstStyle/>
            <a:p>
              <a:pPr algn="l"/>
              <a:r>
                <a:rPr lang="en-US" sz="2250" b="1" dirty="0">
                  <a:solidFill>
                    <a:schemeClr val="accent1"/>
                  </a:solidFill>
                  <a:latin typeface="+mj-lt"/>
                  <a:ea typeface="+mj-ea"/>
                  <a:cs typeface="+mj-cs"/>
                </a:rPr>
                <a:t>Mask-aware BiGRU improves both detection layers</a:t>
              </a:r>
            </a:p>
          </p:txBody>
        </p:sp>
      </p:grpSp>
      <p:grpSp>
        <p:nvGrpSpPr>
          <p:cNvPr id="9" name="best-window-f1"/>
          <p:cNvGrpSpPr/>
          <p:nvPr/>
        </p:nvGrpSpPr>
        <p:grpSpPr>
          <a:xfrm>
            <a:off x="-6000750" y="1790700"/>
            <a:ext cx="14687550" cy="3810000"/>
            <a:chOff x="-6000750" y="1790700"/>
            <a:chExt cx="14687550" cy="3810000"/>
          </a:xfrm>
        </p:grpSpPr>
        <p:graphicFrame>
          <p:nvGraphicFramePr>
            <p:cNvPr id="6" name="best-window-f1"/>
            <p:cNvGraphicFramePr>
              <a:graphicFrameLocks noGrp="1"/>
            </p:cNvGraphicFramePr>
            <p:nvPr/>
          </p:nvGraphicFramePr>
          <p:xfrm>
            <a:off x="952500" y="1790700"/>
            <a:ext cx="7429500" cy="3810000"/>
          </p:xfrm>
          <a:graphic>
            <a:graphicData uri="http://schemas.openxmlformats.org/drawingml/2006/chart">
              <c:chart xmlns:c="http://schemas.openxmlformats.org/drawingml/2006/chart" r:id="rId2"/>
            </a:graphicData>
          </a:graphic>
        </p:graphicFrame>
        <p:sp>
          <p:nvSpPr>
            <p:cNvPr id="7" name="Chart Note 7"/>
            <p:cNvSpPr txBox="1"/>
            <p:nvPr/>
          </p:nvSpPr>
          <p:spPr>
            <a:xfrm>
              <a:off x="1257300" y="1953578"/>
              <a:ext cx="7429500" cy="213360"/>
            </a:xfrm>
            <a:prstGeom prst="rect">
              <a:avLst/>
            </a:prstGeom>
            <a:noFill/>
            <a:ln>
              <a:noFill/>
            </a:ln>
          </p:spPr>
          <p:txBody>
            <a:bodyPr wrap="square" lIns="0" tIns="0" rIns="0" bIns="0" anchor="b" anchorCtr="0"/>
            <a:lstStyle/>
            <a:p>
              <a:pPr algn="l"/>
              <a:r>
                <a:rPr lang="en-US" sz="1050">
                  <a:solidFill>
                    <a:srgbClr val="172033"/>
                  </a:solidFill>
                  <a:latin typeface="Aptos"/>
                  <a:ea typeface="Microsoft YaHei"/>
                  <a:cs typeface="Aptos"/>
                </a:rPr>
                <a:t>Best corrected session-disjoint F1</a:t>
              </a:r>
            </a:p>
          </p:txBody>
        </p:sp>
        <p:sp>
          <p:nvSpPr>
            <p:cNvPr id="8" name="Chart Note 8"/>
            <p:cNvSpPr txBox="1"/>
            <p:nvPr/>
          </p:nvSpPr>
          <p:spPr>
            <a:xfrm>
              <a:off x="-6000750" y="2277428"/>
              <a:ext cx="7429500" cy="213360"/>
            </a:xfrm>
            <a:prstGeom prst="rect">
              <a:avLst/>
            </a:prstGeom>
            <a:noFill/>
            <a:ln>
              <a:noFill/>
            </a:ln>
          </p:spPr>
          <p:txBody>
            <a:bodyPr wrap="square" lIns="0" tIns="0" rIns="0" bIns="0" anchor="b" anchorCtr="0"/>
            <a:lstStyle/>
            <a:p>
              <a:pPr algn="r"/>
              <a:r>
                <a:rPr lang="en-US" sz="1050">
                  <a:solidFill>
                    <a:srgbClr val="172033"/>
                  </a:solidFill>
                  <a:latin typeface="Aptos"/>
                  <a:ea typeface="Microsoft YaHei"/>
                  <a:cs typeface="Aptos"/>
                </a:rPr>
                <a:t>1.00</a:t>
              </a:r>
            </a:p>
          </p:txBody>
        </p:sp>
      </p:grpSp>
      <p:grpSp>
        <p:nvGrpSpPr>
          <p:cNvPr id="18" name="delta-ledger"/>
          <p:cNvGrpSpPr/>
          <p:nvPr/>
        </p:nvGrpSpPr>
        <p:grpSpPr>
          <a:xfrm>
            <a:off x="8763000" y="1790700"/>
            <a:ext cx="2476500" cy="3810000"/>
            <a:chOff x="8763000" y="1790700"/>
            <a:chExt cx="2476500" cy="3810000"/>
          </a:xfrm>
        </p:grpSpPr>
        <p:sp>
          <p:nvSpPr>
            <p:cNvPr id="10" name="Rectangle 10"/>
            <p:cNvSpPr/>
            <p:nvPr/>
          </p:nvSpPr>
          <p:spPr>
            <a:xfrm>
              <a:off x="8763000" y="1790700"/>
              <a:ext cx="2476500" cy="3810000"/>
            </a:xfrm>
            <a:prstGeom prst="roundRect">
              <a:avLst>
                <a:gd name="adj" fmla="val 3846"/>
              </a:avLst>
            </a:prstGeom>
            <a:solidFill>
              <a:schemeClr val="accent1"/>
            </a:solidFill>
            <a:ln>
              <a:noFill/>
            </a:ln>
          </p:spPr>
        </p:sp>
        <p:sp>
          <p:nvSpPr>
            <p:cNvPr id="11" name="TextBox 11"/>
            <p:cNvSpPr txBox="1"/>
            <p:nvPr/>
          </p:nvSpPr>
          <p:spPr>
            <a:xfrm>
              <a:off x="9041892" y="2057400"/>
              <a:ext cx="1482700" cy="264033"/>
            </a:xfrm>
            <a:prstGeom prst="rect">
              <a:avLst/>
            </a:prstGeom>
            <a:noFill/>
            <a:ln>
              <a:noFill/>
            </a:ln>
          </p:spPr>
          <p:txBody>
            <a:bodyPr wrap="none" lIns="0" tIns="0" rIns="0" bIns="0" anchor="t" anchorCtr="0">
              <a:spAutoFit/>
            </a:bodyPr>
            <a:lstStyle/>
            <a:p>
              <a:pPr algn="l"/>
              <a:r>
                <a:rPr lang="en-US" sz="1350" dirty="0">
                  <a:solidFill>
                    <a:srgbClr val="C9EAF0"/>
                  </a:solidFill>
                  <a:latin typeface="+mn-lt"/>
                  <a:ea typeface="+mn-ea"/>
                  <a:cs typeface="+mn-cs"/>
                </a:rPr>
                <a:t>OBSERVED DELTA</a:t>
              </a:r>
            </a:p>
          </p:txBody>
        </p:sp>
        <p:sp>
          <p:nvSpPr>
            <p:cNvPr id="12" name="TextBox 12"/>
            <p:cNvSpPr txBox="1"/>
            <p:nvPr/>
          </p:nvSpPr>
          <p:spPr>
            <a:xfrm>
              <a:off x="9032748" y="2628900"/>
              <a:ext cx="1897837" cy="616077"/>
            </a:xfrm>
            <a:prstGeom prst="rect">
              <a:avLst/>
            </a:prstGeom>
            <a:noFill/>
            <a:ln>
              <a:noFill/>
            </a:ln>
          </p:spPr>
          <p:txBody>
            <a:bodyPr wrap="none" lIns="0" tIns="0" rIns="0" bIns="0" anchor="t" anchorCtr="0">
              <a:spAutoFit/>
            </a:bodyPr>
            <a:lstStyle/>
            <a:p>
              <a:pPr algn="l"/>
              <a:r>
                <a:rPr lang="en-US" sz="3150" b="1" dirty="0">
                  <a:solidFill>
                    <a:srgbClr val="FFFFFF"/>
                  </a:solidFill>
                  <a:latin typeface="Consolas"/>
                  <a:ea typeface="Consolas"/>
                  <a:cs typeface="Consolas"/>
                </a:rPr>
                <a:t>+4.73 pp</a:t>
              </a:r>
            </a:p>
          </p:txBody>
        </p:sp>
        <p:sp>
          <p:nvSpPr>
            <p:cNvPr id="13" name="TextBox 13"/>
            <p:cNvSpPr txBox="1"/>
            <p:nvPr/>
          </p:nvSpPr>
          <p:spPr>
            <a:xfrm>
              <a:off x="9041892" y="3152775"/>
              <a:ext cx="675376" cy="264033"/>
            </a:xfrm>
            <a:prstGeom prst="rect">
              <a:avLst/>
            </a:prstGeom>
            <a:noFill/>
            <a:ln>
              <a:noFill/>
            </a:ln>
          </p:spPr>
          <p:txBody>
            <a:bodyPr wrap="none" lIns="0" tIns="0" rIns="0" bIns="0" anchor="t" anchorCtr="0">
              <a:spAutoFit/>
            </a:bodyPr>
            <a:lstStyle/>
            <a:p>
              <a:pPr algn="l"/>
              <a:r>
                <a:rPr lang="en-US" sz="1350" dirty="0">
                  <a:solidFill>
                    <a:srgbClr val="FFFFFF"/>
                  </a:solidFill>
                  <a:latin typeface="+mn-lt"/>
                  <a:ea typeface="+mn-ea"/>
                  <a:cs typeface="+mn-cs"/>
                </a:rPr>
                <a:t>Layer 1</a:t>
              </a:r>
            </a:p>
          </p:txBody>
        </p:sp>
        <p:sp>
          <p:nvSpPr>
            <p:cNvPr id="14" name="Line 14"/>
            <p:cNvSpPr/>
            <p:nvPr/>
          </p:nvSpPr>
          <p:spPr>
            <a:xfrm>
              <a:off x="9048750" y="3714750"/>
              <a:ext cx="1905000" cy="9525"/>
            </a:xfrm>
            <a:custGeom>
              <a:avLst/>
              <a:gdLst/>
              <a:ahLst/>
              <a:cxnLst/>
              <a:rect l="l" t="t" r="r" b="b"/>
              <a:pathLst>
                <a:path w="1905000" h="9525">
                  <a:moveTo>
                    <a:pt x="0" y="0"/>
                  </a:moveTo>
                  <a:lnTo>
                    <a:pt x="1905000" y="0"/>
                  </a:lnTo>
                </a:path>
              </a:pathLst>
            </a:custGeom>
            <a:noFill/>
            <a:ln w="9525">
              <a:solidFill>
                <a:srgbClr val="5B6875"/>
              </a:solidFill>
            </a:ln>
          </p:spPr>
        </p:sp>
        <p:sp>
          <p:nvSpPr>
            <p:cNvPr id="15" name="TextBox 15"/>
            <p:cNvSpPr txBox="1"/>
            <p:nvPr/>
          </p:nvSpPr>
          <p:spPr>
            <a:xfrm>
              <a:off x="9032748" y="4038600"/>
              <a:ext cx="1897837" cy="616077"/>
            </a:xfrm>
            <a:prstGeom prst="rect">
              <a:avLst/>
            </a:prstGeom>
            <a:noFill/>
            <a:ln>
              <a:noFill/>
            </a:ln>
          </p:spPr>
          <p:txBody>
            <a:bodyPr wrap="none" lIns="0" tIns="0" rIns="0" bIns="0" anchor="t" anchorCtr="0">
              <a:spAutoFit/>
            </a:bodyPr>
            <a:lstStyle/>
            <a:p>
              <a:pPr algn="l"/>
              <a:r>
                <a:rPr lang="en-US" sz="3150" b="1" dirty="0">
                  <a:solidFill>
                    <a:srgbClr val="FFFFFF"/>
                  </a:solidFill>
                  <a:latin typeface="Consolas"/>
                  <a:ea typeface="Consolas"/>
                  <a:cs typeface="Consolas"/>
                </a:rPr>
                <a:t>+4.40 pp</a:t>
              </a:r>
            </a:p>
          </p:txBody>
        </p:sp>
        <p:sp>
          <p:nvSpPr>
            <p:cNvPr id="16" name="TextBox 16"/>
            <p:cNvSpPr txBox="1"/>
            <p:nvPr/>
          </p:nvSpPr>
          <p:spPr>
            <a:xfrm>
              <a:off x="9041892" y="4562475"/>
              <a:ext cx="675376" cy="264033"/>
            </a:xfrm>
            <a:prstGeom prst="rect">
              <a:avLst/>
            </a:prstGeom>
            <a:noFill/>
            <a:ln>
              <a:noFill/>
            </a:ln>
          </p:spPr>
          <p:txBody>
            <a:bodyPr wrap="none" lIns="0" tIns="0" rIns="0" bIns="0" anchor="t" anchorCtr="0">
              <a:spAutoFit/>
            </a:bodyPr>
            <a:lstStyle/>
            <a:p>
              <a:pPr algn="l"/>
              <a:r>
                <a:rPr lang="en-US" sz="1350" dirty="0">
                  <a:solidFill>
                    <a:srgbClr val="FFFFFF"/>
                  </a:solidFill>
                  <a:latin typeface="+mn-lt"/>
                  <a:ea typeface="+mn-ea"/>
                  <a:cs typeface="+mn-cs"/>
                </a:rPr>
                <a:t>Layer 2</a:t>
              </a:r>
            </a:p>
          </p:txBody>
        </p:sp>
        <p:sp>
          <p:nvSpPr>
            <p:cNvPr id="17" name="TextBox 17"/>
            <p:cNvSpPr txBox="1"/>
            <p:nvPr/>
          </p:nvSpPr>
          <p:spPr>
            <a:xfrm>
              <a:off x="9042654" y="5080000"/>
              <a:ext cx="1776618" cy="234696"/>
            </a:xfrm>
            <a:prstGeom prst="rect">
              <a:avLst/>
            </a:prstGeom>
            <a:noFill/>
            <a:ln>
              <a:noFill/>
            </a:ln>
          </p:spPr>
          <p:txBody>
            <a:bodyPr wrap="none" lIns="0" tIns="0" rIns="0" bIns="0" anchor="t" anchorCtr="0">
              <a:spAutoFit/>
            </a:bodyPr>
            <a:lstStyle/>
            <a:p>
              <a:pPr algn="l"/>
              <a:r>
                <a:rPr lang="en-US" sz="1200" dirty="0">
                  <a:solidFill>
                    <a:srgbClr val="C9EAF0"/>
                  </a:solidFill>
                  <a:latin typeface="+mn-lt"/>
                  <a:ea typeface="+mn-ea"/>
                  <a:cs typeface="+mn-cs"/>
                </a:rPr>
                <a:t>FPR = 0 at both optima</a:t>
              </a:r>
            </a:p>
          </p:txBody>
        </p:sp>
      </p:grpSp>
      <p:grpSp>
        <p:nvGrpSpPr>
          <p:cNvPr id="20" name="takeaway"/>
          <p:cNvGrpSpPr/>
          <p:nvPr/>
        </p:nvGrpSpPr>
        <p:grpSpPr>
          <a:xfrm>
            <a:off x="944118" y="5848350"/>
            <a:ext cx="8129253" cy="322707"/>
            <a:chOff x="944118" y="5848350"/>
            <a:chExt cx="8129253" cy="322707"/>
          </a:xfrm>
        </p:grpSpPr>
        <p:sp>
          <p:nvSpPr>
            <p:cNvPr id="19" name="TextBox 19"/>
            <p:cNvSpPr txBox="1"/>
            <p:nvPr/>
          </p:nvSpPr>
          <p:spPr>
            <a:xfrm>
              <a:off x="944118" y="5848350"/>
              <a:ext cx="8129253"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Improvement holds under the corrected split within the capped sample.</a:t>
              </a:r>
            </a:p>
          </p:txBody>
        </p:sp>
      </p:grpSp>
      <p:grpSp>
        <p:nvGrpSpPr>
          <p:cNvPr id="23" name="footer"/>
          <p:cNvGrpSpPr/>
          <p:nvPr/>
        </p:nvGrpSpPr>
        <p:grpSpPr>
          <a:xfrm>
            <a:off x="947166" y="6369050"/>
            <a:ext cx="10297668" cy="205359"/>
            <a:chOff x="947166" y="6369050"/>
            <a:chExt cx="10297668" cy="205359"/>
          </a:xfrm>
        </p:grpSpPr>
        <p:sp>
          <p:nvSpPr>
            <p:cNvPr id="21" name="TextBox 21"/>
            <p:cNvSpPr txBox="1"/>
            <p:nvPr/>
          </p:nvSpPr>
          <p:spPr>
            <a:xfrm>
              <a:off x="947166" y="6369050"/>
              <a:ext cx="6192432" cy="205359"/>
            </a:xfrm>
            <a:prstGeom prst="rect">
              <a:avLst/>
            </a:prstGeom>
            <a:noFill/>
            <a:ln>
              <a:noFill/>
            </a:ln>
          </p:spPr>
          <p:txBody>
            <a:bodyPr wrap="none" lIns="0" tIns="0" rIns="0" bIns="0" anchor="t" anchorCtr="0">
              <a:spAutoFit/>
            </a:bodyPr>
            <a:lstStyle/>
            <a:p>
              <a:pPr algn="l"/>
              <a:r>
                <a:rPr lang="en-US" sz="1050" dirty="0">
                  <a:solidFill>
                    <a:schemeClr val="accent5"/>
                  </a:solidFill>
                  <a:latin typeface="+mn-lt"/>
                  <a:ea typeface="+mn-ea"/>
                  <a:cs typeface="+mn-cs"/>
                </a:rPr>
                <a:t>Source: comprehensive metrics manifest; best windows selected independently per model</a:t>
              </a:r>
            </a:p>
          </p:txBody>
        </p:sp>
        <p:sp>
          <p:nvSpPr>
            <p:cNvPr id="22" name="TextBox 22"/>
            <p:cNvSpPr txBox="1"/>
            <p:nvPr/>
          </p:nvSpPr>
          <p:spPr>
            <a:xfrm>
              <a:off x="11078680" y="6369050"/>
              <a:ext cx="166154"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Consolas"/>
                  <a:ea typeface="Consolas"/>
                  <a:cs typeface="Consolas"/>
                </a:rPr>
                <a:t>13</a:t>
              </a:r>
            </a:p>
          </p:txBody>
        </p:sp>
      </p:gr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ledger-rule"/>
          <p:cNvSpPr/>
          <p:nvPr/>
        </p:nvSpPr>
        <p:spPr>
          <a:xfrm>
            <a:off x="609600" y="400050"/>
            <a:ext cx="57150" cy="6000750"/>
          </a:xfrm>
          <a:prstGeom prst="rect">
            <a:avLst/>
          </a:prstGeom>
          <a:solidFill>
            <a:schemeClr val="accent2"/>
          </a:solidFill>
          <a:ln>
            <a:noFill/>
          </a:ln>
        </p:spPr>
      </p:sp>
      <p:grpSp>
        <p:nvGrpSpPr>
          <p:cNvPr id="5" name="heading"/>
          <p:cNvGrpSpPr/>
          <p:nvPr/>
        </p:nvGrpSpPr>
        <p:grpSpPr>
          <a:xfrm>
            <a:off x="940308" y="546100"/>
            <a:ext cx="7260735" cy="888492"/>
            <a:chOff x="940308" y="546100"/>
            <a:chExt cx="7260735" cy="888492"/>
          </a:xfrm>
        </p:grpSpPr>
        <p:sp>
          <p:nvSpPr>
            <p:cNvPr id="3" name="TextBox 3"/>
            <p:cNvSpPr txBox="1"/>
            <p:nvPr/>
          </p:nvSpPr>
          <p:spPr>
            <a:xfrm>
              <a:off x="946404" y="546100"/>
              <a:ext cx="2525573" cy="234696"/>
            </a:xfrm>
            <a:prstGeom prst="rect">
              <a:avLst/>
            </a:prstGeom>
            <a:noFill/>
            <a:ln>
              <a:noFill/>
            </a:ln>
          </p:spPr>
          <p:txBody>
            <a:bodyPr wrap="none" lIns="0" tIns="0" rIns="0" bIns="0" anchor="t" anchorCtr="0">
              <a:spAutoFit/>
            </a:bodyPr>
            <a:lstStyle/>
            <a:p>
              <a:pPr algn="l"/>
              <a:r>
                <a:rPr lang="en-US" sz="1200" spc="150" dirty="0">
                  <a:solidFill>
                    <a:schemeClr val="accent2"/>
                  </a:solidFill>
                  <a:latin typeface="Consolas"/>
                  <a:ea typeface="Consolas"/>
                  <a:cs typeface="Consolas"/>
                </a:rPr>
                <a:t>13 · PHASE A → PHASE B</a:t>
              </a:r>
            </a:p>
          </p:txBody>
        </p:sp>
        <p:sp>
          <p:nvSpPr>
            <p:cNvPr id="4" name="TextBox 4"/>
            <p:cNvSpPr txBox="1"/>
            <p:nvPr/>
          </p:nvSpPr>
          <p:spPr>
            <a:xfrm>
              <a:off x="940308" y="965200"/>
              <a:ext cx="7260735" cy="469392"/>
            </a:xfrm>
            <a:prstGeom prst="rect">
              <a:avLst/>
            </a:prstGeom>
            <a:noFill/>
            <a:ln>
              <a:noFill/>
            </a:ln>
          </p:spPr>
          <p:txBody>
            <a:bodyPr wrap="none" lIns="0" tIns="0" rIns="0" bIns="0" anchor="t" anchorCtr="0">
              <a:spAutoFit/>
            </a:bodyPr>
            <a:lstStyle/>
            <a:p>
              <a:pPr algn="l"/>
              <a:r>
                <a:rPr lang="en-US" sz="2400" b="1" dirty="0">
                  <a:solidFill>
                    <a:schemeClr val="accent1"/>
                  </a:solidFill>
                  <a:latin typeface="+mj-lt"/>
                  <a:ea typeface="+mj-ea"/>
                  <a:cs typeface="+mj-cs"/>
                </a:rPr>
                <a:t>Traffic collection dominates detection time</a:t>
              </a:r>
            </a:p>
          </p:txBody>
        </p:sp>
      </p:grpSp>
      <p:grpSp>
        <p:nvGrpSpPr>
          <p:cNvPr id="16" name="latency-kpis"/>
          <p:cNvGrpSpPr/>
          <p:nvPr/>
        </p:nvGrpSpPr>
        <p:grpSpPr>
          <a:xfrm>
            <a:off x="952500" y="1695450"/>
            <a:ext cx="10287000" cy="1809750"/>
            <a:chOff x="952500" y="1695450"/>
            <a:chExt cx="10287000" cy="1809750"/>
          </a:xfrm>
        </p:grpSpPr>
        <p:sp>
          <p:nvSpPr>
            <p:cNvPr id="6" name="Rectangle 6"/>
            <p:cNvSpPr/>
            <p:nvPr/>
          </p:nvSpPr>
          <p:spPr>
            <a:xfrm>
              <a:off x="952500" y="1695450"/>
              <a:ext cx="4953000" cy="1809750"/>
            </a:xfrm>
            <a:prstGeom prst="roundRect">
              <a:avLst>
                <a:gd name="adj" fmla="val 5263"/>
              </a:avLst>
            </a:prstGeom>
            <a:solidFill>
              <a:srgbClr val="FFFFFF"/>
            </a:solidFill>
            <a:ln w="19050">
              <a:solidFill>
                <a:schemeClr val="accent6"/>
              </a:solidFill>
            </a:ln>
          </p:spPr>
        </p:sp>
        <p:sp>
          <p:nvSpPr>
            <p:cNvPr id="7" name="TextBox 7"/>
            <p:cNvSpPr txBox="1"/>
            <p:nvPr/>
          </p:nvSpPr>
          <p:spPr>
            <a:xfrm>
              <a:off x="1251204" y="1917700"/>
              <a:ext cx="1983638" cy="234696"/>
            </a:xfrm>
            <a:prstGeom prst="rect">
              <a:avLst/>
            </a:prstGeom>
            <a:noFill/>
            <a:ln>
              <a:noFill/>
            </a:ln>
          </p:spPr>
          <p:txBody>
            <a:bodyPr wrap="none" lIns="0" tIns="0" rIns="0" bIns="0" anchor="t" anchorCtr="0">
              <a:spAutoFit/>
            </a:bodyPr>
            <a:lstStyle/>
            <a:p>
              <a:pPr algn="l"/>
              <a:r>
                <a:rPr lang="en-US" sz="1200" dirty="0">
                  <a:solidFill>
                    <a:schemeClr val="accent2"/>
                  </a:solidFill>
                  <a:latin typeface="Consolas"/>
                  <a:ea typeface="Consolas"/>
                  <a:cs typeface="Consolas"/>
                </a:rPr>
                <a:t>LAYER 1 · BIGRU · ℓ=7</a:t>
              </a:r>
            </a:p>
          </p:txBody>
        </p:sp>
        <p:sp>
          <p:nvSpPr>
            <p:cNvPr id="8" name="TextBox 8"/>
            <p:cNvSpPr txBox="1"/>
            <p:nvPr/>
          </p:nvSpPr>
          <p:spPr>
            <a:xfrm>
              <a:off x="1241298" y="2190750"/>
              <a:ext cx="1664608" cy="616077"/>
            </a:xfrm>
            <a:prstGeom prst="rect">
              <a:avLst/>
            </a:prstGeom>
            <a:noFill/>
            <a:ln>
              <a:noFill/>
            </a:ln>
          </p:spPr>
          <p:txBody>
            <a:bodyPr wrap="none" lIns="0" tIns="0" rIns="0" bIns="0" anchor="t" anchorCtr="0">
              <a:spAutoFit/>
            </a:bodyPr>
            <a:lstStyle/>
            <a:p>
              <a:pPr algn="l"/>
              <a:r>
                <a:rPr lang="en-US" sz="3150" b="1" dirty="0">
                  <a:solidFill>
                    <a:schemeClr val="accent1"/>
                  </a:solidFill>
                  <a:latin typeface="Consolas"/>
                  <a:ea typeface="Consolas"/>
                  <a:cs typeface="Consolas"/>
                </a:rPr>
                <a:t>0.871 s</a:t>
              </a:r>
            </a:p>
          </p:txBody>
        </p:sp>
        <p:sp>
          <p:nvSpPr>
            <p:cNvPr id="9" name="TextBox 9"/>
            <p:cNvSpPr txBox="1"/>
            <p:nvPr/>
          </p:nvSpPr>
          <p:spPr>
            <a:xfrm>
              <a:off x="1251204" y="2717800"/>
              <a:ext cx="3339998"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p50 end-to-end · n=25 first-window flows</a:t>
              </a:r>
            </a:p>
          </p:txBody>
        </p:sp>
        <p:sp>
          <p:nvSpPr>
            <p:cNvPr id="10" name="TextBox 10"/>
            <p:cNvSpPr txBox="1"/>
            <p:nvPr/>
          </p:nvSpPr>
          <p:spPr>
            <a:xfrm>
              <a:off x="1250823" y="3067050"/>
              <a:ext cx="3129402" cy="250317"/>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F1 0.9651 · inference p50 0.132 ms</a:t>
              </a:r>
            </a:p>
          </p:txBody>
        </p:sp>
        <p:sp>
          <p:nvSpPr>
            <p:cNvPr id="11" name="Rectangle 11"/>
            <p:cNvSpPr/>
            <p:nvPr/>
          </p:nvSpPr>
          <p:spPr>
            <a:xfrm>
              <a:off x="6286500" y="1695450"/>
              <a:ext cx="4953000" cy="1809750"/>
            </a:xfrm>
            <a:prstGeom prst="roundRect">
              <a:avLst>
                <a:gd name="adj" fmla="val 5263"/>
              </a:avLst>
            </a:prstGeom>
            <a:solidFill>
              <a:srgbClr val="FFFFFF"/>
            </a:solidFill>
            <a:ln w="19050">
              <a:solidFill>
                <a:schemeClr val="accent6"/>
              </a:solidFill>
            </a:ln>
          </p:spPr>
        </p:sp>
        <p:sp>
          <p:nvSpPr>
            <p:cNvPr id="12" name="TextBox 12"/>
            <p:cNvSpPr txBox="1"/>
            <p:nvPr/>
          </p:nvSpPr>
          <p:spPr>
            <a:xfrm>
              <a:off x="6585204" y="1917700"/>
              <a:ext cx="2077517" cy="234696"/>
            </a:xfrm>
            <a:prstGeom prst="rect">
              <a:avLst/>
            </a:prstGeom>
            <a:noFill/>
            <a:ln>
              <a:noFill/>
            </a:ln>
          </p:spPr>
          <p:txBody>
            <a:bodyPr wrap="none" lIns="0" tIns="0" rIns="0" bIns="0" anchor="t" anchorCtr="0">
              <a:spAutoFit/>
            </a:bodyPr>
            <a:lstStyle/>
            <a:p>
              <a:pPr algn="l"/>
              <a:r>
                <a:rPr lang="en-US" sz="1200" dirty="0">
                  <a:solidFill>
                    <a:schemeClr val="accent3"/>
                  </a:solidFill>
                  <a:latin typeface="Consolas"/>
                  <a:ea typeface="Consolas"/>
                  <a:cs typeface="Consolas"/>
                </a:rPr>
                <a:t>LAYER 2 · BIGRU · ℓ=10</a:t>
              </a:r>
            </a:p>
          </p:txBody>
        </p:sp>
        <p:sp>
          <p:nvSpPr>
            <p:cNvPr id="13" name="TextBox 13"/>
            <p:cNvSpPr txBox="1"/>
            <p:nvPr/>
          </p:nvSpPr>
          <p:spPr>
            <a:xfrm>
              <a:off x="6575298" y="2190750"/>
              <a:ext cx="1664608" cy="616077"/>
            </a:xfrm>
            <a:prstGeom prst="rect">
              <a:avLst/>
            </a:prstGeom>
            <a:noFill/>
            <a:ln>
              <a:noFill/>
            </a:ln>
          </p:spPr>
          <p:txBody>
            <a:bodyPr wrap="none" lIns="0" tIns="0" rIns="0" bIns="0" anchor="t" anchorCtr="0">
              <a:spAutoFit/>
            </a:bodyPr>
            <a:lstStyle/>
            <a:p>
              <a:pPr algn="l"/>
              <a:r>
                <a:rPr lang="en-US" sz="3150" b="1" dirty="0">
                  <a:solidFill>
                    <a:schemeClr val="accent1"/>
                  </a:solidFill>
                  <a:latin typeface="Consolas"/>
                  <a:ea typeface="Consolas"/>
                  <a:cs typeface="Consolas"/>
                </a:rPr>
                <a:t>3.513 s</a:t>
              </a:r>
            </a:p>
          </p:txBody>
        </p:sp>
        <p:sp>
          <p:nvSpPr>
            <p:cNvPr id="14" name="TextBox 14"/>
            <p:cNvSpPr txBox="1"/>
            <p:nvPr/>
          </p:nvSpPr>
          <p:spPr>
            <a:xfrm>
              <a:off x="6585204" y="2717800"/>
              <a:ext cx="3339998"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p50 end-to-end · n=22 first-window flows</a:t>
              </a:r>
            </a:p>
          </p:txBody>
        </p:sp>
        <p:sp>
          <p:nvSpPr>
            <p:cNvPr id="15" name="TextBox 15"/>
            <p:cNvSpPr txBox="1"/>
            <p:nvPr/>
          </p:nvSpPr>
          <p:spPr>
            <a:xfrm>
              <a:off x="6584823" y="3067050"/>
              <a:ext cx="3129402" cy="250317"/>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F1 0.9864 · inference p50 0.168 ms</a:t>
              </a:r>
            </a:p>
          </p:txBody>
        </p:sp>
      </p:grpSp>
      <p:grpSp>
        <p:nvGrpSpPr>
          <p:cNvPr id="20" name="tail-warning"/>
          <p:cNvGrpSpPr/>
          <p:nvPr/>
        </p:nvGrpSpPr>
        <p:grpSpPr>
          <a:xfrm>
            <a:off x="952500" y="3733800"/>
            <a:ext cx="10287000" cy="647700"/>
            <a:chOff x="952500" y="3733800"/>
            <a:chExt cx="10287000" cy="647700"/>
          </a:xfrm>
        </p:grpSpPr>
        <p:sp>
          <p:nvSpPr>
            <p:cNvPr id="17" name="Rectangle 17"/>
            <p:cNvSpPr/>
            <p:nvPr/>
          </p:nvSpPr>
          <p:spPr>
            <a:xfrm>
              <a:off x="952500" y="3733800"/>
              <a:ext cx="10287000" cy="647700"/>
            </a:xfrm>
            <a:prstGeom prst="roundRect">
              <a:avLst>
                <a:gd name="adj" fmla="val 14706"/>
              </a:avLst>
            </a:prstGeom>
            <a:solidFill>
              <a:srgbClr val="FFF7ED"/>
            </a:solidFill>
            <a:ln w="19050">
              <a:solidFill>
                <a:schemeClr val="accent3"/>
              </a:solidFill>
            </a:ln>
          </p:spPr>
        </p:sp>
        <p:sp>
          <p:nvSpPr>
            <p:cNvPr id="18" name="TextBox 18"/>
            <p:cNvSpPr txBox="1"/>
            <p:nvPr/>
          </p:nvSpPr>
          <p:spPr>
            <a:xfrm>
              <a:off x="1251204" y="3870325"/>
              <a:ext cx="1589349" cy="234696"/>
            </a:xfrm>
            <a:prstGeom prst="rect">
              <a:avLst/>
            </a:prstGeom>
            <a:noFill/>
            <a:ln>
              <a:noFill/>
            </a:ln>
          </p:spPr>
          <p:txBody>
            <a:bodyPr wrap="none" lIns="0" tIns="0" rIns="0" bIns="0" anchor="t" anchorCtr="0">
              <a:spAutoFit/>
            </a:bodyPr>
            <a:lstStyle/>
            <a:p>
              <a:pPr algn="l"/>
              <a:r>
                <a:rPr lang="en-US" sz="1200" b="1" dirty="0">
                  <a:solidFill>
                    <a:srgbClr val="9A4D00"/>
                  </a:solidFill>
                  <a:latin typeface="+mn-lt"/>
                  <a:ea typeface="+mn-ea"/>
                  <a:cs typeface="+mn-cs"/>
                </a:rPr>
                <a:t>LONG-TAIL REALITY</a:t>
              </a:r>
            </a:p>
          </p:txBody>
        </p:sp>
        <p:sp>
          <p:nvSpPr>
            <p:cNvPr id="19" name="TextBox 19"/>
            <p:cNvSpPr txBox="1"/>
            <p:nvPr/>
          </p:nvSpPr>
          <p:spPr>
            <a:xfrm>
              <a:off x="1250442" y="4105275"/>
              <a:ext cx="9809340"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p95 end-to-end ≈30.055 s in both selected windows; traffic collection—not model compute—sets alert latency.</a:t>
              </a:r>
            </a:p>
          </p:txBody>
        </p:sp>
      </p:grpSp>
      <p:grpSp>
        <p:nvGrpSpPr>
          <p:cNvPr id="37" name="phase-b-scale"/>
          <p:cNvGrpSpPr/>
          <p:nvPr/>
        </p:nvGrpSpPr>
        <p:grpSpPr>
          <a:xfrm>
            <a:off x="946404" y="4718050"/>
            <a:ext cx="10293096" cy="825500"/>
            <a:chOff x="946404" y="4718050"/>
            <a:chExt cx="10293096" cy="825500"/>
          </a:xfrm>
        </p:grpSpPr>
        <p:sp>
          <p:nvSpPr>
            <p:cNvPr id="21" name="TextBox 21"/>
            <p:cNvSpPr txBox="1"/>
            <p:nvPr/>
          </p:nvSpPr>
          <p:spPr>
            <a:xfrm>
              <a:off x="946404" y="4718050"/>
              <a:ext cx="3256117" cy="234696"/>
            </a:xfrm>
            <a:prstGeom prst="rect">
              <a:avLst/>
            </a:prstGeom>
            <a:noFill/>
            <a:ln>
              <a:noFill/>
            </a:ln>
          </p:spPr>
          <p:txBody>
            <a:bodyPr wrap="none" lIns="0" tIns="0" rIns="0" bIns="0" anchor="t" anchorCtr="0">
              <a:spAutoFit/>
            </a:bodyPr>
            <a:lstStyle/>
            <a:p>
              <a:pPr algn="l"/>
              <a:r>
                <a:rPr lang="en-US" sz="1200" b="1" dirty="0">
                  <a:solidFill>
                    <a:schemeClr val="accent1"/>
                  </a:solidFill>
                  <a:latin typeface="+mn-lt"/>
                  <a:ea typeface="+mn-ea"/>
                  <a:cs typeface="+mn-cs"/>
                </a:rPr>
                <a:t>PHASE B · WINDOWS CUDA SCALE LADDER</a:t>
              </a:r>
            </a:p>
          </p:txBody>
        </p:sp>
        <p:grpSp>
          <p:nvGrpSpPr>
            <p:cNvPr id="36" name="Group 36"/>
            <p:cNvGrpSpPr/>
            <p:nvPr/>
          </p:nvGrpSpPr>
          <p:grpSpPr>
            <a:xfrm>
              <a:off x="952500" y="5029200"/>
              <a:ext cx="10287000" cy="514350"/>
              <a:chOff x="952500" y="5029200"/>
              <a:chExt cx="10287000" cy="514350"/>
            </a:xfrm>
          </p:grpSpPr>
          <p:sp>
            <p:nvSpPr>
              <p:cNvPr id="22" name="Rectangle 22"/>
              <p:cNvSpPr/>
              <p:nvPr/>
            </p:nvSpPr>
            <p:spPr>
              <a:xfrm>
                <a:off x="952500" y="5029200"/>
                <a:ext cx="1428750" cy="514350"/>
              </a:xfrm>
              <a:prstGeom prst="roundRect">
                <a:avLst>
                  <a:gd name="adj" fmla="val 14815"/>
                </a:avLst>
              </a:prstGeom>
              <a:solidFill>
                <a:srgbClr val="E0F2FE"/>
              </a:solidFill>
              <a:ln w="9525">
                <a:solidFill>
                  <a:schemeClr val="accent2"/>
                </a:solidFill>
              </a:ln>
            </p:spPr>
          </p:sp>
          <p:sp>
            <p:nvSpPr>
              <p:cNvPr id="23" name="TextBox 23"/>
              <p:cNvSpPr txBox="1"/>
              <p:nvPr/>
            </p:nvSpPr>
            <p:spPr>
              <a:xfrm>
                <a:off x="1307211" y="5175250"/>
                <a:ext cx="719328" cy="293370"/>
              </a:xfrm>
              <a:prstGeom prst="rect">
                <a:avLst/>
              </a:prstGeom>
              <a:noFill/>
              <a:ln>
                <a:noFill/>
              </a:ln>
            </p:spPr>
            <p:txBody>
              <a:bodyPr wrap="none" lIns="0" tIns="0" rIns="0" bIns="0" anchor="t" anchorCtr="0">
                <a:spAutoFit/>
              </a:bodyPr>
              <a:lstStyle/>
              <a:p>
                <a:pPr algn="ctr"/>
                <a:r>
                  <a:rPr lang="en-US" sz="1500" b="1" dirty="0">
                    <a:solidFill>
                      <a:schemeClr val="accent1"/>
                    </a:solidFill>
                    <a:latin typeface="Consolas"/>
                    <a:ea typeface="Consolas"/>
                    <a:cs typeface="Consolas"/>
                  </a:rPr>
                  <a:t>CAP 25</a:t>
                </a:r>
              </a:p>
            </p:txBody>
          </p:sp>
          <p:sp>
            <p:nvSpPr>
              <p:cNvPr id="24" name="TextBox 24"/>
              <p:cNvSpPr txBox="1"/>
              <p:nvPr/>
            </p:nvSpPr>
            <p:spPr>
              <a:xfrm>
                <a:off x="2546699" y="5175250"/>
                <a:ext cx="126302" cy="293370"/>
              </a:xfrm>
              <a:prstGeom prst="rect">
                <a:avLst/>
              </a:prstGeom>
              <a:noFill/>
              <a:ln>
                <a:noFill/>
              </a:ln>
            </p:spPr>
            <p:txBody>
              <a:bodyPr wrap="none" lIns="0" tIns="0" rIns="0" bIns="0" anchor="t" anchorCtr="0">
                <a:spAutoFit/>
              </a:bodyPr>
              <a:lstStyle/>
              <a:p>
                <a:pPr algn="ctr"/>
                <a:r>
                  <a:rPr lang="en-US" sz="1500" b="1" dirty="0">
                    <a:solidFill>
                      <a:schemeClr val="accent5"/>
                    </a:solidFill>
                    <a:latin typeface="Consolas"/>
                    <a:ea typeface="Consolas"/>
                    <a:cs typeface="Consolas"/>
                  </a:rPr>
                  <a:t>→</a:t>
                </a:r>
              </a:p>
            </p:txBody>
          </p:sp>
          <p:sp>
            <p:nvSpPr>
              <p:cNvPr id="25" name="Rectangle 25"/>
              <p:cNvSpPr/>
              <p:nvPr/>
            </p:nvSpPr>
            <p:spPr>
              <a:xfrm>
                <a:off x="2857500" y="5029200"/>
                <a:ext cx="1428750" cy="514350"/>
              </a:xfrm>
              <a:prstGeom prst="roundRect">
                <a:avLst>
                  <a:gd name="adj" fmla="val 14815"/>
                </a:avLst>
              </a:prstGeom>
              <a:solidFill>
                <a:srgbClr val="E0F2FE"/>
              </a:solidFill>
              <a:ln w="9525">
                <a:solidFill>
                  <a:schemeClr val="accent2"/>
                </a:solidFill>
              </a:ln>
            </p:spPr>
          </p:sp>
          <p:sp>
            <p:nvSpPr>
              <p:cNvPr id="26" name="TextBox 26"/>
              <p:cNvSpPr txBox="1"/>
              <p:nvPr/>
            </p:nvSpPr>
            <p:spPr>
              <a:xfrm>
                <a:off x="3212211" y="5175250"/>
                <a:ext cx="719328" cy="293370"/>
              </a:xfrm>
              <a:prstGeom prst="rect">
                <a:avLst/>
              </a:prstGeom>
              <a:noFill/>
              <a:ln>
                <a:noFill/>
              </a:ln>
            </p:spPr>
            <p:txBody>
              <a:bodyPr wrap="none" lIns="0" tIns="0" rIns="0" bIns="0" anchor="t" anchorCtr="0">
                <a:spAutoFit/>
              </a:bodyPr>
              <a:lstStyle/>
              <a:p>
                <a:pPr algn="ctr"/>
                <a:r>
                  <a:rPr lang="en-US" sz="1500" b="1" dirty="0">
                    <a:solidFill>
                      <a:schemeClr val="accent1"/>
                    </a:solidFill>
                    <a:latin typeface="Consolas"/>
                    <a:ea typeface="Consolas"/>
                    <a:cs typeface="Consolas"/>
                  </a:rPr>
                  <a:t>CAP 50</a:t>
                </a:r>
              </a:p>
            </p:txBody>
          </p:sp>
          <p:sp>
            <p:nvSpPr>
              <p:cNvPr id="27" name="TextBox 27"/>
              <p:cNvSpPr txBox="1"/>
              <p:nvPr/>
            </p:nvSpPr>
            <p:spPr>
              <a:xfrm>
                <a:off x="4451699" y="5175250"/>
                <a:ext cx="126302" cy="293370"/>
              </a:xfrm>
              <a:prstGeom prst="rect">
                <a:avLst/>
              </a:prstGeom>
              <a:noFill/>
              <a:ln>
                <a:noFill/>
              </a:ln>
            </p:spPr>
            <p:txBody>
              <a:bodyPr wrap="none" lIns="0" tIns="0" rIns="0" bIns="0" anchor="t" anchorCtr="0">
                <a:spAutoFit/>
              </a:bodyPr>
              <a:lstStyle/>
              <a:p>
                <a:pPr algn="ctr"/>
                <a:r>
                  <a:rPr lang="en-US" sz="1500" b="1" dirty="0">
                    <a:solidFill>
                      <a:schemeClr val="accent5"/>
                    </a:solidFill>
                    <a:latin typeface="Consolas"/>
                    <a:ea typeface="Consolas"/>
                    <a:cs typeface="Consolas"/>
                  </a:rPr>
                  <a:t>→</a:t>
                </a:r>
              </a:p>
            </p:txBody>
          </p:sp>
          <p:sp>
            <p:nvSpPr>
              <p:cNvPr id="28" name="Rectangle 28"/>
              <p:cNvSpPr/>
              <p:nvPr/>
            </p:nvSpPr>
            <p:spPr>
              <a:xfrm>
                <a:off x="4762500" y="5029200"/>
                <a:ext cx="1428750" cy="514350"/>
              </a:xfrm>
              <a:prstGeom prst="roundRect">
                <a:avLst>
                  <a:gd name="adj" fmla="val 14815"/>
                </a:avLst>
              </a:prstGeom>
              <a:solidFill>
                <a:srgbClr val="E0F2FE"/>
              </a:solidFill>
              <a:ln w="9525">
                <a:solidFill>
                  <a:schemeClr val="accent2"/>
                </a:solidFill>
              </a:ln>
            </p:spPr>
          </p:sp>
          <p:sp>
            <p:nvSpPr>
              <p:cNvPr id="29" name="TextBox 29"/>
              <p:cNvSpPr txBox="1"/>
              <p:nvPr/>
            </p:nvSpPr>
            <p:spPr>
              <a:xfrm>
                <a:off x="5058537" y="5175250"/>
                <a:ext cx="836676" cy="293370"/>
              </a:xfrm>
              <a:prstGeom prst="rect">
                <a:avLst/>
              </a:prstGeom>
              <a:noFill/>
              <a:ln>
                <a:noFill/>
              </a:ln>
            </p:spPr>
            <p:txBody>
              <a:bodyPr wrap="none" lIns="0" tIns="0" rIns="0" bIns="0" anchor="t" anchorCtr="0">
                <a:spAutoFit/>
              </a:bodyPr>
              <a:lstStyle/>
              <a:p>
                <a:pPr algn="ctr"/>
                <a:r>
                  <a:rPr lang="en-US" sz="1500" b="1" dirty="0">
                    <a:solidFill>
                      <a:schemeClr val="accent1"/>
                    </a:solidFill>
                    <a:latin typeface="Consolas"/>
                    <a:ea typeface="Consolas"/>
                    <a:cs typeface="Consolas"/>
                  </a:rPr>
                  <a:t>CAP 100</a:t>
                </a:r>
              </a:p>
            </p:txBody>
          </p:sp>
          <p:sp>
            <p:nvSpPr>
              <p:cNvPr id="30" name="TextBox 30"/>
              <p:cNvSpPr txBox="1"/>
              <p:nvPr/>
            </p:nvSpPr>
            <p:spPr>
              <a:xfrm>
                <a:off x="6356699" y="5175250"/>
                <a:ext cx="126302" cy="293370"/>
              </a:xfrm>
              <a:prstGeom prst="rect">
                <a:avLst/>
              </a:prstGeom>
              <a:noFill/>
              <a:ln>
                <a:noFill/>
              </a:ln>
            </p:spPr>
            <p:txBody>
              <a:bodyPr wrap="none" lIns="0" tIns="0" rIns="0" bIns="0" anchor="t" anchorCtr="0">
                <a:spAutoFit/>
              </a:bodyPr>
              <a:lstStyle/>
              <a:p>
                <a:pPr algn="ctr"/>
                <a:r>
                  <a:rPr lang="en-US" sz="1500" b="1" dirty="0">
                    <a:solidFill>
                      <a:schemeClr val="accent5"/>
                    </a:solidFill>
                    <a:latin typeface="Consolas"/>
                    <a:ea typeface="Consolas"/>
                    <a:cs typeface="Consolas"/>
                  </a:rPr>
                  <a:t>→</a:t>
                </a:r>
              </a:p>
            </p:txBody>
          </p:sp>
          <p:sp>
            <p:nvSpPr>
              <p:cNvPr id="31" name="Rectangle 31"/>
              <p:cNvSpPr/>
              <p:nvPr/>
            </p:nvSpPr>
            <p:spPr>
              <a:xfrm>
                <a:off x="6667500" y="5029200"/>
                <a:ext cx="1428750" cy="514350"/>
              </a:xfrm>
              <a:prstGeom prst="roundRect">
                <a:avLst>
                  <a:gd name="adj" fmla="val 14815"/>
                </a:avLst>
              </a:prstGeom>
              <a:solidFill>
                <a:srgbClr val="E0F2FE"/>
              </a:solidFill>
              <a:ln w="9525">
                <a:solidFill>
                  <a:schemeClr val="accent2"/>
                </a:solidFill>
              </a:ln>
            </p:spPr>
          </p:sp>
          <p:sp>
            <p:nvSpPr>
              <p:cNvPr id="32" name="TextBox 32"/>
              <p:cNvSpPr txBox="1"/>
              <p:nvPr/>
            </p:nvSpPr>
            <p:spPr>
              <a:xfrm>
                <a:off x="6963537" y="5175250"/>
                <a:ext cx="836676" cy="293370"/>
              </a:xfrm>
              <a:prstGeom prst="rect">
                <a:avLst/>
              </a:prstGeom>
              <a:noFill/>
              <a:ln>
                <a:noFill/>
              </a:ln>
            </p:spPr>
            <p:txBody>
              <a:bodyPr wrap="none" lIns="0" tIns="0" rIns="0" bIns="0" anchor="t" anchorCtr="0">
                <a:spAutoFit/>
              </a:bodyPr>
              <a:lstStyle/>
              <a:p>
                <a:pPr algn="ctr"/>
                <a:r>
                  <a:rPr lang="en-US" sz="1500" b="1" dirty="0">
                    <a:solidFill>
                      <a:schemeClr val="accent1"/>
                    </a:solidFill>
                    <a:latin typeface="Consolas"/>
                    <a:ea typeface="Consolas"/>
                    <a:cs typeface="Consolas"/>
                  </a:rPr>
                  <a:t>CAP 250</a:t>
                </a:r>
              </a:p>
            </p:txBody>
          </p:sp>
          <p:sp>
            <p:nvSpPr>
              <p:cNvPr id="33" name="TextBox 33"/>
              <p:cNvSpPr txBox="1"/>
              <p:nvPr/>
            </p:nvSpPr>
            <p:spPr>
              <a:xfrm>
                <a:off x="8261699" y="5175250"/>
                <a:ext cx="126302" cy="293370"/>
              </a:xfrm>
              <a:prstGeom prst="rect">
                <a:avLst/>
              </a:prstGeom>
              <a:noFill/>
              <a:ln>
                <a:noFill/>
              </a:ln>
            </p:spPr>
            <p:txBody>
              <a:bodyPr wrap="none" lIns="0" tIns="0" rIns="0" bIns="0" anchor="t" anchorCtr="0">
                <a:spAutoFit/>
              </a:bodyPr>
              <a:lstStyle/>
              <a:p>
                <a:pPr algn="ctr"/>
                <a:r>
                  <a:rPr lang="en-US" sz="1500" b="1" dirty="0">
                    <a:solidFill>
                      <a:schemeClr val="accent5"/>
                    </a:solidFill>
                    <a:latin typeface="Consolas"/>
                    <a:ea typeface="Consolas"/>
                    <a:cs typeface="Consolas"/>
                  </a:rPr>
                  <a:t>→</a:t>
                </a:r>
              </a:p>
            </p:txBody>
          </p:sp>
          <p:sp>
            <p:nvSpPr>
              <p:cNvPr id="34" name="Rectangle 34"/>
              <p:cNvSpPr/>
              <p:nvPr/>
            </p:nvSpPr>
            <p:spPr>
              <a:xfrm>
                <a:off x="8572500" y="5029200"/>
                <a:ext cx="2667000" cy="514350"/>
              </a:xfrm>
              <a:prstGeom prst="roundRect">
                <a:avLst>
                  <a:gd name="adj" fmla="val 14815"/>
                </a:avLst>
              </a:prstGeom>
              <a:solidFill>
                <a:schemeClr val="accent1"/>
              </a:solidFill>
              <a:ln>
                <a:noFill/>
              </a:ln>
            </p:spPr>
          </p:sp>
          <p:sp>
            <p:nvSpPr>
              <p:cNvPr id="35" name="TextBox 35"/>
              <p:cNvSpPr txBox="1"/>
              <p:nvPr/>
            </p:nvSpPr>
            <p:spPr>
              <a:xfrm>
                <a:off x="9135618" y="5175250"/>
                <a:ext cx="1540764"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Consolas"/>
                    <a:ea typeface="Consolas"/>
                    <a:cs typeface="Consolas"/>
                  </a:rPr>
                  <a:t>OPTIONAL FULL</a:t>
                </a:r>
              </a:p>
            </p:txBody>
          </p:sp>
        </p:grpSp>
      </p:grpSp>
      <p:grpSp>
        <p:nvGrpSpPr>
          <p:cNvPr id="39" name="takeaway"/>
          <p:cNvGrpSpPr/>
          <p:nvPr/>
        </p:nvGrpSpPr>
        <p:grpSpPr>
          <a:xfrm>
            <a:off x="944118" y="5848350"/>
            <a:ext cx="8772450" cy="322707"/>
            <a:chOff x="944118" y="5848350"/>
            <a:chExt cx="8772450" cy="322707"/>
          </a:xfrm>
        </p:grpSpPr>
        <p:sp>
          <p:nvSpPr>
            <p:cNvPr id="38" name="TextBox 38"/>
            <p:cNvSpPr txBox="1"/>
            <p:nvPr/>
          </p:nvSpPr>
          <p:spPr>
            <a:xfrm>
              <a:off x="944118" y="5848350"/>
              <a:ext cx="8772450"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Scale only after each stage passes split, RAM, metrics, and latency checks.</a:t>
              </a:r>
            </a:p>
          </p:txBody>
        </p:sp>
      </p:grpSp>
      <p:grpSp>
        <p:nvGrpSpPr>
          <p:cNvPr id="42" name="footer"/>
          <p:cNvGrpSpPr/>
          <p:nvPr/>
        </p:nvGrpSpPr>
        <p:grpSpPr>
          <a:xfrm>
            <a:off x="947166" y="6369050"/>
            <a:ext cx="10297668" cy="205359"/>
            <a:chOff x="947166" y="6369050"/>
            <a:chExt cx="10297668" cy="205359"/>
          </a:xfrm>
        </p:grpSpPr>
        <p:sp>
          <p:nvSpPr>
            <p:cNvPr id="40" name="TextBox 40"/>
            <p:cNvSpPr txBox="1"/>
            <p:nvPr/>
          </p:nvSpPr>
          <p:spPr>
            <a:xfrm>
              <a:off x="947166" y="6369050"/>
              <a:ext cx="8153171" cy="205359"/>
            </a:xfrm>
            <a:prstGeom prst="rect">
              <a:avLst/>
            </a:prstGeom>
            <a:noFill/>
            <a:ln>
              <a:noFill/>
            </a:ln>
          </p:spPr>
          <p:txBody>
            <a:bodyPr wrap="none" lIns="0" tIns="0" rIns="0" bIns="0" anchor="t" anchorCtr="0">
              <a:spAutoFit/>
            </a:bodyPr>
            <a:lstStyle/>
            <a:p>
              <a:pPr algn="l"/>
              <a:r>
                <a:rPr lang="en-US" sz="1050" dirty="0">
                  <a:solidFill>
                    <a:schemeClr val="accent5"/>
                  </a:solidFill>
                  <a:latin typeface="+mn-lt"/>
                  <a:ea typeface="+mn-ea"/>
                  <a:cs typeface="+mn-cs"/>
                </a:rPr>
                <a:t>Project-observed, capped session-disjoint run · CPU arm · batch 1 · guide: docs/windows_rtx2060_scale_training.md</a:t>
              </a:r>
            </a:p>
          </p:txBody>
        </p:sp>
        <p:sp>
          <p:nvSpPr>
            <p:cNvPr id="41" name="TextBox 41"/>
            <p:cNvSpPr txBox="1"/>
            <p:nvPr/>
          </p:nvSpPr>
          <p:spPr>
            <a:xfrm>
              <a:off x="11078680" y="6369050"/>
              <a:ext cx="166154"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Consolas"/>
                  <a:ea typeface="Consolas"/>
                  <a:cs typeface="Consolas"/>
                </a:rPr>
                <a:t>14</a:t>
              </a:r>
            </a:p>
          </p:txBody>
        </p:sp>
      </p:gr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ledger-rule"/>
          <p:cNvSpPr/>
          <p:nvPr/>
        </p:nvSpPr>
        <p:spPr>
          <a:xfrm>
            <a:off x="609600" y="400050"/>
            <a:ext cx="76200" cy="6000750"/>
          </a:xfrm>
          <a:prstGeom prst="rect">
            <a:avLst/>
          </a:prstGeom>
          <a:solidFill>
            <a:schemeClr val="accent2"/>
          </a:solidFill>
          <a:ln>
            <a:noFill/>
          </a:ln>
        </p:spPr>
      </p:sp>
      <p:grpSp>
        <p:nvGrpSpPr>
          <p:cNvPr id="6" name="heading"/>
          <p:cNvGrpSpPr/>
          <p:nvPr/>
        </p:nvGrpSpPr>
        <p:grpSpPr>
          <a:xfrm>
            <a:off x="974598" y="711200"/>
            <a:ext cx="10525885" cy="1619377"/>
            <a:chOff x="974598" y="711200"/>
            <a:chExt cx="10525885" cy="1619377"/>
          </a:xfrm>
        </p:grpSpPr>
        <p:sp>
          <p:nvSpPr>
            <p:cNvPr id="3" name="TextBox 3"/>
            <p:cNvSpPr txBox="1"/>
            <p:nvPr/>
          </p:nvSpPr>
          <p:spPr>
            <a:xfrm>
              <a:off x="983742" y="711200"/>
              <a:ext cx="1261872" cy="264033"/>
            </a:xfrm>
            <a:prstGeom prst="rect">
              <a:avLst/>
            </a:prstGeom>
            <a:noFill/>
            <a:ln>
              <a:noFill/>
            </a:ln>
          </p:spPr>
          <p:txBody>
            <a:bodyPr wrap="none" lIns="0" tIns="0" rIns="0" bIns="0" anchor="t" anchorCtr="0">
              <a:spAutoFit/>
            </a:bodyPr>
            <a:lstStyle/>
            <a:p>
              <a:pPr algn="l"/>
              <a:r>
                <a:rPr lang="en-US" sz="1350" spc="150" dirty="0">
                  <a:solidFill>
                    <a:schemeClr val="accent2"/>
                  </a:solidFill>
                  <a:latin typeface="Consolas"/>
                  <a:ea typeface="Consolas"/>
                  <a:cs typeface="Consolas"/>
                </a:rPr>
                <a:t>CONCLUSION</a:t>
              </a:r>
            </a:p>
          </p:txBody>
        </p:sp>
        <p:sp>
          <p:nvSpPr>
            <p:cNvPr id="4" name="TextBox 4"/>
            <p:cNvSpPr txBox="1"/>
            <p:nvPr/>
          </p:nvSpPr>
          <p:spPr>
            <a:xfrm>
              <a:off x="974598" y="1143000"/>
              <a:ext cx="4989066" cy="616077"/>
            </a:xfrm>
            <a:prstGeom prst="rect">
              <a:avLst/>
            </a:prstGeom>
            <a:noFill/>
            <a:ln>
              <a:noFill/>
            </a:ln>
          </p:spPr>
          <p:txBody>
            <a:bodyPr wrap="none" lIns="0" tIns="0" rIns="0" bIns="0" anchor="t" anchorCtr="0">
              <a:spAutoFit/>
            </a:bodyPr>
            <a:lstStyle/>
            <a:p>
              <a:pPr algn="l"/>
              <a:r>
                <a:rPr lang="en-US" sz="3150" b="1" dirty="0">
                  <a:solidFill>
                    <a:schemeClr val="accent1"/>
                  </a:solidFill>
                  <a:latin typeface="+mj-lt"/>
                  <a:ea typeface="+mj-ea"/>
                  <a:cs typeface="+mj-cs"/>
                </a:rPr>
                <a:t>Preserve the baseline.</a:t>
              </a:r>
            </a:p>
          </p:txBody>
        </p:sp>
        <p:sp>
          <p:nvSpPr>
            <p:cNvPr id="5" name="TextBox 5"/>
            <p:cNvSpPr txBox="1"/>
            <p:nvPr/>
          </p:nvSpPr>
          <p:spPr>
            <a:xfrm>
              <a:off x="974598" y="1714500"/>
              <a:ext cx="10525885" cy="616077"/>
            </a:xfrm>
            <a:prstGeom prst="rect">
              <a:avLst/>
            </a:prstGeom>
            <a:noFill/>
            <a:ln>
              <a:noFill/>
            </a:ln>
          </p:spPr>
          <p:txBody>
            <a:bodyPr wrap="none" lIns="0" tIns="0" rIns="0" bIns="0" anchor="t" anchorCtr="0">
              <a:spAutoFit/>
            </a:bodyPr>
            <a:lstStyle/>
            <a:p>
              <a:pPr algn="l"/>
              <a:r>
                <a:rPr lang="en-US" sz="3150" b="1" dirty="0">
                  <a:solidFill>
                    <a:schemeClr val="accent1"/>
                  </a:solidFill>
                  <a:latin typeface="+mj-lt"/>
                  <a:ea typeface="+mj-ea"/>
                  <a:cs typeface="+mj-cs"/>
                </a:rPr>
                <a:t>Fix the evaluation. Improve the sequence model.</a:t>
              </a:r>
            </a:p>
          </p:txBody>
        </p:sp>
      </p:grpSp>
      <p:grpSp>
        <p:nvGrpSpPr>
          <p:cNvPr id="22" name="imperatives"/>
          <p:cNvGrpSpPr/>
          <p:nvPr/>
        </p:nvGrpSpPr>
        <p:grpSpPr>
          <a:xfrm>
            <a:off x="990600" y="2876550"/>
            <a:ext cx="10096500" cy="1943100"/>
            <a:chOff x="990600" y="2876550"/>
            <a:chExt cx="10096500" cy="1943100"/>
          </a:xfrm>
        </p:grpSpPr>
        <p:sp>
          <p:nvSpPr>
            <p:cNvPr id="7" name="Rectangle 7"/>
            <p:cNvSpPr/>
            <p:nvPr/>
          </p:nvSpPr>
          <p:spPr>
            <a:xfrm>
              <a:off x="990600" y="2876550"/>
              <a:ext cx="3048000" cy="1943100"/>
            </a:xfrm>
            <a:prstGeom prst="roundRect">
              <a:avLst>
                <a:gd name="adj" fmla="val 4902"/>
              </a:avLst>
            </a:prstGeom>
            <a:solidFill>
              <a:srgbClr val="FFFFFF"/>
            </a:solidFill>
            <a:ln w="19050">
              <a:solidFill>
                <a:schemeClr val="accent6"/>
              </a:solidFill>
            </a:ln>
          </p:spPr>
        </p:sp>
        <p:sp>
          <p:nvSpPr>
            <p:cNvPr id="8" name="TextBox 8"/>
            <p:cNvSpPr txBox="1"/>
            <p:nvPr/>
          </p:nvSpPr>
          <p:spPr>
            <a:xfrm>
              <a:off x="1288542" y="3168650"/>
              <a:ext cx="213627" cy="264033"/>
            </a:xfrm>
            <a:prstGeom prst="rect">
              <a:avLst/>
            </a:prstGeom>
            <a:noFill/>
            <a:ln>
              <a:noFill/>
            </a:ln>
          </p:spPr>
          <p:txBody>
            <a:bodyPr wrap="none" lIns="0" tIns="0" rIns="0" bIns="0" anchor="t" anchorCtr="0">
              <a:spAutoFit/>
            </a:bodyPr>
            <a:lstStyle/>
            <a:p>
              <a:pPr algn="l"/>
              <a:r>
                <a:rPr lang="en-US" sz="1350" dirty="0">
                  <a:solidFill>
                    <a:schemeClr val="accent2"/>
                  </a:solidFill>
                  <a:latin typeface="Consolas"/>
                  <a:ea typeface="Consolas"/>
                  <a:cs typeface="Consolas"/>
                </a:rPr>
                <a:t>01</a:t>
              </a:r>
            </a:p>
          </p:txBody>
        </p:sp>
        <p:sp>
          <p:nvSpPr>
            <p:cNvPr id="9" name="TextBox 9"/>
            <p:cNvSpPr txBox="1"/>
            <p:nvPr/>
          </p:nvSpPr>
          <p:spPr>
            <a:xfrm>
              <a:off x="1285494" y="3524250"/>
              <a:ext cx="1392784" cy="381381"/>
            </a:xfrm>
            <a:prstGeom prst="rect">
              <a:avLst/>
            </a:prstGeom>
            <a:noFill/>
            <a:ln>
              <a:noFill/>
            </a:ln>
          </p:spPr>
          <p:txBody>
            <a:bodyPr wrap="none" lIns="0" tIns="0" rIns="0" bIns="0" anchor="t" anchorCtr="0">
              <a:spAutoFit/>
            </a:bodyPr>
            <a:lstStyle/>
            <a:p>
              <a:pPr algn="l"/>
              <a:r>
                <a:rPr lang="en-US" sz="1950" b="1" dirty="0">
                  <a:solidFill>
                    <a:schemeClr val="accent1"/>
                  </a:solidFill>
                  <a:latin typeface="+mn-lt"/>
                  <a:ea typeface="+mn-ea"/>
                  <a:cs typeface="+mn-cs"/>
                </a:rPr>
                <a:t>Reproduce</a:t>
              </a:r>
            </a:p>
          </p:txBody>
        </p:sp>
        <p:sp>
          <p:nvSpPr>
            <p:cNvPr id="10" name="TextBox 10"/>
            <p:cNvSpPr txBox="1"/>
            <p:nvPr/>
          </p:nvSpPr>
          <p:spPr>
            <a:xfrm>
              <a:off x="1288542" y="3981450"/>
              <a:ext cx="1850431"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Statistical and LSTM</a:t>
              </a:r>
            </a:p>
          </p:txBody>
        </p:sp>
        <p:sp>
          <p:nvSpPr>
            <p:cNvPr id="11" name="TextBox 11"/>
            <p:cNvSpPr txBox="1"/>
            <p:nvPr/>
          </p:nvSpPr>
          <p:spPr>
            <a:xfrm>
              <a:off x="1288542" y="4248150"/>
              <a:ext cx="2476252"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baselines remain traceable.</a:t>
              </a:r>
            </a:p>
          </p:txBody>
        </p:sp>
        <p:sp>
          <p:nvSpPr>
            <p:cNvPr id="12" name="Rectangle 12"/>
            <p:cNvSpPr/>
            <p:nvPr/>
          </p:nvSpPr>
          <p:spPr>
            <a:xfrm>
              <a:off x="4514850" y="2876550"/>
              <a:ext cx="3048000" cy="1943100"/>
            </a:xfrm>
            <a:prstGeom prst="roundRect">
              <a:avLst>
                <a:gd name="adj" fmla="val 4902"/>
              </a:avLst>
            </a:prstGeom>
            <a:solidFill>
              <a:schemeClr val="accent1"/>
            </a:solidFill>
            <a:ln>
              <a:noFill/>
            </a:ln>
          </p:spPr>
        </p:sp>
        <p:sp>
          <p:nvSpPr>
            <p:cNvPr id="13" name="TextBox 13"/>
            <p:cNvSpPr txBox="1"/>
            <p:nvPr/>
          </p:nvSpPr>
          <p:spPr>
            <a:xfrm>
              <a:off x="4812792" y="3168650"/>
              <a:ext cx="213627" cy="264033"/>
            </a:xfrm>
            <a:prstGeom prst="rect">
              <a:avLst/>
            </a:prstGeom>
            <a:noFill/>
            <a:ln>
              <a:noFill/>
            </a:ln>
          </p:spPr>
          <p:txBody>
            <a:bodyPr wrap="none" lIns="0" tIns="0" rIns="0" bIns="0" anchor="t" anchorCtr="0">
              <a:spAutoFit/>
            </a:bodyPr>
            <a:lstStyle/>
            <a:p>
              <a:pPr algn="l"/>
              <a:r>
                <a:rPr lang="en-US" sz="1350" dirty="0">
                  <a:solidFill>
                    <a:srgbClr val="C9EAF0"/>
                  </a:solidFill>
                  <a:latin typeface="Consolas"/>
                  <a:ea typeface="Consolas"/>
                  <a:cs typeface="Consolas"/>
                </a:rPr>
                <a:t>02</a:t>
              </a:r>
            </a:p>
          </p:txBody>
        </p:sp>
        <p:sp>
          <p:nvSpPr>
            <p:cNvPr id="14" name="TextBox 14"/>
            <p:cNvSpPr txBox="1"/>
            <p:nvPr/>
          </p:nvSpPr>
          <p:spPr>
            <a:xfrm>
              <a:off x="4809744" y="3524250"/>
              <a:ext cx="1089586" cy="381381"/>
            </a:xfrm>
            <a:prstGeom prst="rect">
              <a:avLst/>
            </a:prstGeom>
            <a:noFill/>
            <a:ln>
              <a:noFill/>
            </a:ln>
          </p:spPr>
          <p:txBody>
            <a:bodyPr wrap="none" lIns="0" tIns="0" rIns="0" bIns="0" anchor="t" anchorCtr="0">
              <a:spAutoFit/>
            </a:bodyPr>
            <a:lstStyle/>
            <a:p>
              <a:pPr algn="l"/>
              <a:r>
                <a:rPr lang="en-US" sz="1950" b="1" dirty="0">
                  <a:solidFill>
                    <a:srgbClr val="FFFFFF"/>
                  </a:solidFill>
                  <a:latin typeface="+mn-lt"/>
                  <a:ea typeface="+mn-ea"/>
                  <a:cs typeface="+mn-cs"/>
                </a:rPr>
                <a:t>Correct</a:t>
              </a:r>
            </a:p>
          </p:txBody>
        </p:sp>
        <p:sp>
          <p:nvSpPr>
            <p:cNvPr id="15" name="TextBox 15"/>
            <p:cNvSpPr txBox="1"/>
            <p:nvPr/>
          </p:nvSpPr>
          <p:spPr>
            <a:xfrm>
              <a:off x="4812792" y="3981450"/>
              <a:ext cx="1999989" cy="264033"/>
            </a:xfrm>
            <a:prstGeom prst="rect">
              <a:avLst/>
            </a:prstGeom>
            <a:noFill/>
            <a:ln>
              <a:noFill/>
            </a:ln>
          </p:spPr>
          <p:txBody>
            <a:bodyPr wrap="none" lIns="0" tIns="0" rIns="0" bIns="0" anchor="t" anchorCtr="0">
              <a:spAutoFit/>
            </a:bodyPr>
            <a:lstStyle/>
            <a:p>
              <a:pPr algn="l"/>
              <a:r>
                <a:rPr lang="en-US" sz="1350" dirty="0">
                  <a:solidFill>
                    <a:srgbClr val="FFFFFF"/>
                  </a:solidFill>
                  <a:latin typeface="+mn-lt"/>
                  <a:ea typeface="+mn-ea"/>
                  <a:cs typeface="+mn-cs"/>
                </a:rPr>
                <a:t>Session-disjoint splits</a:t>
              </a:r>
            </a:p>
          </p:txBody>
        </p:sp>
        <p:sp>
          <p:nvSpPr>
            <p:cNvPr id="16" name="TextBox 16"/>
            <p:cNvSpPr txBox="1"/>
            <p:nvPr/>
          </p:nvSpPr>
          <p:spPr>
            <a:xfrm>
              <a:off x="4812792" y="4248150"/>
              <a:ext cx="2239994" cy="264033"/>
            </a:xfrm>
            <a:prstGeom prst="rect">
              <a:avLst/>
            </a:prstGeom>
            <a:noFill/>
            <a:ln>
              <a:noFill/>
            </a:ln>
          </p:spPr>
          <p:txBody>
            <a:bodyPr wrap="none" lIns="0" tIns="0" rIns="0" bIns="0" anchor="t" anchorCtr="0">
              <a:spAutoFit/>
            </a:bodyPr>
            <a:lstStyle/>
            <a:p>
              <a:pPr algn="l"/>
              <a:r>
                <a:rPr lang="en-US" sz="1350" dirty="0">
                  <a:solidFill>
                    <a:srgbClr val="FFFFFF"/>
                  </a:solidFill>
                  <a:latin typeface="+mn-lt"/>
                  <a:ea typeface="+mn-ea"/>
                  <a:cs typeface="+mn-cs"/>
                </a:rPr>
                <a:t>test real generalization.</a:t>
              </a:r>
            </a:p>
          </p:txBody>
        </p:sp>
        <p:sp>
          <p:nvSpPr>
            <p:cNvPr id="17" name="Rectangle 17"/>
            <p:cNvSpPr/>
            <p:nvPr/>
          </p:nvSpPr>
          <p:spPr>
            <a:xfrm>
              <a:off x="8039100" y="2876550"/>
              <a:ext cx="3048000" cy="1943100"/>
            </a:xfrm>
            <a:prstGeom prst="roundRect">
              <a:avLst>
                <a:gd name="adj" fmla="val 4902"/>
              </a:avLst>
            </a:prstGeom>
            <a:solidFill>
              <a:srgbClr val="DDF4F2"/>
            </a:solidFill>
            <a:ln w="19050">
              <a:solidFill>
                <a:schemeClr val="accent2"/>
              </a:solidFill>
            </a:ln>
          </p:spPr>
        </p:sp>
        <p:sp>
          <p:nvSpPr>
            <p:cNvPr id="18" name="TextBox 18"/>
            <p:cNvSpPr txBox="1"/>
            <p:nvPr/>
          </p:nvSpPr>
          <p:spPr>
            <a:xfrm>
              <a:off x="8337042" y="3168650"/>
              <a:ext cx="213627" cy="264033"/>
            </a:xfrm>
            <a:prstGeom prst="rect">
              <a:avLst/>
            </a:prstGeom>
            <a:noFill/>
            <a:ln>
              <a:noFill/>
            </a:ln>
          </p:spPr>
          <p:txBody>
            <a:bodyPr wrap="none" lIns="0" tIns="0" rIns="0" bIns="0" anchor="t" anchorCtr="0">
              <a:spAutoFit/>
            </a:bodyPr>
            <a:lstStyle/>
            <a:p>
              <a:pPr algn="l"/>
              <a:r>
                <a:rPr lang="en-US" sz="1350" dirty="0">
                  <a:solidFill>
                    <a:schemeClr val="accent2"/>
                  </a:solidFill>
                  <a:latin typeface="Consolas"/>
                  <a:ea typeface="Consolas"/>
                  <a:cs typeface="Consolas"/>
                </a:rPr>
                <a:t>03</a:t>
              </a:r>
            </a:p>
          </p:txBody>
        </p:sp>
        <p:sp>
          <p:nvSpPr>
            <p:cNvPr id="19" name="TextBox 19"/>
            <p:cNvSpPr txBox="1"/>
            <p:nvPr/>
          </p:nvSpPr>
          <p:spPr>
            <a:xfrm>
              <a:off x="8333994" y="3524250"/>
              <a:ext cx="1075693" cy="381381"/>
            </a:xfrm>
            <a:prstGeom prst="rect">
              <a:avLst/>
            </a:prstGeom>
            <a:noFill/>
            <a:ln>
              <a:noFill/>
            </a:ln>
          </p:spPr>
          <p:txBody>
            <a:bodyPr wrap="none" lIns="0" tIns="0" rIns="0" bIns="0" anchor="t" anchorCtr="0">
              <a:spAutoFit/>
            </a:bodyPr>
            <a:lstStyle/>
            <a:p>
              <a:pPr algn="l"/>
              <a:r>
                <a:rPr lang="en-US" sz="1950" b="1" dirty="0">
                  <a:solidFill>
                    <a:schemeClr val="accent1"/>
                  </a:solidFill>
                  <a:latin typeface="+mn-lt"/>
                  <a:ea typeface="+mn-ea"/>
                  <a:cs typeface="+mn-cs"/>
                </a:rPr>
                <a:t>Improve</a:t>
              </a:r>
            </a:p>
          </p:txBody>
        </p:sp>
        <p:sp>
          <p:nvSpPr>
            <p:cNvPr id="20" name="TextBox 20"/>
            <p:cNvSpPr txBox="1"/>
            <p:nvPr/>
          </p:nvSpPr>
          <p:spPr>
            <a:xfrm>
              <a:off x="8337042" y="3981450"/>
              <a:ext cx="2081174"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Mask-aware BiGRU adds</a:t>
              </a:r>
            </a:p>
          </p:txBody>
        </p:sp>
        <p:sp>
          <p:nvSpPr>
            <p:cNvPr id="21" name="TextBox 21"/>
            <p:cNvSpPr txBox="1"/>
            <p:nvPr/>
          </p:nvSpPr>
          <p:spPr>
            <a:xfrm>
              <a:off x="8337042" y="4248150"/>
              <a:ext cx="1865376"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+4.73 / +4.40 pp F1.</a:t>
              </a:r>
            </a:p>
          </p:txBody>
        </p:sp>
      </p:grpSp>
      <p:grpSp>
        <p:nvGrpSpPr>
          <p:cNvPr id="25" name="closing-proof"/>
          <p:cNvGrpSpPr/>
          <p:nvPr/>
        </p:nvGrpSpPr>
        <p:grpSpPr>
          <a:xfrm>
            <a:off x="979932" y="5454650"/>
            <a:ext cx="6620445" cy="638683"/>
            <a:chOff x="979932" y="5454650"/>
            <a:chExt cx="6620445" cy="638683"/>
          </a:xfrm>
        </p:grpSpPr>
        <p:sp>
          <p:nvSpPr>
            <p:cNvPr id="23" name="TextBox 23"/>
            <p:cNvSpPr txBox="1"/>
            <p:nvPr/>
          </p:nvSpPr>
          <p:spPr>
            <a:xfrm>
              <a:off x="979932" y="5454650"/>
              <a:ext cx="6620445"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Methodological validity is the primary result.</a:t>
              </a:r>
            </a:p>
          </p:txBody>
        </p:sp>
        <p:sp>
          <p:nvSpPr>
            <p:cNvPr id="24" name="TextBox 24"/>
            <p:cNvSpPr txBox="1"/>
            <p:nvPr/>
          </p:nvSpPr>
          <p:spPr>
            <a:xfrm>
              <a:off x="983742" y="5829300"/>
              <a:ext cx="5908055"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The model gain matters because it survives the stricter protocol.</a:t>
              </a:r>
            </a:p>
          </p:txBody>
        </p:sp>
      </p:grpSp>
      <p:grpSp>
        <p:nvGrpSpPr>
          <p:cNvPr id="28" name="footer"/>
          <p:cNvGrpSpPr/>
          <p:nvPr/>
        </p:nvGrpSpPr>
        <p:grpSpPr>
          <a:xfrm>
            <a:off x="985266" y="6369050"/>
            <a:ext cx="10107168" cy="205359"/>
            <a:chOff x="985266" y="6369050"/>
            <a:chExt cx="10107168" cy="205359"/>
          </a:xfrm>
        </p:grpSpPr>
        <p:sp>
          <p:nvSpPr>
            <p:cNvPr id="26" name="TextBox 26"/>
            <p:cNvSpPr txBox="1"/>
            <p:nvPr/>
          </p:nvSpPr>
          <p:spPr>
            <a:xfrm>
              <a:off x="985266" y="6369050"/>
              <a:ext cx="3707039" cy="205359"/>
            </a:xfrm>
            <a:prstGeom prst="rect">
              <a:avLst/>
            </a:prstGeom>
            <a:noFill/>
            <a:ln>
              <a:noFill/>
            </a:ln>
          </p:spPr>
          <p:txBody>
            <a:bodyPr wrap="none" lIns="0" tIns="0" rIns="0" bIns="0" anchor="t" anchorCtr="0">
              <a:spAutoFit/>
            </a:bodyPr>
            <a:lstStyle/>
            <a:p>
              <a:pPr algn="l"/>
              <a:r>
                <a:rPr lang="en-US" sz="1050" dirty="0">
                  <a:solidFill>
                    <a:schemeClr val="accent5"/>
                  </a:solidFill>
                  <a:latin typeface="+mn-lt"/>
                  <a:ea typeface="+mn-ea"/>
                  <a:cs typeface="+mn-cs"/>
                </a:rPr>
                <a:t>DoH Tunnel Detection · Reproduction and Improvement</a:t>
              </a:r>
            </a:p>
          </p:txBody>
        </p:sp>
        <p:sp>
          <p:nvSpPr>
            <p:cNvPr id="27" name="TextBox 27"/>
            <p:cNvSpPr txBox="1"/>
            <p:nvPr/>
          </p:nvSpPr>
          <p:spPr>
            <a:xfrm>
              <a:off x="10926280" y="6369050"/>
              <a:ext cx="166154"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Consolas"/>
                  <a:ea typeface="Consolas"/>
                  <a:cs typeface="Consolas"/>
                </a:rPr>
                <a:t>15</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doh_paper_reproduction">
  <a:themeElements>
    <a:clrScheme name="doh_paper_reproduction">
      <a:dk1>
        <a:srgbClr val="172033"/>
      </a:dk1>
      <a:lt1>
        <a:srgbClr val="F7F9FC"/>
      </a:lt1>
      <a:dk2>
        <a:srgbClr val="1F497D"/>
      </a:dk2>
      <a:lt2>
        <a:srgbClr val="EAF0F5"/>
      </a:lt2>
      <a:accent1>
        <a:srgbClr val="14324B"/>
      </a:accent1>
      <a:accent2>
        <a:srgbClr val="0E7490"/>
      </a:accent2>
      <a:accent3>
        <a:srgbClr val="D97706"/>
      </a:accent3>
      <a:accent4>
        <a:srgbClr val="14324B"/>
      </a:accent4>
      <a:accent5>
        <a:srgbClr val="5B6875"/>
      </a:accent5>
      <a:accent6>
        <a:srgbClr val="C9D3DC"/>
      </a:accent6>
      <a:hlink>
        <a:srgbClr val="0E7490"/>
      </a:hlink>
      <a:folHlink>
        <a:srgbClr val="D97706"/>
      </a:folHlink>
    </a:clrScheme>
    <a:fontScheme name="doh_paper_reproduction">
      <a:majorFont>
        <a:latin typeface="Aptos Display"/>
        <a:ea typeface="Microsoft YaHei"/>
        <a:cs typeface="Aptos Display"/>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Microsoft YaHei"/>
        <a:cs typeface="Aptos"/>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oh_paper_reproductio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doh_paper_reproduction">
  <a:themeElements>
    <a:clrScheme name="doh_paper_reproduction">
      <a:dk1>
        <a:srgbClr val="172033"/>
      </a:dk1>
      <a:lt1>
        <a:srgbClr val="F7F9FC"/>
      </a:lt1>
      <a:dk2>
        <a:srgbClr val="1F497D"/>
      </a:dk2>
      <a:lt2>
        <a:srgbClr val="EAF0F5"/>
      </a:lt2>
      <a:accent1>
        <a:srgbClr val="14324B"/>
      </a:accent1>
      <a:accent2>
        <a:srgbClr val="0E7490"/>
      </a:accent2>
      <a:accent3>
        <a:srgbClr val="D97706"/>
      </a:accent3>
      <a:accent4>
        <a:srgbClr val="14324B"/>
      </a:accent4>
      <a:accent5>
        <a:srgbClr val="5B6875"/>
      </a:accent5>
      <a:accent6>
        <a:srgbClr val="C9D3DC"/>
      </a:accent6>
      <a:hlink>
        <a:srgbClr val="0E7490"/>
      </a:hlink>
      <a:folHlink>
        <a:srgbClr val="D97706"/>
      </a:folHlink>
    </a:clrScheme>
    <a:fontScheme name="doh_paper_reproduction">
      <a:majorFont>
        <a:latin typeface="Aptos Display"/>
        <a:ea typeface="Microsoft YaHei"/>
        <a:cs typeface="Aptos Display"/>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Microsoft YaHei"/>
        <a:cs typeface="Aptos"/>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oh_paper_reproductio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15</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en-US</dc:language>
  <cp:lastModifiedBy/>
  <cp:revision>1</cp:revision>
  <dcterms:created xsi:type="dcterms:W3CDTF">2026-10-17T10:50:58Z</dcterms:created>
  <dcterms:modified xsi:type="dcterms:W3CDTF">2026-10-17T10:50:58Z</dcterms:modified>
  <cp:category/>
  <cp:contentStatus/>
</cp:coreProperties>
</file>